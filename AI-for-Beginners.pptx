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embeddedFontLst>
    <p:embeddedFont>
      <p:font typeface="Barlow SemiBold"/>
      <p:regular r:id="rId201314"/>
    </p:embeddedFont>
    <p:embeddedFont>
      <p:font typeface="Barlow Thin"/>
      <p:regular r:id="rId201315"/>
    </p:embeddedFont>
    <p:embeddedFont>
      <p:font typeface="Barlow ExtraLight"/>
      <p:regular r:id="rId201316"/>
    </p:embeddedFont>
    <p:embeddedFont>
      <p:font typeface="Barlow Light"/>
      <p:regular r:id="rId201317"/>
    </p:embeddedFont>
    <p:embeddedFont>
      <p:font typeface="Barlow"/>
      <p:regular r:id="rId201318"/>
    </p:embeddedFont>
    <p:embeddedFont>
      <p:font typeface="Barlow Medium"/>
      <p:regular r:id="rId201319"/>
    </p:embeddedFont>
    <p:embeddedFont>
      <p:font typeface="Barlow Bold"/>
      <p:regular r:id="rId201320"/>
    </p:embeddedFont>
    <p:embeddedFont>
      <p:font typeface="Barlow ExtraBold"/>
      <p:regular r:id="rId201321"/>
    </p:embeddedFont>
    <p:embeddedFont>
      <p:font typeface="Barlow Black"/>
      <p:regular r:id="rId201322"/>
    </p:embeddedFont>
    <p:embeddedFont>
      <p:font typeface="Spline Sans Medium"/>
      <p:regular r:id="rId201323"/>
    </p:embeddedFont>
    <p:embeddedFont>
      <p:font typeface="Spline Sans SemiBold"/>
      <p:regular r:id="rId201324"/>
    </p:embeddedFont>
    <p:embeddedFont>
      <p:font typeface="Spline Sans Bold"/>
      <p:regular r:id="rId201325"/>
    </p:embeddedFont>
    <p:embeddedFont>
      <p:font typeface="Spline Sans Light"/>
      <p:regular r:id="rId201326"/>
    </p:embeddedFont>
    <p:embeddedFont>
      <p:font typeface="Spline Sans"/>
      <p:regular r:id="rId2013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A081B">
              <a:alpha val="7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550664" y="426467"/>
            <a:ext cx="4613672" cy="340593"/>
          </a:xfrm>
          <a:prstGeom prst="rect">
            <a:avLst/>
          </a:prstGeom>
          <a:noFill/>
          <a:ln/>
        </p:spPr>
        <p:txBody>
          <a:bodyPr wrap="none" lIns="0" tIns="0" rIns="0" bIns="0" rtlCol="0" anchor="t"/>
          <a:lstStyle/>
          <a:p>
            <a:pPr algn="l" indent="0" marL="0">
              <a:lnSpc>
                <a:spcPct val="104000"/>
              </a:lnSpc>
              <a:buNone/>
            </a:pPr>
            <a:r>
              <a:rPr lang="en-US" sz="2100" b="1" dirty="0">
                <a:solidFill>
                  <a:srgbClr val="F0FCFF"/>
                </a:solidFill>
                <a:latin typeface="Spline Sans Bold" pitchFamily="34" charset="0"/>
                <a:ea typeface="Spline Sans Bold" pitchFamily="34" charset="-122"/>
                <a:cs typeface="Spline Sans Bold" pitchFamily="34" charset="-120"/>
              </a:rPr>
              <a:t>AI for Beginners</a:t>
            </a:r>
            <a:endParaRPr lang="en-US" sz="2100" dirty="0"/>
          </a:p>
        </p:txBody>
      </p:sp>
      <p:sp>
        <p:nvSpPr>
          <p:cNvPr id="4" name="Text 1"/>
          <p:cNvSpPr/>
          <p:nvPr/>
        </p:nvSpPr>
        <p:spPr>
          <a:xfrm>
            <a:off x="550664" y="930846"/>
            <a:ext cx="4613672" cy="556320"/>
          </a:xfrm>
          <a:prstGeom prst="rect">
            <a:avLst/>
          </a:prstGeom>
          <a:noFill/>
          <a:ln/>
        </p:spPr>
        <p:txBody>
          <a:bodyPr wrap="square" lIns="0" tIns="0" rIns="0" bIns="0" rtlCol="0" anchor="t">
            <a:normAutofit/>
          </a:bodyPr>
          <a:lstStyle/>
          <a:p>
            <a:pPr algn="l" indent="0" marL="0">
              <a:lnSpc>
                <a:spcPct val="126000"/>
              </a:lnSpc>
              <a:buNone/>
            </a:pPr>
            <a:r>
              <a:rPr lang="en-US" sz="950" dirty="0">
                <a:solidFill>
                  <a:srgbClr val="E0E4E6"/>
                </a:solidFill>
                <a:latin typeface="Barlow" pitchFamily="34" charset="0"/>
                <a:ea typeface="Barlow" pitchFamily="34" charset="-122"/>
                <a:cs typeface="Barlow" pitchFamily="34" charset="-120"/>
              </a:rPr>
              <a:t>A Complete Learning Course — From AI Fundamentals &amp; Machine Learning through Neural Networks, Large Language Models, Prompt Engineering &amp; Response Behaviour Control.</a:t>
            </a:r>
            <a:endParaRPr lang="en-US" sz="950" dirty="0"/>
          </a:p>
        </p:txBody>
      </p:sp>
      <p:sp>
        <p:nvSpPr>
          <p:cNvPr id="5" name="Shape 2"/>
          <p:cNvSpPr/>
          <p:nvPr/>
        </p:nvSpPr>
        <p:spPr>
          <a:xfrm>
            <a:off x="550664" y="1610023"/>
            <a:ext cx="4613672" cy="694879"/>
          </a:xfrm>
          <a:prstGeom prst="roundRect">
            <a:avLst>
              <a:gd name="adj" fmla="val 26470"/>
            </a:avLst>
          </a:prstGeom>
          <a:solidFill>
            <a:srgbClr val="0A081B"/>
          </a:solidFill>
          <a:ln w="14288">
            <a:solidFill>
              <a:srgbClr val="16FFBB"/>
            </a:solidFill>
            <a:prstDash val="solid"/>
          </a:ln>
        </p:spPr>
      </p:sp>
      <p:sp>
        <p:nvSpPr>
          <p:cNvPr id="6" name="Text 3"/>
          <p:cNvSpPr/>
          <p:nvPr/>
        </p:nvSpPr>
        <p:spPr>
          <a:xfrm>
            <a:off x="687512" y="1746870"/>
            <a:ext cx="4339977" cy="170259"/>
          </a:xfrm>
          <a:prstGeom prst="rect">
            <a:avLst/>
          </a:prstGeom>
          <a:noFill/>
          <a:ln/>
        </p:spPr>
        <p:txBody>
          <a:bodyPr wrap="none" lIns="0" tIns="0" rIns="0" bIns="0" rtlCol="0" anchor="t"/>
          <a:lstStyle/>
          <a:p>
            <a:pPr algn="l" indent="0" marL="0">
              <a:lnSpc>
                <a:spcPct val="104000"/>
              </a:lnSpc>
              <a:buNone/>
            </a:pPr>
            <a:r>
              <a:rPr lang="en-US" sz="1050" b="1" dirty="0">
                <a:solidFill>
                  <a:srgbClr val="E0E4E6"/>
                </a:solidFill>
                <a:latin typeface="Spline Sans Bold" pitchFamily="34" charset="0"/>
                <a:ea typeface="Spline Sans Bold" pitchFamily="34" charset="-122"/>
                <a:cs typeface="Spline Sans Bold" pitchFamily="34" charset="-120"/>
              </a:rPr>
              <a:t>7 Modules</a:t>
            </a:r>
            <a:endParaRPr lang="en-US" sz="1050" dirty="0"/>
          </a:p>
        </p:txBody>
      </p:sp>
      <p:sp>
        <p:nvSpPr>
          <p:cNvPr id="7" name="Text 4"/>
          <p:cNvSpPr/>
          <p:nvPr/>
        </p:nvSpPr>
        <p:spPr>
          <a:xfrm>
            <a:off x="687512" y="1982614"/>
            <a:ext cx="4339977" cy="185440"/>
          </a:xfrm>
          <a:prstGeom prst="rect">
            <a:avLst/>
          </a:prstGeom>
          <a:noFill/>
          <a:ln/>
        </p:spPr>
        <p:txBody>
          <a:bodyPr wrap="none" lIns="0" tIns="0" rIns="0" bIns="0" rtlCol="0" anchor="t"/>
          <a:lstStyle/>
          <a:p>
            <a:pPr algn="l" indent="0" marL="0">
              <a:lnSpc>
                <a:spcPct val="126000"/>
              </a:lnSpc>
              <a:buNone/>
            </a:pPr>
            <a:r>
              <a:rPr lang="en-US" sz="950" dirty="0">
                <a:solidFill>
                  <a:srgbClr val="E0E4E6"/>
                </a:solidFill>
                <a:latin typeface="Barlow" pitchFamily="34" charset="0"/>
                <a:ea typeface="Barlow" pitchFamily="34" charset="-122"/>
                <a:cs typeface="Barlow" pitchFamily="34" charset="-120"/>
              </a:rPr>
              <a:t>Structured learning path from foundations to advanced control</a:t>
            </a:r>
            <a:endParaRPr lang="en-US" sz="950" dirty="0"/>
          </a:p>
        </p:txBody>
      </p:sp>
      <p:sp>
        <p:nvSpPr>
          <p:cNvPr id="8" name="Shape 5"/>
          <p:cNvSpPr/>
          <p:nvPr/>
        </p:nvSpPr>
        <p:spPr>
          <a:xfrm>
            <a:off x="550664" y="2414067"/>
            <a:ext cx="4613672" cy="694879"/>
          </a:xfrm>
          <a:prstGeom prst="roundRect">
            <a:avLst>
              <a:gd name="adj" fmla="val 26470"/>
            </a:avLst>
          </a:prstGeom>
          <a:solidFill>
            <a:srgbClr val="0A081B"/>
          </a:solidFill>
          <a:ln w="14288">
            <a:solidFill>
              <a:srgbClr val="29DDDA"/>
            </a:solidFill>
            <a:prstDash val="solid"/>
          </a:ln>
        </p:spPr>
      </p:sp>
      <p:sp>
        <p:nvSpPr>
          <p:cNvPr id="9" name="Text 6"/>
          <p:cNvSpPr/>
          <p:nvPr/>
        </p:nvSpPr>
        <p:spPr>
          <a:xfrm>
            <a:off x="687512" y="2550914"/>
            <a:ext cx="4339977" cy="170259"/>
          </a:xfrm>
          <a:prstGeom prst="rect">
            <a:avLst/>
          </a:prstGeom>
          <a:noFill/>
          <a:ln/>
        </p:spPr>
        <p:txBody>
          <a:bodyPr wrap="none" lIns="0" tIns="0" rIns="0" bIns="0" rtlCol="0" anchor="t"/>
          <a:lstStyle/>
          <a:p>
            <a:pPr algn="l" indent="0" marL="0">
              <a:lnSpc>
                <a:spcPct val="104000"/>
              </a:lnSpc>
              <a:buNone/>
            </a:pPr>
            <a:r>
              <a:rPr lang="en-US" sz="1050" b="1" dirty="0">
                <a:solidFill>
                  <a:srgbClr val="E0E4E6"/>
                </a:solidFill>
                <a:latin typeface="Spline Sans Bold" pitchFamily="34" charset="0"/>
                <a:ea typeface="Spline Sans Bold" pitchFamily="34" charset="-122"/>
                <a:cs typeface="Spline Sans Bold" pitchFamily="34" charset="-120"/>
              </a:rPr>
              <a:t>Key Formulas</a:t>
            </a:r>
            <a:endParaRPr lang="en-US" sz="1050" dirty="0"/>
          </a:p>
        </p:txBody>
      </p:sp>
      <p:sp>
        <p:nvSpPr>
          <p:cNvPr id="10" name="Text 7"/>
          <p:cNvSpPr/>
          <p:nvPr/>
        </p:nvSpPr>
        <p:spPr>
          <a:xfrm>
            <a:off x="687512" y="2786658"/>
            <a:ext cx="4339977" cy="185440"/>
          </a:xfrm>
          <a:prstGeom prst="rect">
            <a:avLst/>
          </a:prstGeom>
          <a:noFill/>
          <a:ln/>
        </p:spPr>
        <p:txBody>
          <a:bodyPr wrap="none" lIns="0" tIns="0" rIns="0" bIns="0" rtlCol="0" anchor="t"/>
          <a:lstStyle/>
          <a:p>
            <a:pPr algn="l" indent="0" marL="0">
              <a:lnSpc>
                <a:spcPct val="126000"/>
              </a:lnSpc>
              <a:buNone/>
            </a:pPr>
            <a:r>
              <a:rPr lang="en-US" sz="950" dirty="0">
                <a:solidFill>
                  <a:srgbClr val="E0E4E6"/>
                </a:solidFill>
                <a:latin typeface="Barlow" pitchFamily="34" charset="0"/>
                <a:ea typeface="Barlow" pitchFamily="34" charset="-122"/>
                <a:cs typeface="Barlow" pitchFamily="34" charset="-120"/>
              </a:rPr>
              <a:t>Every important equation explained in plain English</a:t>
            </a:r>
            <a:endParaRPr lang="en-US" sz="950" dirty="0"/>
          </a:p>
        </p:txBody>
      </p:sp>
      <p:sp>
        <p:nvSpPr>
          <p:cNvPr id="11" name="Shape 8"/>
          <p:cNvSpPr/>
          <p:nvPr/>
        </p:nvSpPr>
        <p:spPr>
          <a:xfrm>
            <a:off x="550664" y="3218111"/>
            <a:ext cx="4613672" cy="694879"/>
          </a:xfrm>
          <a:prstGeom prst="roundRect">
            <a:avLst>
              <a:gd name="adj" fmla="val 26470"/>
            </a:avLst>
          </a:prstGeom>
          <a:solidFill>
            <a:srgbClr val="0A081B"/>
          </a:solidFill>
          <a:ln w="14288">
            <a:solidFill>
              <a:srgbClr val="37A7E7"/>
            </a:solidFill>
            <a:prstDash val="solid"/>
          </a:ln>
        </p:spPr>
      </p:sp>
      <p:sp>
        <p:nvSpPr>
          <p:cNvPr id="12" name="Text 9"/>
          <p:cNvSpPr/>
          <p:nvPr/>
        </p:nvSpPr>
        <p:spPr>
          <a:xfrm>
            <a:off x="687512" y="3354958"/>
            <a:ext cx="4339977" cy="170259"/>
          </a:xfrm>
          <a:prstGeom prst="rect">
            <a:avLst/>
          </a:prstGeom>
          <a:noFill/>
          <a:ln/>
        </p:spPr>
        <p:txBody>
          <a:bodyPr wrap="none" lIns="0" tIns="0" rIns="0" bIns="0" rtlCol="0" anchor="t"/>
          <a:lstStyle/>
          <a:p>
            <a:pPr algn="l" indent="0" marL="0">
              <a:lnSpc>
                <a:spcPct val="104000"/>
              </a:lnSpc>
              <a:buNone/>
            </a:pPr>
            <a:r>
              <a:rPr lang="en-US" sz="1050" b="1" dirty="0">
                <a:solidFill>
                  <a:srgbClr val="E0E4E6"/>
                </a:solidFill>
                <a:latin typeface="Spline Sans Bold" pitchFamily="34" charset="0"/>
                <a:ea typeface="Spline Sans Bold" pitchFamily="34" charset="-122"/>
                <a:cs typeface="Spline Sans Bold" pitchFamily="34" charset="-120"/>
              </a:rPr>
              <a:t>Concrete Examples</a:t>
            </a:r>
            <a:endParaRPr lang="en-US" sz="1050" dirty="0"/>
          </a:p>
        </p:txBody>
      </p:sp>
      <p:sp>
        <p:nvSpPr>
          <p:cNvPr id="13" name="Text 10"/>
          <p:cNvSpPr/>
          <p:nvPr/>
        </p:nvSpPr>
        <p:spPr>
          <a:xfrm>
            <a:off x="687512" y="3590702"/>
            <a:ext cx="4339977" cy="185440"/>
          </a:xfrm>
          <a:prstGeom prst="rect">
            <a:avLst/>
          </a:prstGeom>
          <a:noFill/>
          <a:ln/>
        </p:spPr>
        <p:txBody>
          <a:bodyPr wrap="none" lIns="0" tIns="0" rIns="0" bIns="0" rtlCol="0" anchor="t"/>
          <a:lstStyle/>
          <a:p>
            <a:pPr algn="l" indent="0" marL="0">
              <a:lnSpc>
                <a:spcPct val="126000"/>
              </a:lnSpc>
              <a:buNone/>
            </a:pPr>
            <a:r>
              <a:rPr lang="en-US" sz="950" dirty="0">
                <a:solidFill>
                  <a:srgbClr val="E0E4E6"/>
                </a:solidFill>
                <a:latin typeface="Barlow" pitchFamily="34" charset="0"/>
                <a:ea typeface="Barlow" pitchFamily="34" charset="-122"/>
                <a:cs typeface="Barlow" pitchFamily="34" charset="-120"/>
              </a:rPr>
              <a:t>Real-world illustrations for every concept</a:t>
            </a:r>
            <a:endParaRPr lang="en-US" sz="950" dirty="0"/>
          </a:p>
        </p:txBody>
      </p:sp>
      <p:sp>
        <p:nvSpPr>
          <p:cNvPr id="14" name="Shape 11"/>
          <p:cNvSpPr/>
          <p:nvPr/>
        </p:nvSpPr>
        <p:spPr>
          <a:xfrm>
            <a:off x="550664" y="4022154"/>
            <a:ext cx="4613672" cy="694879"/>
          </a:xfrm>
          <a:prstGeom prst="roundRect">
            <a:avLst>
              <a:gd name="adj" fmla="val 26470"/>
            </a:avLst>
          </a:prstGeom>
          <a:solidFill>
            <a:srgbClr val="0A081B"/>
          </a:solidFill>
          <a:ln w="14288">
            <a:solidFill>
              <a:srgbClr val="091231"/>
            </a:solidFill>
            <a:prstDash val="solid"/>
          </a:ln>
        </p:spPr>
      </p:sp>
      <p:sp>
        <p:nvSpPr>
          <p:cNvPr id="15" name="Text 12"/>
          <p:cNvSpPr/>
          <p:nvPr/>
        </p:nvSpPr>
        <p:spPr>
          <a:xfrm>
            <a:off x="687512" y="4159002"/>
            <a:ext cx="4339977" cy="170259"/>
          </a:xfrm>
          <a:prstGeom prst="rect">
            <a:avLst/>
          </a:prstGeom>
          <a:noFill/>
          <a:ln/>
        </p:spPr>
        <p:txBody>
          <a:bodyPr wrap="none" lIns="0" tIns="0" rIns="0" bIns="0" rtlCol="0" anchor="t"/>
          <a:lstStyle/>
          <a:p>
            <a:pPr algn="l" indent="0" marL="0">
              <a:lnSpc>
                <a:spcPct val="104000"/>
              </a:lnSpc>
              <a:buNone/>
            </a:pPr>
            <a:r>
              <a:rPr lang="en-US" sz="1050" b="1" dirty="0">
                <a:solidFill>
                  <a:srgbClr val="E0E4E6"/>
                </a:solidFill>
                <a:latin typeface="Spline Sans Bold" pitchFamily="34" charset="0"/>
                <a:ea typeface="Spline Sans Bold" pitchFamily="34" charset="-122"/>
                <a:cs typeface="Spline Sans Bold" pitchFamily="34" charset="-120"/>
              </a:rPr>
              <a:t>Beginner-Friendly</a:t>
            </a:r>
            <a:endParaRPr lang="en-US" sz="1050" dirty="0"/>
          </a:p>
        </p:txBody>
      </p:sp>
      <p:sp>
        <p:nvSpPr>
          <p:cNvPr id="16" name="Text 13"/>
          <p:cNvSpPr/>
          <p:nvPr/>
        </p:nvSpPr>
        <p:spPr>
          <a:xfrm>
            <a:off x="687512" y="4394746"/>
            <a:ext cx="4339977" cy="185440"/>
          </a:xfrm>
          <a:prstGeom prst="rect">
            <a:avLst/>
          </a:prstGeom>
          <a:noFill/>
          <a:ln/>
        </p:spPr>
        <p:txBody>
          <a:bodyPr wrap="none" lIns="0" tIns="0" rIns="0" bIns="0" rtlCol="0" anchor="t"/>
          <a:lstStyle/>
          <a:p>
            <a:pPr algn="l" indent="0" marL="0">
              <a:lnSpc>
                <a:spcPct val="126000"/>
              </a:lnSpc>
              <a:buNone/>
            </a:pPr>
            <a:r>
              <a:rPr lang="en-US" sz="950" dirty="0">
                <a:solidFill>
                  <a:srgbClr val="E0E4E6"/>
                </a:solidFill>
                <a:latin typeface="Barlow" pitchFamily="34" charset="0"/>
                <a:ea typeface="Barlow" pitchFamily="34" charset="-122"/>
                <a:cs typeface="Barlow" pitchFamily="34" charset="-120"/>
              </a:rPr>
              <a:t>No prior maths or programming degree required</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0664" y="405110"/>
            <a:ext cx="8042672" cy="370433"/>
          </a:xfrm>
          <a:prstGeom prst="rect">
            <a:avLst/>
          </a:prstGeom>
          <a:noFill/>
          <a:ln/>
        </p:spPr>
        <p:txBody>
          <a:bodyPr wrap="none" lIns="0" tIns="0" rIns="0" bIns="0" rtlCol="0" anchor="t"/>
          <a:lstStyle/>
          <a:p>
            <a:pPr algn="l" indent="0" marL="0">
              <a:lnSpc>
                <a:spcPct val="104000"/>
              </a:lnSpc>
              <a:buNone/>
            </a:pPr>
            <a:r>
              <a:rPr lang="en-US" sz="2300" b="1" dirty="0">
                <a:solidFill>
                  <a:srgbClr val="F0FCFF"/>
                </a:solidFill>
                <a:latin typeface="Spline Sans Bold" pitchFamily="34" charset="0"/>
                <a:ea typeface="Spline Sans Bold" pitchFamily="34" charset="-122"/>
                <a:cs typeface="Spline Sans Bold" pitchFamily="34" charset="-120"/>
              </a:rPr>
              <a:t>Table of Contents</a:t>
            </a:r>
            <a:endParaRPr lang="en-US" sz="2300" dirty="0"/>
          </a:p>
        </p:txBody>
      </p:sp>
      <p:sp>
        <p:nvSpPr>
          <p:cNvPr id="3" name="Text 1"/>
          <p:cNvSpPr/>
          <p:nvPr/>
        </p:nvSpPr>
        <p:spPr>
          <a:xfrm>
            <a:off x="550664" y="1033909"/>
            <a:ext cx="266700" cy="166688"/>
          </a:xfrm>
          <a:prstGeom prst="rect">
            <a:avLst/>
          </a:prstGeom>
          <a:noFill/>
          <a:ln/>
        </p:spPr>
        <p:txBody>
          <a:bodyPr wrap="none" lIns="0" tIns="0" rIns="0" bIns="0" rtlCol="0" anchor="ctr"/>
          <a:lstStyle/>
          <a:p>
            <a:pPr algn="l" indent="0" marL="0">
              <a:lnSpc>
                <a:spcPct val="100000"/>
              </a:lnSpc>
              <a:buNone/>
            </a:pPr>
            <a:r>
              <a:rPr lang="en-US" sz="1050" dirty="0">
                <a:solidFill>
                  <a:srgbClr val="E0E4E6"/>
                </a:solidFill>
                <a:latin typeface="Spline Sans Light" pitchFamily="34" charset="0"/>
                <a:ea typeface="Spline Sans Light" pitchFamily="34" charset="-122"/>
                <a:cs typeface="Spline Sans Light" pitchFamily="34" charset="-120"/>
              </a:rPr>
              <a:t>01</a:t>
            </a:r>
            <a:endParaRPr lang="en-US" sz="1050" dirty="0"/>
          </a:p>
        </p:txBody>
      </p:sp>
      <p:sp>
        <p:nvSpPr>
          <p:cNvPr id="4" name="Shape 2"/>
          <p:cNvSpPr/>
          <p:nvPr/>
        </p:nvSpPr>
        <p:spPr>
          <a:xfrm>
            <a:off x="550664" y="1241524"/>
            <a:ext cx="2594744" cy="19050"/>
          </a:xfrm>
          <a:prstGeom prst="rect">
            <a:avLst/>
          </a:prstGeom>
          <a:solidFill>
            <a:srgbClr val="16FFBB"/>
          </a:solidFill>
          <a:ln/>
        </p:spPr>
      </p:sp>
      <p:sp>
        <p:nvSpPr>
          <p:cNvPr id="5" name="Text 3"/>
          <p:cNvSpPr/>
          <p:nvPr/>
        </p:nvSpPr>
        <p:spPr>
          <a:xfrm>
            <a:off x="550664" y="1346299"/>
            <a:ext cx="2594744" cy="185291"/>
          </a:xfrm>
          <a:prstGeom prst="rect">
            <a:avLst/>
          </a:prstGeom>
          <a:noFill/>
          <a:ln/>
        </p:spPr>
        <p:txBody>
          <a:bodyPr wrap="none" lIns="0" tIns="0" rIns="0" bIns="0" rtlCol="0" anchor="t"/>
          <a:lstStyle/>
          <a:p>
            <a:pPr algn="l" indent="0" marL="0">
              <a:lnSpc>
                <a:spcPct val="104000"/>
              </a:lnSpc>
              <a:buNone/>
            </a:pPr>
            <a:r>
              <a:rPr lang="en-US" sz="1150" b="1" dirty="0">
                <a:solidFill>
                  <a:srgbClr val="E0E4E6"/>
                </a:solidFill>
                <a:latin typeface="Spline Sans Bold" pitchFamily="34" charset="0"/>
                <a:ea typeface="Spline Sans Bold" pitchFamily="34" charset="-122"/>
                <a:cs typeface="Spline Sans Bold" pitchFamily="34" charset="-120"/>
              </a:rPr>
              <a:t>Module 1 — What is AI?</a:t>
            </a:r>
            <a:endParaRPr lang="en-US" sz="1150" dirty="0"/>
          </a:p>
        </p:txBody>
      </p:sp>
      <p:sp>
        <p:nvSpPr>
          <p:cNvPr id="6" name="Text 4"/>
          <p:cNvSpPr/>
          <p:nvPr/>
        </p:nvSpPr>
        <p:spPr>
          <a:xfrm>
            <a:off x="550664" y="1609055"/>
            <a:ext cx="2594744" cy="209996"/>
          </a:xfrm>
          <a:prstGeom prst="rect">
            <a:avLst/>
          </a:prstGeom>
          <a:noFill/>
          <a:ln/>
        </p:spPr>
        <p:txBody>
          <a:bodyPr wrap="none" lIns="0" tIns="0" rIns="0" bIns="0" rtlCol="0" anchor="t"/>
          <a:lstStyle/>
          <a:p>
            <a:pPr algn="l" indent="0" marL="0">
              <a:lnSpc>
                <a:spcPct val="131000"/>
              </a:lnSpc>
              <a:buNone/>
            </a:pPr>
            <a:r>
              <a:rPr lang="en-US" sz="1050" dirty="0">
                <a:solidFill>
                  <a:srgbClr val="E0E4E6"/>
                </a:solidFill>
                <a:latin typeface="Barlow" pitchFamily="34" charset="0"/>
                <a:ea typeface="Barlow" pitchFamily="34" charset="-122"/>
                <a:cs typeface="Barlow" pitchFamily="34" charset="-120"/>
              </a:rPr>
              <a:t>Foundations &amp; History</a:t>
            </a:r>
            <a:endParaRPr lang="en-US" sz="1050" dirty="0"/>
          </a:p>
        </p:txBody>
      </p:sp>
      <p:sp>
        <p:nvSpPr>
          <p:cNvPr id="7" name="Text 5"/>
          <p:cNvSpPr/>
          <p:nvPr/>
        </p:nvSpPr>
        <p:spPr>
          <a:xfrm>
            <a:off x="3274591" y="1033909"/>
            <a:ext cx="266700" cy="166688"/>
          </a:xfrm>
          <a:prstGeom prst="rect">
            <a:avLst/>
          </a:prstGeom>
          <a:noFill/>
          <a:ln/>
        </p:spPr>
        <p:txBody>
          <a:bodyPr wrap="none" lIns="0" tIns="0" rIns="0" bIns="0" rtlCol="0" anchor="ctr"/>
          <a:lstStyle/>
          <a:p>
            <a:pPr algn="l" indent="0" marL="0">
              <a:lnSpc>
                <a:spcPct val="100000"/>
              </a:lnSpc>
              <a:buNone/>
            </a:pPr>
            <a:r>
              <a:rPr lang="en-US" sz="1050" dirty="0">
                <a:solidFill>
                  <a:srgbClr val="E0E4E6"/>
                </a:solidFill>
                <a:latin typeface="Spline Sans Light" pitchFamily="34" charset="0"/>
                <a:ea typeface="Spline Sans Light" pitchFamily="34" charset="-122"/>
                <a:cs typeface="Spline Sans Light" pitchFamily="34" charset="-120"/>
              </a:rPr>
              <a:t>02</a:t>
            </a:r>
            <a:endParaRPr lang="en-US" sz="1050" dirty="0"/>
          </a:p>
        </p:txBody>
      </p:sp>
      <p:sp>
        <p:nvSpPr>
          <p:cNvPr id="8" name="Shape 6"/>
          <p:cNvSpPr/>
          <p:nvPr/>
        </p:nvSpPr>
        <p:spPr>
          <a:xfrm>
            <a:off x="3274591" y="1241524"/>
            <a:ext cx="2594744" cy="19050"/>
          </a:xfrm>
          <a:prstGeom prst="rect">
            <a:avLst/>
          </a:prstGeom>
          <a:solidFill>
            <a:srgbClr val="29DDDA"/>
          </a:solidFill>
          <a:ln/>
        </p:spPr>
      </p:sp>
      <p:sp>
        <p:nvSpPr>
          <p:cNvPr id="9" name="Text 7"/>
          <p:cNvSpPr/>
          <p:nvPr/>
        </p:nvSpPr>
        <p:spPr>
          <a:xfrm>
            <a:off x="3274591" y="1346299"/>
            <a:ext cx="2594744" cy="370582"/>
          </a:xfrm>
          <a:prstGeom prst="rect">
            <a:avLst/>
          </a:prstGeom>
          <a:noFill/>
          <a:ln/>
        </p:spPr>
        <p:txBody>
          <a:bodyPr wrap="square" lIns="0" tIns="0" rIns="0" bIns="0" rtlCol="0" anchor="t">
            <a:normAutofit/>
          </a:bodyPr>
          <a:lstStyle/>
          <a:p>
            <a:pPr algn="l" indent="0" marL="0">
              <a:lnSpc>
                <a:spcPct val="104000"/>
              </a:lnSpc>
              <a:buNone/>
            </a:pPr>
            <a:r>
              <a:rPr lang="en-US" sz="1150" b="1" dirty="0">
                <a:solidFill>
                  <a:srgbClr val="E0E4E6"/>
                </a:solidFill>
                <a:latin typeface="Spline Sans Bold" pitchFamily="34" charset="0"/>
                <a:ea typeface="Spline Sans Bold" pitchFamily="34" charset="-122"/>
                <a:cs typeface="Spline Sans Bold" pitchFamily="34" charset="-120"/>
              </a:rPr>
              <a:t>Module 2 — Machine Learning Fundamentals</a:t>
            </a:r>
            <a:endParaRPr lang="en-US" sz="1150" dirty="0"/>
          </a:p>
        </p:txBody>
      </p:sp>
      <p:sp>
        <p:nvSpPr>
          <p:cNvPr id="10" name="Text 8"/>
          <p:cNvSpPr/>
          <p:nvPr/>
        </p:nvSpPr>
        <p:spPr>
          <a:xfrm>
            <a:off x="3274591" y="1794346"/>
            <a:ext cx="2594744" cy="419993"/>
          </a:xfrm>
          <a:prstGeom prst="rect">
            <a:avLst/>
          </a:prstGeom>
          <a:noFill/>
          <a:ln/>
        </p:spPr>
        <p:txBody>
          <a:bodyPr wrap="square" lIns="0" tIns="0" rIns="0" bIns="0" rtlCol="0" anchor="t">
            <a:normAutofit/>
          </a:bodyPr>
          <a:lstStyle/>
          <a:p>
            <a:pPr algn="l" indent="0" marL="0">
              <a:lnSpc>
                <a:spcPct val="131000"/>
              </a:lnSpc>
              <a:buNone/>
            </a:pPr>
            <a:r>
              <a:rPr lang="en-US" sz="1050" dirty="0">
                <a:solidFill>
                  <a:srgbClr val="E0E4E6"/>
                </a:solidFill>
                <a:latin typeface="Barlow" pitchFamily="34" charset="0"/>
                <a:ea typeface="Barlow" pitchFamily="34" charset="-122"/>
                <a:cs typeface="Barlow" pitchFamily="34" charset="-120"/>
              </a:rPr>
              <a:t>Supervised, Unsupervised &amp; Reinforcement Learning</a:t>
            </a:r>
            <a:endParaRPr lang="en-US" sz="1050" dirty="0"/>
          </a:p>
        </p:txBody>
      </p:sp>
      <p:sp>
        <p:nvSpPr>
          <p:cNvPr id="11" name="Text 9"/>
          <p:cNvSpPr/>
          <p:nvPr/>
        </p:nvSpPr>
        <p:spPr>
          <a:xfrm>
            <a:off x="5998518" y="1033909"/>
            <a:ext cx="266700" cy="166688"/>
          </a:xfrm>
          <a:prstGeom prst="rect">
            <a:avLst/>
          </a:prstGeom>
          <a:noFill/>
          <a:ln/>
        </p:spPr>
        <p:txBody>
          <a:bodyPr wrap="none" lIns="0" tIns="0" rIns="0" bIns="0" rtlCol="0" anchor="ctr"/>
          <a:lstStyle/>
          <a:p>
            <a:pPr algn="l" indent="0" marL="0">
              <a:lnSpc>
                <a:spcPct val="100000"/>
              </a:lnSpc>
              <a:buNone/>
            </a:pPr>
            <a:r>
              <a:rPr lang="en-US" sz="1050" dirty="0">
                <a:solidFill>
                  <a:srgbClr val="E0E4E6"/>
                </a:solidFill>
                <a:latin typeface="Spline Sans Light" pitchFamily="34" charset="0"/>
                <a:ea typeface="Spline Sans Light" pitchFamily="34" charset="-122"/>
                <a:cs typeface="Spline Sans Light" pitchFamily="34" charset="-120"/>
              </a:rPr>
              <a:t>03</a:t>
            </a:r>
            <a:endParaRPr lang="en-US" sz="1050" dirty="0"/>
          </a:p>
        </p:txBody>
      </p:sp>
      <p:sp>
        <p:nvSpPr>
          <p:cNvPr id="12" name="Shape 10"/>
          <p:cNvSpPr/>
          <p:nvPr/>
        </p:nvSpPr>
        <p:spPr>
          <a:xfrm>
            <a:off x="5998518" y="1241524"/>
            <a:ext cx="2594744" cy="19050"/>
          </a:xfrm>
          <a:prstGeom prst="rect">
            <a:avLst/>
          </a:prstGeom>
          <a:solidFill>
            <a:srgbClr val="37A7E7"/>
          </a:solidFill>
          <a:ln/>
        </p:spPr>
      </p:sp>
      <p:sp>
        <p:nvSpPr>
          <p:cNvPr id="13" name="Text 11"/>
          <p:cNvSpPr/>
          <p:nvPr/>
        </p:nvSpPr>
        <p:spPr>
          <a:xfrm>
            <a:off x="5998518" y="1346299"/>
            <a:ext cx="2594744" cy="185291"/>
          </a:xfrm>
          <a:prstGeom prst="rect">
            <a:avLst/>
          </a:prstGeom>
          <a:noFill/>
          <a:ln/>
        </p:spPr>
        <p:txBody>
          <a:bodyPr wrap="none" lIns="0" tIns="0" rIns="0" bIns="0" rtlCol="0" anchor="t"/>
          <a:lstStyle/>
          <a:p>
            <a:pPr algn="l" indent="0" marL="0">
              <a:lnSpc>
                <a:spcPct val="104000"/>
              </a:lnSpc>
              <a:buNone/>
            </a:pPr>
            <a:r>
              <a:rPr lang="en-US" sz="1150" b="1" dirty="0">
                <a:solidFill>
                  <a:srgbClr val="E0E4E6"/>
                </a:solidFill>
                <a:latin typeface="Spline Sans Bold" pitchFamily="34" charset="0"/>
                <a:ea typeface="Spline Sans Bold" pitchFamily="34" charset="-122"/>
                <a:cs typeface="Spline Sans Bold" pitchFamily="34" charset="-120"/>
              </a:rPr>
              <a:t>Module 3 — The Math Layer</a:t>
            </a:r>
            <a:endParaRPr lang="en-US" sz="1150" dirty="0"/>
          </a:p>
        </p:txBody>
      </p:sp>
      <p:sp>
        <p:nvSpPr>
          <p:cNvPr id="14" name="Text 12"/>
          <p:cNvSpPr/>
          <p:nvPr/>
        </p:nvSpPr>
        <p:spPr>
          <a:xfrm>
            <a:off x="5998518" y="1609055"/>
            <a:ext cx="2594744" cy="209996"/>
          </a:xfrm>
          <a:prstGeom prst="rect">
            <a:avLst/>
          </a:prstGeom>
          <a:noFill/>
          <a:ln/>
        </p:spPr>
        <p:txBody>
          <a:bodyPr wrap="none" lIns="0" tIns="0" rIns="0" bIns="0" rtlCol="0" anchor="t"/>
          <a:lstStyle/>
          <a:p>
            <a:pPr algn="l" indent="0" marL="0">
              <a:lnSpc>
                <a:spcPct val="131000"/>
              </a:lnSpc>
              <a:buNone/>
            </a:pPr>
            <a:r>
              <a:rPr lang="en-US" sz="1050" dirty="0">
                <a:solidFill>
                  <a:srgbClr val="E0E4E6"/>
                </a:solidFill>
                <a:latin typeface="Barlow" pitchFamily="34" charset="0"/>
                <a:ea typeface="Barlow" pitchFamily="34" charset="-122"/>
                <a:cs typeface="Barlow" pitchFamily="34" charset="-120"/>
              </a:rPr>
              <a:t>Key Formulas Explained</a:t>
            </a:r>
            <a:endParaRPr lang="en-US" sz="1050" dirty="0"/>
          </a:p>
        </p:txBody>
      </p:sp>
      <p:sp>
        <p:nvSpPr>
          <p:cNvPr id="15" name="Text 13"/>
          <p:cNvSpPr/>
          <p:nvPr/>
        </p:nvSpPr>
        <p:spPr>
          <a:xfrm>
            <a:off x="550664" y="2443535"/>
            <a:ext cx="266700" cy="166688"/>
          </a:xfrm>
          <a:prstGeom prst="rect">
            <a:avLst/>
          </a:prstGeom>
          <a:noFill/>
          <a:ln/>
        </p:spPr>
        <p:txBody>
          <a:bodyPr wrap="none" lIns="0" tIns="0" rIns="0" bIns="0" rtlCol="0" anchor="ctr"/>
          <a:lstStyle/>
          <a:p>
            <a:pPr algn="l" indent="0" marL="0">
              <a:lnSpc>
                <a:spcPct val="100000"/>
              </a:lnSpc>
              <a:buNone/>
            </a:pPr>
            <a:r>
              <a:rPr lang="en-US" sz="1050" dirty="0">
                <a:solidFill>
                  <a:srgbClr val="E0E4E6"/>
                </a:solidFill>
                <a:latin typeface="Spline Sans Light" pitchFamily="34" charset="0"/>
                <a:ea typeface="Spline Sans Light" pitchFamily="34" charset="-122"/>
                <a:cs typeface="Spline Sans Light" pitchFamily="34" charset="-120"/>
              </a:rPr>
              <a:t>04</a:t>
            </a:r>
            <a:endParaRPr lang="en-US" sz="1050" dirty="0"/>
          </a:p>
        </p:txBody>
      </p:sp>
      <p:sp>
        <p:nvSpPr>
          <p:cNvPr id="16" name="Shape 14"/>
          <p:cNvSpPr/>
          <p:nvPr/>
        </p:nvSpPr>
        <p:spPr>
          <a:xfrm>
            <a:off x="550664" y="2651150"/>
            <a:ext cx="2594744" cy="19050"/>
          </a:xfrm>
          <a:prstGeom prst="rect">
            <a:avLst/>
          </a:prstGeom>
          <a:solidFill>
            <a:srgbClr val="091231"/>
          </a:solidFill>
          <a:ln/>
        </p:spPr>
      </p:sp>
      <p:sp>
        <p:nvSpPr>
          <p:cNvPr id="17" name="Text 15"/>
          <p:cNvSpPr/>
          <p:nvPr/>
        </p:nvSpPr>
        <p:spPr>
          <a:xfrm>
            <a:off x="550664" y="2755925"/>
            <a:ext cx="2594744" cy="370582"/>
          </a:xfrm>
          <a:prstGeom prst="rect">
            <a:avLst/>
          </a:prstGeom>
          <a:noFill/>
          <a:ln/>
        </p:spPr>
        <p:txBody>
          <a:bodyPr wrap="square" lIns="0" tIns="0" rIns="0" bIns="0" rtlCol="0" anchor="t">
            <a:normAutofit/>
          </a:bodyPr>
          <a:lstStyle/>
          <a:p>
            <a:pPr algn="l" indent="0" marL="0">
              <a:lnSpc>
                <a:spcPct val="104000"/>
              </a:lnSpc>
              <a:buNone/>
            </a:pPr>
            <a:r>
              <a:rPr lang="en-US" sz="1150" b="1" dirty="0">
                <a:solidFill>
                  <a:srgbClr val="E0E4E6"/>
                </a:solidFill>
                <a:latin typeface="Spline Sans Bold" pitchFamily="34" charset="0"/>
                <a:ea typeface="Spline Sans Bold" pitchFamily="34" charset="-122"/>
                <a:cs typeface="Spline Sans Bold" pitchFamily="34" charset="-120"/>
              </a:rPr>
              <a:t>Module 4 — Neural Networks &amp; Deep Learning</a:t>
            </a:r>
            <a:endParaRPr lang="en-US" sz="1150" dirty="0"/>
          </a:p>
        </p:txBody>
      </p:sp>
      <p:sp>
        <p:nvSpPr>
          <p:cNvPr id="18" name="Text 16"/>
          <p:cNvSpPr/>
          <p:nvPr/>
        </p:nvSpPr>
        <p:spPr>
          <a:xfrm>
            <a:off x="550664" y="3203972"/>
            <a:ext cx="2594744" cy="419993"/>
          </a:xfrm>
          <a:prstGeom prst="rect">
            <a:avLst/>
          </a:prstGeom>
          <a:noFill/>
          <a:ln/>
        </p:spPr>
        <p:txBody>
          <a:bodyPr wrap="square" lIns="0" tIns="0" rIns="0" bIns="0" rtlCol="0" anchor="t">
            <a:normAutofit/>
          </a:bodyPr>
          <a:lstStyle/>
          <a:p>
            <a:pPr algn="l" indent="0" marL="0">
              <a:lnSpc>
                <a:spcPct val="131000"/>
              </a:lnSpc>
              <a:buNone/>
            </a:pPr>
            <a:r>
              <a:rPr lang="en-US" sz="1050" dirty="0">
                <a:solidFill>
                  <a:srgbClr val="E0E4E6"/>
                </a:solidFill>
                <a:latin typeface="Barlow" pitchFamily="34" charset="0"/>
                <a:ea typeface="Barlow" pitchFamily="34" charset="-122"/>
                <a:cs typeface="Barlow" pitchFamily="34" charset="-120"/>
              </a:rPr>
              <a:t>Architectures, Activations &amp; Backpropagation</a:t>
            </a:r>
            <a:endParaRPr lang="en-US" sz="1050" dirty="0"/>
          </a:p>
        </p:txBody>
      </p:sp>
      <p:sp>
        <p:nvSpPr>
          <p:cNvPr id="19" name="Text 17"/>
          <p:cNvSpPr/>
          <p:nvPr/>
        </p:nvSpPr>
        <p:spPr>
          <a:xfrm>
            <a:off x="3274591" y="2443535"/>
            <a:ext cx="266700" cy="166688"/>
          </a:xfrm>
          <a:prstGeom prst="rect">
            <a:avLst/>
          </a:prstGeom>
          <a:noFill/>
          <a:ln/>
        </p:spPr>
        <p:txBody>
          <a:bodyPr wrap="none" lIns="0" tIns="0" rIns="0" bIns="0" rtlCol="0" anchor="ctr"/>
          <a:lstStyle/>
          <a:p>
            <a:pPr algn="l" indent="0" marL="0">
              <a:lnSpc>
                <a:spcPct val="100000"/>
              </a:lnSpc>
              <a:buNone/>
            </a:pPr>
            <a:r>
              <a:rPr lang="en-US" sz="1050" dirty="0">
                <a:solidFill>
                  <a:srgbClr val="E0E4E6"/>
                </a:solidFill>
                <a:latin typeface="Spline Sans Light" pitchFamily="34" charset="0"/>
                <a:ea typeface="Spline Sans Light" pitchFamily="34" charset="-122"/>
                <a:cs typeface="Spline Sans Light" pitchFamily="34" charset="-120"/>
              </a:rPr>
              <a:t>05</a:t>
            </a:r>
            <a:endParaRPr lang="en-US" sz="1050" dirty="0"/>
          </a:p>
        </p:txBody>
      </p:sp>
      <p:sp>
        <p:nvSpPr>
          <p:cNvPr id="20" name="Shape 18"/>
          <p:cNvSpPr/>
          <p:nvPr/>
        </p:nvSpPr>
        <p:spPr>
          <a:xfrm>
            <a:off x="3274591" y="2651150"/>
            <a:ext cx="2594744" cy="19050"/>
          </a:xfrm>
          <a:prstGeom prst="rect">
            <a:avLst/>
          </a:prstGeom>
          <a:solidFill>
            <a:srgbClr val="16FFBB"/>
          </a:solidFill>
          <a:ln/>
        </p:spPr>
      </p:sp>
      <p:sp>
        <p:nvSpPr>
          <p:cNvPr id="21" name="Text 19"/>
          <p:cNvSpPr/>
          <p:nvPr/>
        </p:nvSpPr>
        <p:spPr>
          <a:xfrm>
            <a:off x="3274591" y="2755925"/>
            <a:ext cx="2594744" cy="370582"/>
          </a:xfrm>
          <a:prstGeom prst="rect">
            <a:avLst/>
          </a:prstGeom>
          <a:noFill/>
          <a:ln/>
        </p:spPr>
        <p:txBody>
          <a:bodyPr wrap="square" lIns="0" tIns="0" rIns="0" bIns="0" rtlCol="0" anchor="t">
            <a:normAutofit/>
          </a:bodyPr>
          <a:lstStyle/>
          <a:p>
            <a:pPr algn="l" indent="0" marL="0">
              <a:lnSpc>
                <a:spcPct val="104000"/>
              </a:lnSpc>
              <a:buNone/>
            </a:pPr>
            <a:r>
              <a:rPr lang="en-US" sz="1150" b="1" dirty="0">
                <a:solidFill>
                  <a:srgbClr val="E0E4E6"/>
                </a:solidFill>
                <a:latin typeface="Spline Sans Bold" pitchFamily="34" charset="0"/>
                <a:ea typeface="Spline Sans Bold" pitchFamily="34" charset="-122"/>
                <a:cs typeface="Spline Sans Bold" pitchFamily="34" charset="-120"/>
              </a:rPr>
              <a:t>Module 5 — How Large Language Models Work</a:t>
            </a:r>
            <a:endParaRPr lang="en-US" sz="1150" dirty="0"/>
          </a:p>
        </p:txBody>
      </p:sp>
      <p:sp>
        <p:nvSpPr>
          <p:cNvPr id="22" name="Text 20"/>
          <p:cNvSpPr/>
          <p:nvPr/>
        </p:nvSpPr>
        <p:spPr>
          <a:xfrm>
            <a:off x="3274591" y="3203972"/>
            <a:ext cx="2594744" cy="209996"/>
          </a:xfrm>
          <a:prstGeom prst="rect">
            <a:avLst/>
          </a:prstGeom>
          <a:noFill/>
          <a:ln/>
        </p:spPr>
        <p:txBody>
          <a:bodyPr wrap="none" lIns="0" tIns="0" rIns="0" bIns="0" rtlCol="0" anchor="t"/>
          <a:lstStyle/>
          <a:p>
            <a:pPr algn="l" indent="0" marL="0">
              <a:lnSpc>
                <a:spcPct val="131000"/>
              </a:lnSpc>
              <a:buNone/>
            </a:pPr>
            <a:r>
              <a:rPr lang="en-US" sz="1050" dirty="0">
                <a:solidFill>
                  <a:srgbClr val="E0E4E6"/>
                </a:solidFill>
                <a:latin typeface="Barlow" pitchFamily="34" charset="0"/>
                <a:ea typeface="Barlow" pitchFamily="34" charset="-122"/>
                <a:cs typeface="Barlow" pitchFamily="34" charset="-120"/>
              </a:rPr>
              <a:t>Tokens, Embeddings &amp; Transformers</a:t>
            </a:r>
            <a:endParaRPr lang="en-US" sz="1050" dirty="0"/>
          </a:p>
        </p:txBody>
      </p:sp>
      <p:sp>
        <p:nvSpPr>
          <p:cNvPr id="23" name="Text 21"/>
          <p:cNvSpPr/>
          <p:nvPr/>
        </p:nvSpPr>
        <p:spPr>
          <a:xfrm>
            <a:off x="5998518" y="2443535"/>
            <a:ext cx="266700" cy="166688"/>
          </a:xfrm>
          <a:prstGeom prst="rect">
            <a:avLst/>
          </a:prstGeom>
          <a:noFill/>
          <a:ln/>
        </p:spPr>
        <p:txBody>
          <a:bodyPr wrap="none" lIns="0" tIns="0" rIns="0" bIns="0" rtlCol="0" anchor="ctr"/>
          <a:lstStyle/>
          <a:p>
            <a:pPr algn="l" indent="0" marL="0">
              <a:lnSpc>
                <a:spcPct val="100000"/>
              </a:lnSpc>
              <a:buNone/>
            </a:pPr>
            <a:r>
              <a:rPr lang="en-US" sz="1050" dirty="0">
                <a:solidFill>
                  <a:srgbClr val="E0E4E6"/>
                </a:solidFill>
                <a:latin typeface="Spline Sans Light" pitchFamily="34" charset="0"/>
                <a:ea typeface="Spline Sans Light" pitchFamily="34" charset="-122"/>
                <a:cs typeface="Spline Sans Light" pitchFamily="34" charset="-120"/>
              </a:rPr>
              <a:t>06</a:t>
            </a:r>
            <a:endParaRPr lang="en-US" sz="1050" dirty="0"/>
          </a:p>
        </p:txBody>
      </p:sp>
      <p:sp>
        <p:nvSpPr>
          <p:cNvPr id="24" name="Shape 22"/>
          <p:cNvSpPr/>
          <p:nvPr/>
        </p:nvSpPr>
        <p:spPr>
          <a:xfrm>
            <a:off x="5998518" y="2651150"/>
            <a:ext cx="2594744" cy="19050"/>
          </a:xfrm>
          <a:prstGeom prst="rect">
            <a:avLst/>
          </a:prstGeom>
          <a:solidFill>
            <a:srgbClr val="29DDDA"/>
          </a:solidFill>
          <a:ln/>
        </p:spPr>
      </p:sp>
      <p:sp>
        <p:nvSpPr>
          <p:cNvPr id="25" name="Text 23"/>
          <p:cNvSpPr/>
          <p:nvPr/>
        </p:nvSpPr>
        <p:spPr>
          <a:xfrm>
            <a:off x="5998518" y="2755925"/>
            <a:ext cx="2594744" cy="185291"/>
          </a:xfrm>
          <a:prstGeom prst="rect">
            <a:avLst/>
          </a:prstGeom>
          <a:noFill/>
          <a:ln/>
        </p:spPr>
        <p:txBody>
          <a:bodyPr wrap="none" lIns="0" tIns="0" rIns="0" bIns="0" rtlCol="0" anchor="t"/>
          <a:lstStyle/>
          <a:p>
            <a:pPr algn="l" indent="0" marL="0">
              <a:lnSpc>
                <a:spcPct val="104000"/>
              </a:lnSpc>
              <a:buNone/>
            </a:pPr>
            <a:r>
              <a:rPr lang="en-US" sz="1150" b="1" dirty="0">
                <a:solidFill>
                  <a:srgbClr val="E0E4E6"/>
                </a:solidFill>
                <a:latin typeface="Spline Sans Bold" pitchFamily="34" charset="0"/>
                <a:ea typeface="Spline Sans Bold" pitchFamily="34" charset="-122"/>
                <a:cs typeface="Spline Sans Bold" pitchFamily="34" charset="-120"/>
              </a:rPr>
              <a:t>Module 6 — Prompt Engineering</a:t>
            </a:r>
            <a:endParaRPr lang="en-US" sz="1150" dirty="0"/>
          </a:p>
        </p:txBody>
      </p:sp>
      <p:sp>
        <p:nvSpPr>
          <p:cNvPr id="26" name="Text 24"/>
          <p:cNvSpPr/>
          <p:nvPr/>
        </p:nvSpPr>
        <p:spPr>
          <a:xfrm>
            <a:off x="5998518" y="3018681"/>
            <a:ext cx="2594744" cy="209996"/>
          </a:xfrm>
          <a:prstGeom prst="rect">
            <a:avLst/>
          </a:prstGeom>
          <a:noFill/>
          <a:ln/>
        </p:spPr>
        <p:txBody>
          <a:bodyPr wrap="none" lIns="0" tIns="0" rIns="0" bIns="0" rtlCol="0" anchor="t"/>
          <a:lstStyle/>
          <a:p>
            <a:pPr algn="l" indent="0" marL="0">
              <a:lnSpc>
                <a:spcPct val="131000"/>
              </a:lnSpc>
              <a:buNone/>
            </a:pPr>
            <a:r>
              <a:rPr lang="en-US" sz="1050" dirty="0">
                <a:solidFill>
                  <a:srgbClr val="E0E4E6"/>
                </a:solidFill>
                <a:latin typeface="Barlow" pitchFamily="34" charset="0"/>
                <a:ea typeface="Barlow" pitchFamily="34" charset="-122"/>
                <a:cs typeface="Barlow" pitchFamily="34" charset="-120"/>
              </a:rPr>
              <a:t>Talking to AI Effectively</a:t>
            </a:r>
            <a:endParaRPr lang="en-US" sz="1050" dirty="0"/>
          </a:p>
        </p:txBody>
      </p:sp>
      <p:sp>
        <p:nvSpPr>
          <p:cNvPr id="27" name="Text 25"/>
          <p:cNvSpPr/>
          <p:nvPr/>
        </p:nvSpPr>
        <p:spPr>
          <a:xfrm>
            <a:off x="550664" y="3853160"/>
            <a:ext cx="266700" cy="166688"/>
          </a:xfrm>
          <a:prstGeom prst="rect">
            <a:avLst/>
          </a:prstGeom>
          <a:noFill/>
          <a:ln/>
        </p:spPr>
        <p:txBody>
          <a:bodyPr wrap="none" lIns="0" tIns="0" rIns="0" bIns="0" rtlCol="0" anchor="ctr"/>
          <a:lstStyle/>
          <a:p>
            <a:pPr algn="l" indent="0" marL="0">
              <a:lnSpc>
                <a:spcPct val="100000"/>
              </a:lnSpc>
              <a:buNone/>
            </a:pPr>
            <a:r>
              <a:rPr lang="en-US" sz="1050" dirty="0">
                <a:solidFill>
                  <a:srgbClr val="E0E4E6"/>
                </a:solidFill>
                <a:latin typeface="Spline Sans Light" pitchFamily="34" charset="0"/>
                <a:ea typeface="Spline Sans Light" pitchFamily="34" charset="-122"/>
                <a:cs typeface="Spline Sans Light" pitchFamily="34" charset="-120"/>
              </a:rPr>
              <a:t>07</a:t>
            </a:r>
            <a:endParaRPr lang="en-US" sz="1050" dirty="0"/>
          </a:p>
        </p:txBody>
      </p:sp>
      <p:sp>
        <p:nvSpPr>
          <p:cNvPr id="28" name="Shape 26"/>
          <p:cNvSpPr/>
          <p:nvPr/>
        </p:nvSpPr>
        <p:spPr>
          <a:xfrm>
            <a:off x="550664" y="4060775"/>
            <a:ext cx="8042597" cy="19050"/>
          </a:xfrm>
          <a:prstGeom prst="rect">
            <a:avLst/>
          </a:prstGeom>
          <a:solidFill>
            <a:srgbClr val="37A7E7"/>
          </a:solidFill>
          <a:ln/>
        </p:spPr>
      </p:sp>
      <p:sp>
        <p:nvSpPr>
          <p:cNvPr id="29" name="Text 27"/>
          <p:cNvSpPr/>
          <p:nvPr/>
        </p:nvSpPr>
        <p:spPr>
          <a:xfrm>
            <a:off x="550664" y="4165550"/>
            <a:ext cx="8042597" cy="185291"/>
          </a:xfrm>
          <a:prstGeom prst="rect">
            <a:avLst/>
          </a:prstGeom>
          <a:noFill/>
          <a:ln/>
        </p:spPr>
        <p:txBody>
          <a:bodyPr wrap="none" lIns="0" tIns="0" rIns="0" bIns="0" rtlCol="0" anchor="t"/>
          <a:lstStyle/>
          <a:p>
            <a:pPr algn="l" indent="0" marL="0">
              <a:lnSpc>
                <a:spcPct val="104000"/>
              </a:lnSpc>
              <a:buNone/>
            </a:pPr>
            <a:r>
              <a:rPr lang="en-US" sz="1150" b="1" dirty="0">
                <a:solidFill>
                  <a:srgbClr val="E0E4E6"/>
                </a:solidFill>
                <a:latin typeface="Spline Sans Bold" pitchFamily="34" charset="0"/>
                <a:ea typeface="Spline Sans Bold" pitchFamily="34" charset="-122"/>
                <a:cs typeface="Spline Sans Bold" pitchFamily="34" charset="-120"/>
              </a:rPr>
              <a:t>Module 7 — What Controls AI Response Behaviour</a:t>
            </a:r>
            <a:endParaRPr lang="en-US" sz="1150" dirty="0"/>
          </a:p>
        </p:txBody>
      </p:sp>
      <p:sp>
        <p:nvSpPr>
          <p:cNvPr id="30" name="Text 28"/>
          <p:cNvSpPr/>
          <p:nvPr/>
        </p:nvSpPr>
        <p:spPr>
          <a:xfrm>
            <a:off x="550664" y="4428306"/>
            <a:ext cx="8042597" cy="209996"/>
          </a:xfrm>
          <a:prstGeom prst="rect">
            <a:avLst/>
          </a:prstGeom>
          <a:noFill/>
          <a:ln/>
        </p:spPr>
        <p:txBody>
          <a:bodyPr wrap="none" lIns="0" tIns="0" rIns="0" bIns="0" rtlCol="0" anchor="t"/>
          <a:lstStyle/>
          <a:p>
            <a:pPr algn="l" indent="0" marL="0">
              <a:lnSpc>
                <a:spcPct val="131000"/>
              </a:lnSpc>
              <a:buNone/>
            </a:pPr>
            <a:r>
              <a:rPr lang="en-US" sz="1050" dirty="0">
                <a:solidFill>
                  <a:srgbClr val="E0E4E6"/>
                </a:solidFill>
                <a:latin typeface="Barlow" pitchFamily="34" charset="0"/>
                <a:ea typeface="Barlow" pitchFamily="34" charset="-122"/>
                <a:cs typeface="Barlow" pitchFamily="34" charset="-120"/>
              </a:rPr>
              <a:t>Temperature, Top-P, RLHF &amp; the Full Control Stack</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Shape 0"/>
          <p:cNvSpPr/>
          <p:nvPr/>
        </p:nvSpPr>
        <p:spPr>
          <a:xfrm>
            <a:off x="550664" y="830163"/>
            <a:ext cx="641375" cy="209252"/>
          </a:xfrm>
          <a:prstGeom prst="roundRect">
            <a:avLst>
              <a:gd name="adj" fmla="val 78958"/>
            </a:avLst>
          </a:prstGeom>
          <a:solidFill>
            <a:srgbClr val="004D36"/>
          </a:solidFill>
          <a:ln/>
        </p:spPr>
      </p:sp>
      <p:sp>
        <p:nvSpPr>
          <p:cNvPr id="4" name="Text 1"/>
          <p:cNvSpPr/>
          <p:nvPr/>
        </p:nvSpPr>
        <p:spPr>
          <a:xfrm>
            <a:off x="633264" y="871463"/>
            <a:ext cx="933376" cy="126653"/>
          </a:xfrm>
          <a:prstGeom prst="rect">
            <a:avLst/>
          </a:prstGeom>
          <a:noFill/>
          <a:ln/>
        </p:spPr>
        <p:txBody>
          <a:bodyPr wrap="none" lIns="0" tIns="0" rIns="0" bIns="0" rtlCol="0" anchor="t"/>
          <a:lstStyle/>
          <a:p>
            <a:pPr algn="l" indent="0" marL="0">
              <a:lnSpc>
                <a:spcPct val="96000"/>
              </a:lnSpc>
              <a:buNone/>
            </a:pPr>
            <a:r>
              <a:rPr lang="en-US" sz="850" dirty="0">
                <a:solidFill>
                  <a:srgbClr val="E0E4E6"/>
                </a:solidFill>
                <a:latin typeface="Barlow" pitchFamily="34" charset="0"/>
                <a:ea typeface="Barlow" pitchFamily="34" charset="-122"/>
                <a:cs typeface="Barlow" pitchFamily="34" charset="-120"/>
              </a:rPr>
              <a:t>MODULE 1</a:t>
            </a:r>
            <a:endParaRPr lang="en-US" sz="850" dirty="0"/>
          </a:p>
        </p:txBody>
      </p:sp>
      <p:sp>
        <p:nvSpPr>
          <p:cNvPr id="5" name="Text 2"/>
          <p:cNvSpPr/>
          <p:nvPr/>
        </p:nvSpPr>
        <p:spPr>
          <a:xfrm>
            <a:off x="550664" y="1094482"/>
            <a:ext cx="4613672" cy="764977"/>
          </a:xfrm>
          <a:prstGeom prst="rect">
            <a:avLst/>
          </a:prstGeom>
          <a:noFill/>
          <a:ln/>
        </p:spPr>
        <p:txBody>
          <a:bodyPr wrap="square" lIns="0" tIns="0" rIns="0" bIns="0" rtlCol="0" anchor="t">
            <a:normAutofit/>
          </a:bodyPr>
          <a:lstStyle/>
          <a:p>
            <a:pPr algn="l" indent="0" marL="0">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What is AI? — Foundations &amp; History</a:t>
            </a:r>
            <a:endParaRPr lang="en-US" sz="2400" dirty="0"/>
          </a:p>
        </p:txBody>
      </p:sp>
      <p:sp>
        <p:nvSpPr>
          <p:cNvPr id="6" name="Text 3"/>
          <p:cNvSpPr/>
          <p:nvPr/>
        </p:nvSpPr>
        <p:spPr>
          <a:xfrm>
            <a:off x="550664" y="2065958"/>
            <a:ext cx="4613672" cy="1321594"/>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Artificial Intelligence (AI) is the field of computer science concerned with building systems that can perform tasks that normally require human intelligence — things like recognising speech, understanding language, making decisions, and learning from experience. AI does not mean a robot with a human brain. It means software that can </a:t>
            </a:r>
            <a:pPr algn="l" indent="0" marL="0">
              <a:lnSpc>
                <a:spcPct val="133000"/>
              </a:lnSpc>
              <a:buNone/>
            </a:pPr>
            <a:r>
              <a:rPr lang="en-US" sz="1050" b="1" dirty="0">
                <a:solidFill>
                  <a:srgbClr val="E0E4E6"/>
                </a:solidFill>
                <a:latin typeface="Barlow Bold" pitchFamily="34" charset="0"/>
                <a:ea typeface="Barlow Bold" pitchFamily="34" charset="-122"/>
                <a:cs typeface="Barlow Bold" pitchFamily="34" charset="-120"/>
              </a:rPr>
              <a:t>sense, reason, and act</a:t>
            </a:r>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 in some useful way.</a:t>
            </a:r>
            <a:endParaRPr lang="en-US" sz="1050" dirty="0"/>
          </a:p>
        </p:txBody>
      </p:sp>
      <p:sp>
        <p:nvSpPr>
          <p:cNvPr id="7" name="Shape 4"/>
          <p:cNvSpPr/>
          <p:nvPr/>
        </p:nvSpPr>
        <p:spPr>
          <a:xfrm>
            <a:off x="550664" y="3542407"/>
            <a:ext cx="4613672" cy="770855"/>
          </a:xfrm>
          <a:prstGeom prst="roundRect">
            <a:avLst>
              <a:gd name="adj" fmla="val 26792"/>
            </a:avLst>
          </a:prstGeom>
          <a:solidFill>
            <a:srgbClr val="022349"/>
          </a:solidFill>
          <a:ln/>
        </p:spPr>
      </p:sp>
      <p:pic>
        <p:nvPicPr>
          <p:cNvPr id="8" name="Image 1" descr="preencoded.png">    </p:cNvPr>
          <p:cNvPicPr>
            <a:picLocks noChangeAspect="1"/>
          </p:cNvPicPr>
          <p:nvPr/>
        </p:nvPicPr>
        <p:blipFill>
          <a:blip r:embed="rId2"/>
          <a:stretch>
            <a:fillRect/>
          </a:stretch>
        </p:blipFill>
        <p:spPr>
          <a:xfrm>
            <a:off x="688330" y="3741613"/>
            <a:ext cx="172045" cy="137666"/>
          </a:xfrm>
          <a:prstGeom prst="rect">
            <a:avLst/>
          </a:prstGeom>
        </p:spPr>
      </p:pic>
      <p:sp>
        <p:nvSpPr>
          <p:cNvPr id="9" name="Text 5"/>
          <p:cNvSpPr/>
          <p:nvPr/>
        </p:nvSpPr>
        <p:spPr>
          <a:xfrm>
            <a:off x="998041" y="3714452"/>
            <a:ext cx="4028629" cy="440531"/>
          </a:xfrm>
          <a:prstGeom prst="rect">
            <a:avLst/>
          </a:prstGeom>
          <a:noFill/>
          <a:ln/>
        </p:spPr>
        <p:txBody>
          <a:bodyPr wrap="square" lIns="0" tIns="0" rIns="0" bIns="0" rtlCol="0" anchor="t">
            <a:normAutofit/>
          </a:bodyPr>
          <a:lstStyle/>
          <a:p>
            <a:pPr algn="l" indent="0" marL="0">
              <a:lnSpc>
                <a:spcPct val="133000"/>
              </a:lnSpc>
              <a:buNone/>
            </a:pPr>
            <a:r>
              <a:rPr lang="en-US" sz="1050" b="1" dirty="0">
                <a:solidFill>
                  <a:srgbClr val="FFFFFF"/>
                </a:solidFill>
                <a:latin typeface="Barlow Bold" pitchFamily="34" charset="0"/>
                <a:ea typeface="Barlow Bold" pitchFamily="34" charset="-122"/>
                <a:cs typeface="Barlow Bold" pitchFamily="34" charset="-120"/>
              </a:rPr>
              <a:t>Working Definition:</a:t>
            </a:r>
            <a:pPr algn="l" indent="0" marL="0">
              <a:lnSpc>
                <a:spcPct val="133000"/>
              </a:lnSpc>
              <a:buNone/>
            </a:pPr>
            <a:r>
              <a:rPr lang="en-US" sz="1050" dirty="0">
                <a:solidFill>
                  <a:srgbClr val="FFFFFF"/>
                </a:solidFill>
                <a:latin typeface="Barlow" pitchFamily="34" charset="0"/>
                <a:ea typeface="Barlow" pitchFamily="34" charset="-122"/>
                <a:cs typeface="Barlow" pitchFamily="34" charset="-120"/>
              </a:rPr>
              <a:t> AI is any program that makes a decision by learning from data rather than following hand-coded rules.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50664" y="391641"/>
            <a:ext cx="943273" cy="147117"/>
          </a:xfrm>
          <a:prstGeom prst="roundRect">
            <a:avLst>
              <a:gd name="adj" fmla="val 78965"/>
            </a:avLst>
          </a:prstGeom>
          <a:solidFill>
            <a:srgbClr val="004D36"/>
          </a:solidFill>
          <a:ln/>
        </p:spPr>
      </p:sp>
      <p:sp>
        <p:nvSpPr>
          <p:cNvPr id="3" name="Text 1"/>
          <p:cNvSpPr/>
          <p:nvPr/>
        </p:nvSpPr>
        <p:spPr>
          <a:xfrm>
            <a:off x="608707" y="420663"/>
            <a:ext cx="1284387" cy="89074"/>
          </a:xfrm>
          <a:prstGeom prst="rect">
            <a:avLst/>
          </a:prstGeom>
          <a:noFill/>
          <a:ln/>
        </p:spPr>
        <p:txBody>
          <a:bodyPr wrap="none" lIns="0" tIns="0" rIns="0" bIns="0" rtlCol="0" anchor="t"/>
          <a:lstStyle/>
          <a:p>
            <a:pPr algn="l" indent="0" marL="0">
              <a:lnSpc>
                <a:spcPct val="96000"/>
              </a:lnSpc>
              <a:buNone/>
            </a:pPr>
            <a:r>
              <a:rPr lang="en-US" sz="600" dirty="0">
                <a:solidFill>
                  <a:srgbClr val="E0E4E6"/>
                </a:solidFill>
                <a:latin typeface="Barlow" pitchFamily="34" charset="0"/>
                <a:ea typeface="Barlow" pitchFamily="34" charset="-122"/>
                <a:cs typeface="Barlow" pitchFamily="34" charset="-120"/>
              </a:rPr>
              <a:t>MODULE 1 — SECTION 1.2</a:t>
            </a:r>
            <a:endParaRPr lang="en-US" sz="600" dirty="0"/>
          </a:p>
        </p:txBody>
      </p:sp>
      <p:sp>
        <p:nvSpPr>
          <p:cNvPr id="4" name="Text 2"/>
          <p:cNvSpPr/>
          <p:nvPr/>
        </p:nvSpPr>
        <p:spPr>
          <a:xfrm>
            <a:off x="550664" y="565919"/>
            <a:ext cx="8042672" cy="268858"/>
          </a:xfrm>
          <a:prstGeom prst="rect">
            <a:avLst/>
          </a:prstGeom>
          <a:noFill/>
          <a:ln/>
        </p:spPr>
        <p:txBody>
          <a:bodyPr wrap="none" lIns="0" tIns="0" rIns="0" bIns="0" rtlCol="0" anchor="t"/>
          <a:lstStyle/>
          <a:p>
            <a:pPr algn="l" indent="0" marL="0">
              <a:lnSpc>
                <a:spcPct val="104000"/>
              </a:lnSpc>
              <a:buNone/>
            </a:pPr>
            <a:r>
              <a:rPr lang="en-US" sz="1650" b="1" dirty="0">
                <a:solidFill>
                  <a:srgbClr val="F0FCFF"/>
                </a:solidFill>
                <a:latin typeface="Spline Sans Bold" pitchFamily="34" charset="0"/>
                <a:ea typeface="Spline Sans Bold" pitchFamily="34" charset="-122"/>
                <a:cs typeface="Spline Sans Bold" pitchFamily="34" charset="-120"/>
              </a:rPr>
              <a:t>A Brief History of AI</a:t>
            </a:r>
            <a:endParaRPr lang="en-US" sz="1650" dirty="0"/>
          </a:p>
        </p:txBody>
      </p:sp>
      <p:sp>
        <p:nvSpPr>
          <p:cNvPr id="5" name="Shape 3"/>
          <p:cNvSpPr/>
          <p:nvPr/>
        </p:nvSpPr>
        <p:spPr>
          <a:xfrm>
            <a:off x="4564856" y="936873"/>
            <a:ext cx="14288" cy="3218706"/>
          </a:xfrm>
          <a:prstGeom prst="roundRect">
            <a:avLst>
              <a:gd name="adj" fmla="val 1016336"/>
            </a:avLst>
          </a:prstGeom>
          <a:solidFill>
            <a:srgbClr val="FFFFFF">
              <a:alpha val="24000"/>
            </a:srgbClr>
          </a:solidFill>
          <a:ln/>
        </p:spPr>
      </p:sp>
      <p:sp>
        <p:nvSpPr>
          <p:cNvPr id="6" name="Shape 4"/>
          <p:cNvSpPr/>
          <p:nvPr/>
        </p:nvSpPr>
        <p:spPr>
          <a:xfrm>
            <a:off x="4187019" y="1038597"/>
            <a:ext cx="290364" cy="14288"/>
          </a:xfrm>
          <a:prstGeom prst="roundRect">
            <a:avLst>
              <a:gd name="adj" fmla="val 1016336"/>
            </a:avLst>
          </a:prstGeom>
          <a:solidFill>
            <a:srgbClr val="16FFBB"/>
          </a:solidFill>
          <a:ln/>
        </p:spPr>
      </p:sp>
      <p:sp>
        <p:nvSpPr>
          <p:cNvPr id="7" name="Shape 5"/>
          <p:cNvSpPr/>
          <p:nvPr/>
        </p:nvSpPr>
        <p:spPr>
          <a:xfrm>
            <a:off x="4463095" y="936873"/>
            <a:ext cx="217810" cy="217810"/>
          </a:xfrm>
          <a:prstGeom prst="ellipse">
            <a:avLst/>
          </a:prstGeom>
          <a:solidFill>
            <a:srgbClr val="0A081B"/>
          </a:solidFill>
          <a:ln w="9525">
            <a:solidFill>
              <a:srgbClr val="16FFBB"/>
            </a:solidFill>
            <a:prstDash val="solid"/>
          </a:ln>
        </p:spPr>
      </p:sp>
      <p:sp>
        <p:nvSpPr>
          <p:cNvPr id="8" name="Text 6"/>
          <p:cNvSpPr/>
          <p:nvPr/>
        </p:nvSpPr>
        <p:spPr>
          <a:xfrm>
            <a:off x="4507446" y="965076"/>
            <a:ext cx="129034" cy="161330"/>
          </a:xfrm>
          <a:prstGeom prst="rect">
            <a:avLst/>
          </a:prstGeom>
          <a:noFill/>
          <a:ln/>
        </p:spPr>
        <p:txBody>
          <a:bodyPr wrap="none" lIns="0" tIns="0" rIns="0" bIns="0" rtlCol="0" anchor="ctr"/>
          <a:lstStyle/>
          <a:p>
            <a:pPr algn="ctr" indent="0" marL="0">
              <a:lnSpc>
                <a:spcPct val="100000"/>
              </a:lnSpc>
              <a:buNone/>
            </a:pPr>
            <a:r>
              <a:rPr lang="en-US" sz="1000" b="1" dirty="0">
                <a:solidFill>
                  <a:srgbClr val="E0E4E6"/>
                </a:solidFill>
                <a:latin typeface="Spline Sans Bold" pitchFamily="34" charset="0"/>
                <a:ea typeface="Spline Sans Bold" pitchFamily="34" charset="-122"/>
                <a:cs typeface="Spline Sans Bold" pitchFamily="34" charset="-120"/>
              </a:rPr>
              <a:t>1</a:t>
            </a:r>
            <a:endParaRPr lang="en-US" sz="1000" dirty="0"/>
          </a:p>
        </p:txBody>
      </p:sp>
      <p:sp>
        <p:nvSpPr>
          <p:cNvPr id="9" name="Text 7"/>
          <p:cNvSpPr/>
          <p:nvPr/>
        </p:nvSpPr>
        <p:spPr>
          <a:xfrm>
            <a:off x="550664" y="970136"/>
            <a:ext cx="3537347" cy="134466"/>
          </a:xfrm>
          <a:prstGeom prst="rect">
            <a:avLst/>
          </a:prstGeom>
          <a:noFill/>
          <a:ln/>
        </p:spPr>
        <p:txBody>
          <a:bodyPr wrap="none" lIns="0" tIns="0" rIns="0" bIns="0" rtlCol="0" anchor="t"/>
          <a:lstStyle/>
          <a:p>
            <a:pPr algn="r" indent="0" marL="0">
              <a:lnSpc>
                <a:spcPct val="104000"/>
              </a:lnSpc>
              <a:buNone/>
            </a:pPr>
            <a:r>
              <a:rPr lang="en-US" sz="800" b="1" dirty="0">
                <a:solidFill>
                  <a:srgbClr val="E0E4E6"/>
                </a:solidFill>
                <a:latin typeface="Spline Sans Bold" pitchFamily="34" charset="0"/>
                <a:ea typeface="Spline Sans Bold" pitchFamily="34" charset="-122"/>
                <a:cs typeface="Spline Sans Bold" pitchFamily="34" charset="-120"/>
              </a:rPr>
              <a:t>1950</a:t>
            </a:r>
            <a:endParaRPr lang="en-US" sz="800" dirty="0"/>
          </a:p>
        </p:txBody>
      </p:sp>
      <p:sp>
        <p:nvSpPr>
          <p:cNvPr id="10" name="Text 8"/>
          <p:cNvSpPr/>
          <p:nvPr/>
        </p:nvSpPr>
        <p:spPr>
          <a:xfrm>
            <a:off x="550664" y="1145381"/>
            <a:ext cx="3537347" cy="131862"/>
          </a:xfrm>
          <a:prstGeom prst="rect">
            <a:avLst/>
          </a:prstGeom>
          <a:noFill/>
          <a:ln/>
        </p:spPr>
        <p:txBody>
          <a:bodyPr wrap="none" lIns="0" tIns="0" rIns="0" bIns="0" rtlCol="0" anchor="t"/>
          <a:lstStyle/>
          <a:p>
            <a:pPr algn="r" indent="0" marL="0">
              <a:lnSpc>
                <a:spcPct val="114000"/>
              </a:lnSpc>
              <a:buNone/>
            </a:pPr>
            <a:r>
              <a:rPr lang="en-US" sz="750" dirty="0">
                <a:solidFill>
                  <a:srgbClr val="E0E4E6"/>
                </a:solidFill>
                <a:latin typeface="Barlow" pitchFamily="34" charset="0"/>
                <a:ea typeface="Barlow" pitchFamily="34" charset="-122"/>
                <a:cs typeface="Barlow" pitchFamily="34" charset="-120"/>
              </a:rPr>
              <a:t>Alan Turing proposes the 'Turing Test' — can a machine fool a human?</a:t>
            </a:r>
            <a:endParaRPr lang="en-US" sz="750" dirty="0"/>
          </a:p>
        </p:txBody>
      </p:sp>
      <p:sp>
        <p:nvSpPr>
          <p:cNvPr id="11" name="Shape 9"/>
          <p:cNvSpPr/>
          <p:nvPr/>
        </p:nvSpPr>
        <p:spPr>
          <a:xfrm>
            <a:off x="4666617" y="1561877"/>
            <a:ext cx="290364" cy="14288"/>
          </a:xfrm>
          <a:prstGeom prst="roundRect">
            <a:avLst>
              <a:gd name="adj" fmla="val 1016336"/>
            </a:avLst>
          </a:prstGeom>
          <a:solidFill>
            <a:srgbClr val="29DDDA"/>
          </a:solidFill>
          <a:ln/>
        </p:spPr>
      </p:sp>
      <p:sp>
        <p:nvSpPr>
          <p:cNvPr id="12" name="Shape 10"/>
          <p:cNvSpPr/>
          <p:nvPr/>
        </p:nvSpPr>
        <p:spPr>
          <a:xfrm>
            <a:off x="4463095" y="1460153"/>
            <a:ext cx="217810" cy="217810"/>
          </a:xfrm>
          <a:prstGeom prst="ellipse">
            <a:avLst/>
          </a:prstGeom>
          <a:solidFill>
            <a:srgbClr val="0A081B"/>
          </a:solidFill>
          <a:ln w="9525">
            <a:solidFill>
              <a:srgbClr val="29DDDA"/>
            </a:solidFill>
            <a:prstDash val="solid"/>
          </a:ln>
        </p:spPr>
      </p:sp>
      <p:sp>
        <p:nvSpPr>
          <p:cNvPr id="13" name="Text 11"/>
          <p:cNvSpPr/>
          <p:nvPr/>
        </p:nvSpPr>
        <p:spPr>
          <a:xfrm>
            <a:off x="4507446" y="1488356"/>
            <a:ext cx="129034" cy="161330"/>
          </a:xfrm>
          <a:prstGeom prst="rect">
            <a:avLst/>
          </a:prstGeom>
          <a:noFill/>
          <a:ln/>
        </p:spPr>
        <p:txBody>
          <a:bodyPr wrap="none" lIns="0" tIns="0" rIns="0" bIns="0" rtlCol="0" anchor="ctr"/>
          <a:lstStyle/>
          <a:p>
            <a:pPr algn="ctr" indent="0" marL="0">
              <a:lnSpc>
                <a:spcPct val="100000"/>
              </a:lnSpc>
              <a:buNone/>
            </a:pPr>
            <a:r>
              <a:rPr lang="en-US" sz="1000" b="1" dirty="0">
                <a:solidFill>
                  <a:srgbClr val="E0E4E6"/>
                </a:solidFill>
                <a:latin typeface="Spline Sans Bold" pitchFamily="34" charset="0"/>
                <a:ea typeface="Spline Sans Bold" pitchFamily="34" charset="-122"/>
                <a:cs typeface="Spline Sans Bold" pitchFamily="34" charset="-120"/>
              </a:rPr>
              <a:t>2</a:t>
            </a:r>
            <a:endParaRPr lang="en-US" sz="1000" dirty="0"/>
          </a:p>
        </p:txBody>
      </p:sp>
      <p:sp>
        <p:nvSpPr>
          <p:cNvPr id="14" name="Text 12"/>
          <p:cNvSpPr/>
          <p:nvPr/>
        </p:nvSpPr>
        <p:spPr>
          <a:xfrm>
            <a:off x="5055989" y="1493416"/>
            <a:ext cx="3537347" cy="134466"/>
          </a:xfrm>
          <a:prstGeom prst="rect">
            <a:avLst/>
          </a:prstGeom>
          <a:noFill/>
          <a:ln/>
        </p:spPr>
        <p:txBody>
          <a:bodyPr wrap="none" lIns="0" tIns="0" rIns="0" bIns="0" rtlCol="0" anchor="t"/>
          <a:lstStyle/>
          <a:p>
            <a:pPr algn="l" indent="0" marL="0">
              <a:lnSpc>
                <a:spcPct val="104000"/>
              </a:lnSpc>
              <a:buNone/>
            </a:pPr>
            <a:r>
              <a:rPr lang="en-US" sz="800" b="1" dirty="0">
                <a:solidFill>
                  <a:srgbClr val="E0E4E6"/>
                </a:solidFill>
                <a:latin typeface="Spline Sans Bold" pitchFamily="34" charset="0"/>
                <a:ea typeface="Spline Sans Bold" pitchFamily="34" charset="-122"/>
                <a:cs typeface="Spline Sans Bold" pitchFamily="34" charset="-120"/>
              </a:rPr>
              <a:t>1956</a:t>
            </a:r>
            <a:endParaRPr lang="en-US" sz="800" dirty="0"/>
          </a:p>
        </p:txBody>
      </p:sp>
      <p:sp>
        <p:nvSpPr>
          <p:cNvPr id="15" name="Text 13"/>
          <p:cNvSpPr/>
          <p:nvPr/>
        </p:nvSpPr>
        <p:spPr>
          <a:xfrm>
            <a:off x="5055989" y="1668661"/>
            <a:ext cx="3537347" cy="131862"/>
          </a:xfrm>
          <a:prstGeom prst="rect">
            <a:avLst/>
          </a:prstGeom>
          <a:noFill/>
          <a:ln/>
        </p:spPr>
        <p:txBody>
          <a:bodyPr wrap="none" lIns="0" tIns="0" rIns="0" bIns="0" rtlCol="0" anchor="t"/>
          <a:lstStyle/>
          <a:p>
            <a:pPr algn="l" indent="0" marL="0">
              <a:lnSpc>
                <a:spcPct val="114000"/>
              </a:lnSpc>
              <a:buNone/>
            </a:pPr>
            <a:r>
              <a:rPr lang="en-US" sz="750" dirty="0">
                <a:solidFill>
                  <a:srgbClr val="E0E4E6"/>
                </a:solidFill>
                <a:latin typeface="Barlow" pitchFamily="34" charset="0"/>
                <a:ea typeface="Barlow" pitchFamily="34" charset="-122"/>
                <a:cs typeface="Barlow" pitchFamily="34" charset="-120"/>
              </a:rPr>
              <a:t>John McCarthy coins the term 'Artificial Intelligence' at Dartmouth.</a:t>
            </a:r>
            <a:endParaRPr lang="en-US" sz="750" dirty="0"/>
          </a:p>
        </p:txBody>
      </p:sp>
      <p:sp>
        <p:nvSpPr>
          <p:cNvPr id="16" name="Shape 14"/>
          <p:cNvSpPr/>
          <p:nvPr/>
        </p:nvSpPr>
        <p:spPr>
          <a:xfrm>
            <a:off x="4187019" y="2033736"/>
            <a:ext cx="290364" cy="14288"/>
          </a:xfrm>
          <a:prstGeom prst="roundRect">
            <a:avLst>
              <a:gd name="adj" fmla="val 1016336"/>
            </a:avLst>
          </a:prstGeom>
          <a:solidFill>
            <a:srgbClr val="37A7E7"/>
          </a:solidFill>
          <a:ln/>
        </p:spPr>
      </p:sp>
      <p:sp>
        <p:nvSpPr>
          <p:cNvPr id="17" name="Shape 15"/>
          <p:cNvSpPr/>
          <p:nvPr/>
        </p:nvSpPr>
        <p:spPr>
          <a:xfrm>
            <a:off x="4463095" y="1932012"/>
            <a:ext cx="217810" cy="217810"/>
          </a:xfrm>
          <a:prstGeom prst="ellipse">
            <a:avLst/>
          </a:prstGeom>
          <a:solidFill>
            <a:srgbClr val="0A081B"/>
          </a:solidFill>
          <a:ln w="9525">
            <a:solidFill>
              <a:srgbClr val="37A7E7"/>
            </a:solidFill>
            <a:prstDash val="solid"/>
          </a:ln>
        </p:spPr>
      </p:sp>
      <p:sp>
        <p:nvSpPr>
          <p:cNvPr id="18" name="Text 16"/>
          <p:cNvSpPr/>
          <p:nvPr/>
        </p:nvSpPr>
        <p:spPr>
          <a:xfrm>
            <a:off x="4507446" y="1960215"/>
            <a:ext cx="129034" cy="161330"/>
          </a:xfrm>
          <a:prstGeom prst="rect">
            <a:avLst/>
          </a:prstGeom>
          <a:noFill/>
          <a:ln/>
        </p:spPr>
        <p:txBody>
          <a:bodyPr wrap="none" lIns="0" tIns="0" rIns="0" bIns="0" rtlCol="0" anchor="ctr"/>
          <a:lstStyle/>
          <a:p>
            <a:pPr algn="ctr" indent="0" marL="0">
              <a:lnSpc>
                <a:spcPct val="100000"/>
              </a:lnSpc>
              <a:buNone/>
            </a:pPr>
            <a:r>
              <a:rPr lang="en-US" sz="1000" b="1" dirty="0">
                <a:solidFill>
                  <a:srgbClr val="E0E4E6"/>
                </a:solidFill>
                <a:latin typeface="Spline Sans Bold" pitchFamily="34" charset="0"/>
                <a:ea typeface="Spline Sans Bold" pitchFamily="34" charset="-122"/>
                <a:cs typeface="Spline Sans Bold" pitchFamily="34" charset="-120"/>
              </a:rPr>
              <a:t>3</a:t>
            </a:r>
            <a:endParaRPr lang="en-US" sz="1000" dirty="0"/>
          </a:p>
        </p:txBody>
      </p:sp>
      <p:sp>
        <p:nvSpPr>
          <p:cNvPr id="19" name="Text 17"/>
          <p:cNvSpPr/>
          <p:nvPr/>
        </p:nvSpPr>
        <p:spPr>
          <a:xfrm>
            <a:off x="550664" y="1965275"/>
            <a:ext cx="3537347" cy="134466"/>
          </a:xfrm>
          <a:prstGeom prst="rect">
            <a:avLst/>
          </a:prstGeom>
          <a:noFill/>
          <a:ln/>
        </p:spPr>
        <p:txBody>
          <a:bodyPr wrap="none" lIns="0" tIns="0" rIns="0" bIns="0" rtlCol="0" anchor="t"/>
          <a:lstStyle/>
          <a:p>
            <a:pPr algn="r" indent="0" marL="0">
              <a:lnSpc>
                <a:spcPct val="104000"/>
              </a:lnSpc>
              <a:buNone/>
            </a:pPr>
            <a:r>
              <a:rPr lang="en-US" sz="800" b="1" dirty="0">
                <a:solidFill>
                  <a:srgbClr val="E0E4E6"/>
                </a:solidFill>
                <a:latin typeface="Spline Sans Bold" pitchFamily="34" charset="0"/>
                <a:ea typeface="Spline Sans Bold" pitchFamily="34" charset="-122"/>
                <a:cs typeface="Spline Sans Bold" pitchFamily="34" charset="-120"/>
              </a:rPr>
              <a:t>1980s</a:t>
            </a:r>
            <a:endParaRPr lang="en-US" sz="800" dirty="0"/>
          </a:p>
        </p:txBody>
      </p:sp>
      <p:sp>
        <p:nvSpPr>
          <p:cNvPr id="20" name="Text 18"/>
          <p:cNvSpPr/>
          <p:nvPr/>
        </p:nvSpPr>
        <p:spPr>
          <a:xfrm>
            <a:off x="550664" y="2140521"/>
            <a:ext cx="3537347" cy="131862"/>
          </a:xfrm>
          <a:prstGeom prst="rect">
            <a:avLst/>
          </a:prstGeom>
          <a:noFill/>
          <a:ln/>
        </p:spPr>
        <p:txBody>
          <a:bodyPr wrap="none" lIns="0" tIns="0" rIns="0" bIns="0" rtlCol="0" anchor="t"/>
          <a:lstStyle/>
          <a:p>
            <a:pPr algn="r" indent="0" marL="0">
              <a:lnSpc>
                <a:spcPct val="114000"/>
              </a:lnSpc>
              <a:buNone/>
            </a:pPr>
            <a:r>
              <a:rPr lang="en-US" sz="750" dirty="0">
                <a:solidFill>
                  <a:srgbClr val="E0E4E6"/>
                </a:solidFill>
                <a:latin typeface="Barlow" pitchFamily="34" charset="0"/>
                <a:ea typeface="Barlow" pitchFamily="34" charset="-122"/>
                <a:cs typeface="Barlow" pitchFamily="34" charset="-120"/>
              </a:rPr>
              <a:t>Expert systems boom — hand-coded rules, narrow domains.</a:t>
            </a:r>
            <a:endParaRPr lang="en-US" sz="750" dirty="0"/>
          </a:p>
        </p:txBody>
      </p:sp>
      <p:sp>
        <p:nvSpPr>
          <p:cNvPr id="21" name="Shape 19"/>
          <p:cNvSpPr/>
          <p:nvPr/>
        </p:nvSpPr>
        <p:spPr>
          <a:xfrm>
            <a:off x="4666617" y="2505670"/>
            <a:ext cx="290364" cy="14288"/>
          </a:xfrm>
          <a:prstGeom prst="roundRect">
            <a:avLst>
              <a:gd name="adj" fmla="val 1016336"/>
            </a:avLst>
          </a:prstGeom>
          <a:solidFill>
            <a:srgbClr val="091231"/>
          </a:solidFill>
          <a:ln/>
        </p:spPr>
      </p:sp>
      <p:sp>
        <p:nvSpPr>
          <p:cNvPr id="22" name="Shape 20"/>
          <p:cNvSpPr/>
          <p:nvPr/>
        </p:nvSpPr>
        <p:spPr>
          <a:xfrm>
            <a:off x="4463095" y="2403946"/>
            <a:ext cx="217810" cy="217810"/>
          </a:xfrm>
          <a:prstGeom prst="ellipse">
            <a:avLst/>
          </a:prstGeom>
          <a:solidFill>
            <a:srgbClr val="0A081B"/>
          </a:solidFill>
          <a:ln w="9525">
            <a:solidFill>
              <a:srgbClr val="091231"/>
            </a:solidFill>
            <a:prstDash val="solid"/>
          </a:ln>
        </p:spPr>
      </p:sp>
      <p:sp>
        <p:nvSpPr>
          <p:cNvPr id="23" name="Text 21"/>
          <p:cNvSpPr/>
          <p:nvPr/>
        </p:nvSpPr>
        <p:spPr>
          <a:xfrm>
            <a:off x="4507446" y="2432149"/>
            <a:ext cx="129034" cy="161330"/>
          </a:xfrm>
          <a:prstGeom prst="rect">
            <a:avLst/>
          </a:prstGeom>
          <a:noFill/>
          <a:ln/>
        </p:spPr>
        <p:txBody>
          <a:bodyPr wrap="none" lIns="0" tIns="0" rIns="0" bIns="0" rtlCol="0" anchor="ctr"/>
          <a:lstStyle/>
          <a:p>
            <a:pPr algn="ctr" indent="0" marL="0">
              <a:lnSpc>
                <a:spcPct val="100000"/>
              </a:lnSpc>
              <a:buNone/>
            </a:pPr>
            <a:r>
              <a:rPr lang="en-US" sz="1000" b="1" dirty="0">
                <a:solidFill>
                  <a:srgbClr val="E0E4E6"/>
                </a:solidFill>
                <a:latin typeface="Spline Sans Bold" pitchFamily="34" charset="0"/>
                <a:ea typeface="Spline Sans Bold" pitchFamily="34" charset="-122"/>
                <a:cs typeface="Spline Sans Bold" pitchFamily="34" charset="-120"/>
              </a:rPr>
              <a:t>4</a:t>
            </a:r>
            <a:endParaRPr lang="en-US" sz="1000" dirty="0"/>
          </a:p>
        </p:txBody>
      </p:sp>
      <p:sp>
        <p:nvSpPr>
          <p:cNvPr id="24" name="Text 22"/>
          <p:cNvSpPr/>
          <p:nvPr/>
        </p:nvSpPr>
        <p:spPr>
          <a:xfrm>
            <a:off x="5055989" y="2437209"/>
            <a:ext cx="3537347" cy="134466"/>
          </a:xfrm>
          <a:prstGeom prst="rect">
            <a:avLst/>
          </a:prstGeom>
          <a:noFill/>
          <a:ln/>
        </p:spPr>
        <p:txBody>
          <a:bodyPr wrap="none" lIns="0" tIns="0" rIns="0" bIns="0" rtlCol="0" anchor="t"/>
          <a:lstStyle/>
          <a:p>
            <a:pPr algn="l" indent="0" marL="0">
              <a:lnSpc>
                <a:spcPct val="104000"/>
              </a:lnSpc>
              <a:buNone/>
            </a:pPr>
            <a:r>
              <a:rPr lang="en-US" sz="800" b="1" dirty="0">
                <a:solidFill>
                  <a:srgbClr val="E0E4E6"/>
                </a:solidFill>
                <a:latin typeface="Spline Sans Bold" pitchFamily="34" charset="0"/>
                <a:ea typeface="Spline Sans Bold" pitchFamily="34" charset="-122"/>
                <a:cs typeface="Spline Sans Bold" pitchFamily="34" charset="-120"/>
              </a:rPr>
              <a:t>1997</a:t>
            </a:r>
            <a:endParaRPr lang="en-US" sz="800" dirty="0"/>
          </a:p>
        </p:txBody>
      </p:sp>
      <p:sp>
        <p:nvSpPr>
          <p:cNvPr id="25" name="Text 23"/>
          <p:cNvSpPr/>
          <p:nvPr/>
        </p:nvSpPr>
        <p:spPr>
          <a:xfrm>
            <a:off x="5055989" y="2612454"/>
            <a:ext cx="3537347" cy="131862"/>
          </a:xfrm>
          <a:prstGeom prst="rect">
            <a:avLst/>
          </a:prstGeom>
          <a:noFill/>
          <a:ln/>
        </p:spPr>
        <p:txBody>
          <a:bodyPr wrap="none" lIns="0" tIns="0" rIns="0" bIns="0" rtlCol="0" anchor="t"/>
          <a:lstStyle/>
          <a:p>
            <a:pPr algn="l" indent="0" marL="0">
              <a:lnSpc>
                <a:spcPct val="114000"/>
              </a:lnSpc>
              <a:buNone/>
            </a:pPr>
            <a:r>
              <a:rPr lang="en-US" sz="750" dirty="0">
                <a:solidFill>
                  <a:srgbClr val="E0E4E6"/>
                </a:solidFill>
                <a:latin typeface="Barlow" pitchFamily="34" charset="0"/>
                <a:ea typeface="Barlow" pitchFamily="34" charset="-122"/>
                <a:cs typeface="Barlow" pitchFamily="34" charset="-120"/>
              </a:rPr>
              <a:t>IBM Deep Blue defeats world chess champion Garry Kasparov.</a:t>
            </a:r>
            <a:endParaRPr lang="en-US" sz="750" dirty="0"/>
          </a:p>
        </p:txBody>
      </p:sp>
      <p:sp>
        <p:nvSpPr>
          <p:cNvPr id="26" name="Shape 24"/>
          <p:cNvSpPr/>
          <p:nvPr/>
        </p:nvSpPr>
        <p:spPr>
          <a:xfrm>
            <a:off x="4187019" y="2977604"/>
            <a:ext cx="290364" cy="14288"/>
          </a:xfrm>
          <a:prstGeom prst="roundRect">
            <a:avLst>
              <a:gd name="adj" fmla="val 1016336"/>
            </a:avLst>
          </a:prstGeom>
          <a:solidFill>
            <a:srgbClr val="16FFBB"/>
          </a:solidFill>
          <a:ln/>
        </p:spPr>
      </p:sp>
      <p:sp>
        <p:nvSpPr>
          <p:cNvPr id="27" name="Shape 25"/>
          <p:cNvSpPr/>
          <p:nvPr/>
        </p:nvSpPr>
        <p:spPr>
          <a:xfrm>
            <a:off x="4463095" y="2875880"/>
            <a:ext cx="217810" cy="217810"/>
          </a:xfrm>
          <a:prstGeom prst="ellipse">
            <a:avLst/>
          </a:prstGeom>
          <a:solidFill>
            <a:srgbClr val="0A081B"/>
          </a:solidFill>
          <a:ln w="9525">
            <a:solidFill>
              <a:srgbClr val="16FFBB"/>
            </a:solidFill>
            <a:prstDash val="solid"/>
          </a:ln>
        </p:spPr>
      </p:sp>
      <p:sp>
        <p:nvSpPr>
          <p:cNvPr id="28" name="Text 26"/>
          <p:cNvSpPr/>
          <p:nvPr/>
        </p:nvSpPr>
        <p:spPr>
          <a:xfrm>
            <a:off x="4507446" y="2904083"/>
            <a:ext cx="129034" cy="161330"/>
          </a:xfrm>
          <a:prstGeom prst="rect">
            <a:avLst/>
          </a:prstGeom>
          <a:noFill/>
          <a:ln/>
        </p:spPr>
        <p:txBody>
          <a:bodyPr wrap="none" lIns="0" tIns="0" rIns="0" bIns="0" rtlCol="0" anchor="ctr"/>
          <a:lstStyle/>
          <a:p>
            <a:pPr algn="ctr" indent="0" marL="0">
              <a:lnSpc>
                <a:spcPct val="100000"/>
              </a:lnSpc>
              <a:buNone/>
            </a:pPr>
            <a:r>
              <a:rPr lang="en-US" sz="1000" b="1" dirty="0">
                <a:solidFill>
                  <a:srgbClr val="E0E4E6"/>
                </a:solidFill>
                <a:latin typeface="Spline Sans Bold" pitchFamily="34" charset="0"/>
                <a:ea typeface="Spline Sans Bold" pitchFamily="34" charset="-122"/>
                <a:cs typeface="Spline Sans Bold" pitchFamily="34" charset="-120"/>
              </a:rPr>
              <a:t>5</a:t>
            </a:r>
            <a:endParaRPr lang="en-US" sz="1000" dirty="0"/>
          </a:p>
        </p:txBody>
      </p:sp>
      <p:sp>
        <p:nvSpPr>
          <p:cNvPr id="29" name="Text 27"/>
          <p:cNvSpPr/>
          <p:nvPr/>
        </p:nvSpPr>
        <p:spPr>
          <a:xfrm>
            <a:off x="550664" y="2909143"/>
            <a:ext cx="3537347" cy="134466"/>
          </a:xfrm>
          <a:prstGeom prst="rect">
            <a:avLst/>
          </a:prstGeom>
          <a:noFill/>
          <a:ln/>
        </p:spPr>
        <p:txBody>
          <a:bodyPr wrap="none" lIns="0" tIns="0" rIns="0" bIns="0" rtlCol="0" anchor="t"/>
          <a:lstStyle/>
          <a:p>
            <a:pPr algn="r" indent="0" marL="0">
              <a:lnSpc>
                <a:spcPct val="104000"/>
              </a:lnSpc>
              <a:buNone/>
            </a:pPr>
            <a:r>
              <a:rPr lang="en-US" sz="800" b="1" dirty="0">
                <a:solidFill>
                  <a:srgbClr val="E0E4E6"/>
                </a:solidFill>
                <a:latin typeface="Spline Sans Bold" pitchFamily="34" charset="0"/>
                <a:ea typeface="Spline Sans Bold" pitchFamily="34" charset="-122"/>
                <a:cs typeface="Spline Sans Bold" pitchFamily="34" charset="-120"/>
              </a:rPr>
              <a:t>2012</a:t>
            </a:r>
            <a:endParaRPr lang="en-US" sz="800" dirty="0"/>
          </a:p>
        </p:txBody>
      </p:sp>
      <p:sp>
        <p:nvSpPr>
          <p:cNvPr id="30" name="Text 28"/>
          <p:cNvSpPr/>
          <p:nvPr/>
        </p:nvSpPr>
        <p:spPr>
          <a:xfrm>
            <a:off x="550664" y="3084388"/>
            <a:ext cx="3537347" cy="131862"/>
          </a:xfrm>
          <a:prstGeom prst="rect">
            <a:avLst/>
          </a:prstGeom>
          <a:noFill/>
          <a:ln/>
        </p:spPr>
        <p:txBody>
          <a:bodyPr wrap="none" lIns="0" tIns="0" rIns="0" bIns="0" rtlCol="0" anchor="t"/>
          <a:lstStyle/>
          <a:p>
            <a:pPr algn="r" indent="0" marL="0">
              <a:lnSpc>
                <a:spcPct val="114000"/>
              </a:lnSpc>
              <a:buNone/>
            </a:pPr>
            <a:r>
              <a:rPr lang="en-US" sz="750" dirty="0">
                <a:solidFill>
                  <a:srgbClr val="E0E4E6"/>
                </a:solidFill>
                <a:latin typeface="Barlow" pitchFamily="34" charset="0"/>
                <a:ea typeface="Barlow" pitchFamily="34" charset="-122"/>
                <a:cs typeface="Barlow" pitchFamily="34" charset="-120"/>
              </a:rPr>
              <a:t>Deep learning breakthrough: AlexNet crushes image recognition benchmarks.</a:t>
            </a:r>
            <a:endParaRPr lang="en-US" sz="750" dirty="0"/>
          </a:p>
        </p:txBody>
      </p:sp>
      <p:sp>
        <p:nvSpPr>
          <p:cNvPr id="31" name="Shape 29"/>
          <p:cNvSpPr/>
          <p:nvPr/>
        </p:nvSpPr>
        <p:spPr>
          <a:xfrm>
            <a:off x="4666617" y="3449538"/>
            <a:ext cx="290364" cy="14288"/>
          </a:xfrm>
          <a:prstGeom prst="roundRect">
            <a:avLst>
              <a:gd name="adj" fmla="val 1016336"/>
            </a:avLst>
          </a:prstGeom>
          <a:solidFill>
            <a:srgbClr val="29DDDA"/>
          </a:solidFill>
          <a:ln/>
        </p:spPr>
      </p:sp>
      <p:sp>
        <p:nvSpPr>
          <p:cNvPr id="32" name="Shape 30"/>
          <p:cNvSpPr/>
          <p:nvPr/>
        </p:nvSpPr>
        <p:spPr>
          <a:xfrm>
            <a:off x="4463095" y="3347814"/>
            <a:ext cx="217810" cy="217810"/>
          </a:xfrm>
          <a:prstGeom prst="ellipse">
            <a:avLst/>
          </a:prstGeom>
          <a:solidFill>
            <a:srgbClr val="0A081B"/>
          </a:solidFill>
          <a:ln w="9525">
            <a:solidFill>
              <a:srgbClr val="29DDDA"/>
            </a:solidFill>
            <a:prstDash val="solid"/>
          </a:ln>
        </p:spPr>
      </p:sp>
      <p:sp>
        <p:nvSpPr>
          <p:cNvPr id="33" name="Text 31"/>
          <p:cNvSpPr/>
          <p:nvPr/>
        </p:nvSpPr>
        <p:spPr>
          <a:xfrm>
            <a:off x="4507446" y="3376017"/>
            <a:ext cx="129034" cy="161330"/>
          </a:xfrm>
          <a:prstGeom prst="rect">
            <a:avLst/>
          </a:prstGeom>
          <a:noFill/>
          <a:ln/>
        </p:spPr>
        <p:txBody>
          <a:bodyPr wrap="none" lIns="0" tIns="0" rIns="0" bIns="0" rtlCol="0" anchor="ctr"/>
          <a:lstStyle/>
          <a:p>
            <a:pPr algn="ctr" indent="0" marL="0">
              <a:lnSpc>
                <a:spcPct val="100000"/>
              </a:lnSpc>
              <a:buNone/>
            </a:pPr>
            <a:r>
              <a:rPr lang="en-US" sz="1000" b="1" dirty="0">
                <a:solidFill>
                  <a:srgbClr val="E0E4E6"/>
                </a:solidFill>
                <a:latin typeface="Spline Sans Bold" pitchFamily="34" charset="0"/>
                <a:ea typeface="Spline Sans Bold" pitchFamily="34" charset="-122"/>
                <a:cs typeface="Spline Sans Bold" pitchFamily="34" charset="-120"/>
              </a:rPr>
              <a:t>6</a:t>
            </a:r>
            <a:endParaRPr lang="en-US" sz="1000" dirty="0"/>
          </a:p>
        </p:txBody>
      </p:sp>
      <p:sp>
        <p:nvSpPr>
          <p:cNvPr id="34" name="Text 32"/>
          <p:cNvSpPr/>
          <p:nvPr/>
        </p:nvSpPr>
        <p:spPr>
          <a:xfrm>
            <a:off x="5055989" y="3381077"/>
            <a:ext cx="3537347" cy="134466"/>
          </a:xfrm>
          <a:prstGeom prst="rect">
            <a:avLst/>
          </a:prstGeom>
          <a:noFill/>
          <a:ln/>
        </p:spPr>
        <p:txBody>
          <a:bodyPr wrap="none" lIns="0" tIns="0" rIns="0" bIns="0" rtlCol="0" anchor="t"/>
          <a:lstStyle/>
          <a:p>
            <a:pPr algn="l" indent="0" marL="0">
              <a:lnSpc>
                <a:spcPct val="104000"/>
              </a:lnSpc>
              <a:buNone/>
            </a:pPr>
            <a:r>
              <a:rPr lang="en-US" sz="800" b="1" dirty="0">
                <a:solidFill>
                  <a:srgbClr val="E0E4E6"/>
                </a:solidFill>
                <a:latin typeface="Spline Sans Bold" pitchFamily="34" charset="0"/>
                <a:ea typeface="Spline Sans Bold" pitchFamily="34" charset="-122"/>
                <a:cs typeface="Spline Sans Bold" pitchFamily="34" charset="-120"/>
              </a:rPr>
              <a:t>2017</a:t>
            </a:r>
            <a:endParaRPr lang="en-US" sz="800" dirty="0"/>
          </a:p>
        </p:txBody>
      </p:sp>
      <p:sp>
        <p:nvSpPr>
          <p:cNvPr id="35" name="Text 33"/>
          <p:cNvSpPr/>
          <p:nvPr/>
        </p:nvSpPr>
        <p:spPr>
          <a:xfrm>
            <a:off x="5055989" y="3556322"/>
            <a:ext cx="3537347" cy="131862"/>
          </a:xfrm>
          <a:prstGeom prst="rect">
            <a:avLst/>
          </a:prstGeom>
          <a:noFill/>
          <a:ln/>
        </p:spPr>
        <p:txBody>
          <a:bodyPr wrap="none" lIns="0" tIns="0" rIns="0" bIns="0" rtlCol="0" anchor="t"/>
          <a:lstStyle/>
          <a:p>
            <a:pPr algn="l" indent="0" marL="0">
              <a:lnSpc>
                <a:spcPct val="114000"/>
              </a:lnSpc>
              <a:buNone/>
            </a:pPr>
            <a:r>
              <a:rPr lang="en-US" sz="750" dirty="0">
                <a:solidFill>
                  <a:srgbClr val="E0E4E6"/>
                </a:solidFill>
                <a:latin typeface="Barlow" pitchFamily="34" charset="0"/>
                <a:ea typeface="Barlow" pitchFamily="34" charset="-122"/>
                <a:cs typeface="Barlow" pitchFamily="34" charset="-120"/>
              </a:rPr>
              <a:t>Google publishes the Transformer paper: 'Attention Is All You Need.'</a:t>
            </a:r>
            <a:endParaRPr lang="en-US" sz="750" dirty="0"/>
          </a:p>
        </p:txBody>
      </p:sp>
      <p:sp>
        <p:nvSpPr>
          <p:cNvPr id="36" name="Shape 34"/>
          <p:cNvSpPr/>
          <p:nvPr/>
        </p:nvSpPr>
        <p:spPr>
          <a:xfrm>
            <a:off x="550664" y="4232151"/>
            <a:ext cx="3987329" cy="519633"/>
          </a:xfrm>
          <a:prstGeom prst="roundRect">
            <a:avLst>
              <a:gd name="adj" fmla="val 27946"/>
            </a:avLst>
          </a:prstGeom>
          <a:solidFill>
            <a:srgbClr val="0A081B"/>
          </a:solidFill>
          <a:ln w="9525">
            <a:solidFill>
              <a:srgbClr val="16FFBB"/>
            </a:solidFill>
            <a:prstDash val="solid"/>
          </a:ln>
        </p:spPr>
      </p:sp>
      <p:sp>
        <p:nvSpPr>
          <p:cNvPr id="37" name="Text 35"/>
          <p:cNvSpPr/>
          <p:nvPr/>
        </p:nvSpPr>
        <p:spPr>
          <a:xfrm>
            <a:off x="656927" y="4338414"/>
            <a:ext cx="3774802" cy="134466"/>
          </a:xfrm>
          <a:prstGeom prst="rect">
            <a:avLst/>
          </a:prstGeom>
          <a:noFill/>
          <a:ln/>
        </p:spPr>
        <p:txBody>
          <a:bodyPr wrap="none" lIns="0" tIns="0" rIns="0" bIns="0" rtlCol="0" anchor="t"/>
          <a:lstStyle/>
          <a:p>
            <a:pPr algn="l" indent="0" marL="0">
              <a:lnSpc>
                <a:spcPct val="104000"/>
              </a:lnSpc>
              <a:buNone/>
            </a:pPr>
            <a:r>
              <a:rPr lang="en-US" sz="800" b="1" dirty="0">
                <a:solidFill>
                  <a:srgbClr val="E0E4E6"/>
                </a:solidFill>
                <a:latin typeface="Spline Sans Bold" pitchFamily="34" charset="0"/>
                <a:ea typeface="Spline Sans Bold" pitchFamily="34" charset="-122"/>
                <a:cs typeface="Spline Sans Bold" pitchFamily="34" charset="-120"/>
              </a:rPr>
              <a:t>2022</a:t>
            </a:r>
            <a:endParaRPr lang="en-US" sz="800" dirty="0"/>
          </a:p>
        </p:txBody>
      </p:sp>
      <p:sp>
        <p:nvSpPr>
          <p:cNvPr id="38" name="Text 36"/>
          <p:cNvSpPr/>
          <p:nvPr/>
        </p:nvSpPr>
        <p:spPr>
          <a:xfrm>
            <a:off x="656927" y="4513659"/>
            <a:ext cx="3774802" cy="131862"/>
          </a:xfrm>
          <a:prstGeom prst="rect">
            <a:avLst/>
          </a:prstGeom>
          <a:noFill/>
          <a:ln/>
        </p:spPr>
        <p:txBody>
          <a:bodyPr wrap="none" lIns="0" tIns="0" rIns="0" bIns="0" rtlCol="0" anchor="t"/>
          <a:lstStyle/>
          <a:p>
            <a:pPr algn="l" indent="0" marL="0">
              <a:lnSpc>
                <a:spcPct val="114000"/>
              </a:lnSpc>
              <a:buNone/>
            </a:pPr>
            <a:r>
              <a:rPr lang="en-US" sz="750" dirty="0">
                <a:solidFill>
                  <a:srgbClr val="E0E4E6"/>
                </a:solidFill>
                <a:latin typeface="Barlow" pitchFamily="34" charset="0"/>
                <a:ea typeface="Barlow" pitchFamily="34" charset="-122"/>
                <a:cs typeface="Barlow" pitchFamily="34" charset="-120"/>
              </a:rPr>
              <a:t>ChatGPT (GPT-3.5) reaches 100 million users in just 2 months.</a:t>
            </a:r>
            <a:endParaRPr lang="en-US" sz="750" dirty="0"/>
          </a:p>
        </p:txBody>
      </p:sp>
      <p:sp>
        <p:nvSpPr>
          <p:cNvPr id="39" name="Shape 37"/>
          <p:cNvSpPr/>
          <p:nvPr/>
        </p:nvSpPr>
        <p:spPr>
          <a:xfrm>
            <a:off x="4606007" y="4232151"/>
            <a:ext cx="3987329" cy="519633"/>
          </a:xfrm>
          <a:prstGeom prst="roundRect">
            <a:avLst>
              <a:gd name="adj" fmla="val 27946"/>
            </a:avLst>
          </a:prstGeom>
          <a:solidFill>
            <a:srgbClr val="0A081B"/>
          </a:solidFill>
          <a:ln w="9525">
            <a:solidFill>
              <a:srgbClr val="29DDDA"/>
            </a:solidFill>
            <a:prstDash val="solid"/>
          </a:ln>
        </p:spPr>
      </p:sp>
      <p:sp>
        <p:nvSpPr>
          <p:cNvPr id="40" name="Text 38"/>
          <p:cNvSpPr/>
          <p:nvPr/>
        </p:nvSpPr>
        <p:spPr>
          <a:xfrm>
            <a:off x="4712271" y="4338414"/>
            <a:ext cx="3774802" cy="134466"/>
          </a:xfrm>
          <a:prstGeom prst="rect">
            <a:avLst/>
          </a:prstGeom>
          <a:noFill/>
          <a:ln/>
        </p:spPr>
        <p:txBody>
          <a:bodyPr wrap="none" lIns="0" tIns="0" rIns="0" bIns="0" rtlCol="0" anchor="t"/>
          <a:lstStyle/>
          <a:p>
            <a:pPr algn="l" indent="0" marL="0">
              <a:lnSpc>
                <a:spcPct val="104000"/>
              </a:lnSpc>
              <a:buNone/>
            </a:pPr>
            <a:r>
              <a:rPr lang="en-US" sz="800" b="1" dirty="0">
                <a:solidFill>
                  <a:srgbClr val="E0E4E6"/>
                </a:solidFill>
                <a:latin typeface="Spline Sans Bold" pitchFamily="34" charset="0"/>
                <a:ea typeface="Spline Sans Bold" pitchFamily="34" charset="-122"/>
                <a:cs typeface="Spline Sans Bold" pitchFamily="34" charset="-120"/>
              </a:rPr>
              <a:t>2024+</a:t>
            </a:r>
            <a:endParaRPr lang="en-US" sz="800" dirty="0"/>
          </a:p>
        </p:txBody>
      </p:sp>
      <p:sp>
        <p:nvSpPr>
          <p:cNvPr id="41" name="Text 39"/>
          <p:cNvSpPr/>
          <p:nvPr/>
        </p:nvSpPr>
        <p:spPr>
          <a:xfrm>
            <a:off x="4712271" y="4513659"/>
            <a:ext cx="3774802" cy="131862"/>
          </a:xfrm>
          <a:prstGeom prst="rect">
            <a:avLst/>
          </a:prstGeom>
          <a:noFill/>
          <a:ln/>
        </p:spPr>
        <p:txBody>
          <a:bodyPr wrap="none" lIns="0" tIns="0" rIns="0" bIns="0" rtlCol="0" anchor="t"/>
          <a:lstStyle/>
          <a:p>
            <a:pPr algn="l" indent="0" marL="0">
              <a:lnSpc>
                <a:spcPct val="114000"/>
              </a:lnSpc>
              <a:buNone/>
            </a:pPr>
            <a:r>
              <a:rPr lang="en-US" sz="750" dirty="0">
                <a:solidFill>
                  <a:srgbClr val="E0E4E6"/>
                </a:solidFill>
                <a:latin typeface="Barlow" pitchFamily="34" charset="0"/>
                <a:ea typeface="Barlow" pitchFamily="34" charset="-122"/>
                <a:cs typeface="Barlow" pitchFamily="34" charset="-120"/>
              </a:rPr>
              <a:t>Multimodal models: AI reads text, images, audio, and code together.</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50664" y="389409"/>
            <a:ext cx="753294" cy="117649"/>
          </a:xfrm>
          <a:prstGeom prst="roundRect">
            <a:avLst>
              <a:gd name="adj" fmla="val 78995"/>
            </a:avLst>
          </a:prstGeom>
          <a:solidFill>
            <a:srgbClr val="004D36"/>
          </a:solidFill>
          <a:ln/>
        </p:spPr>
      </p:sp>
      <p:sp>
        <p:nvSpPr>
          <p:cNvPr id="3" name="Text 1"/>
          <p:cNvSpPr/>
          <p:nvPr/>
        </p:nvSpPr>
        <p:spPr>
          <a:xfrm>
            <a:off x="597098" y="412626"/>
            <a:ext cx="1117625" cy="71214"/>
          </a:xfrm>
          <a:prstGeom prst="rect">
            <a:avLst/>
          </a:prstGeom>
          <a:noFill/>
          <a:ln/>
        </p:spPr>
        <p:txBody>
          <a:bodyPr wrap="none" lIns="0" tIns="0" rIns="0" bIns="0" rtlCol="0" anchor="t"/>
          <a:lstStyle/>
          <a:p>
            <a:pPr algn="l" indent="0" marL="0">
              <a:lnSpc>
                <a:spcPct val="96000"/>
              </a:lnSpc>
              <a:buNone/>
            </a:pPr>
            <a:r>
              <a:rPr lang="en-US" sz="450" dirty="0">
                <a:solidFill>
                  <a:srgbClr val="E0E4E6"/>
                </a:solidFill>
                <a:latin typeface="Barlow" pitchFamily="34" charset="0"/>
                <a:ea typeface="Barlow" pitchFamily="34" charset="-122"/>
                <a:cs typeface="Barlow" pitchFamily="34" charset="-120"/>
              </a:rPr>
              <a:t>MODULE 1 — SECTION 1.3</a:t>
            </a:r>
            <a:endParaRPr lang="en-US" sz="450" dirty="0"/>
          </a:p>
        </p:txBody>
      </p:sp>
      <p:sp>
        <p:nvSpPr>
          <p:cNvPr id="4" name="Text 2"/>
          <p:cNvSpPr/>
          <p:nvPr/>
        </p:nvSpPr>
        <p:spPr>
          <a:xfrm>
            <a:off x="550664" y="524470"/>
            <a:ext cx="8042672" cy="215131"/>
          </a:xfrm>
          <a:prstGeom prst="rect">
            <a:avLst/>
          </a:prstGeom>
          <a:noFill/>
          <a:ln/>
        </p:spPr>
        <p:txBody>
          <a:bodyPr wrap="none" lIns="0" tIns="0" rIns="0" bIns="0" rtlCol="0" anchor="t"/>
          <a:lstStyle/>
          <a:p>
            <a:pPr algn="l" indent="0" marL="0">
              <a:lnSpc>
                <a:spcPct val="104000"/>
              </a:lnSpc>
              <a:buNone/>
            </a:pPr>
            <a:r>
              <a:rPr lang="en-US" sz="1350" b="1" dirty="0">
                <a:solidFill>
                  <a:srgbClr val="F0FCFF"/>
                </a:solidFill>
                <a:latin typeface="Spline Sans Bold" pitchFamily="34" charset="0"/>
                <a:ea typeface="Spline Sans Bold" pitchFamily="34" charset="-122"/>
                <a:cs typeface="Spline Sans Bold" pitchFamily="34" charset="-120"/>
              </a:rPr>
              <a:t>The Three Tiers of AI</a:t>
            </a:r>
            <a:endParaRPr lang="en-US" sz="1350" dirty="0"/>
          </a:p>
        </p:txBody>
      </p:sp>
      <p:sp>
        <p:nvSpPr>
          <p:cNvPr id="5" name="Text 3"/>
          <p:cNvSpPr/>
          <p:nvPr/>
        </p:nvSpPr>
        <p:spPr>
          <a:xfrm>
            <a:off x="550664" y="804937"/>
            <a:ext cx="8499872" cy="96813"/>
          </a:xfrm>
          <a:prstGeom prst="rect">
            <a:avLst/>
          </a:prstGeom>
          <a:noFill/>
          <a:ln/>
        </p:spPr>
        <p:txBody>
          <a:bodyPr wrap="none" lIns="0" tIns="0" rIns="0" bIns="0" rtlCol="0" anchor="t"/>
          <a:lstStyle/>
          <a:p>
            <a:pPr algn="l" indent="0" marL="0">
              <a:lnSpc>
                <a:spcPct val="104000"/>
              </a:lnSpc>
              <a:buNone/>
            </a:pPr>
            <a:r>
              <a:rPr lang="en-US" sz="600" dirty="0">
                <a:solidFill>
                  <a:srgbClr val="E0E4E6"/>
                </a:solidFill>
                <a:latin typeface="Barlow" pitchFamily="34" charset="0"/>
                <a:ea typeface="Barlow" pitchFamily="34" charset="-122"/>
                <a:cs typeface="Barlow" pitchFamily="34" charset="-120"/>
              </a:rPr>
              <a:t>People often blur three related terms. Here is the precise distinction between them:</a:t>
            </a:r>
            <a:endParaRPr lang="en-US" sz="600" dirty="0"/>
          </a:p>
        </p:txBody>
      </p:sp>
      <p:pic>
        <p:nvPicPr>
          <p:cNvPr id="6" name="Image 0" descr="preencoded.png">    </p:cNvPr>
          <p:cNvPicPr>
            <a:picLocks noChangeAspect="1"/>
          </p:cNvPicPr>
          <p:nvPr/>
        </p:nvPicPr>
        <p:blipFill>
          <a:blip r:embed="rId1"/>
          <a:stretch>
            <a:fillRect/>
          </a:stretch>
        </p:blipFill>
        <p:spPr>
          <a:xfrm>
            <a:off x="550664" y="950714"/>
            <a:ext cx="6553200" cy="3657600"/>
          </a:xfrm>
          <a:prstGeom prst="rect">
            <a:avLst/>
          </a:prstGeom>
        </p:spPr>
      </p:pic>
      <p:sp>
        <p:nvSpPr>
          <p:cNvPr id="7" name="Text 4"/>
          <p:cNvSpPr/>
          <p:nvPr/>
        </p:nvSpPr>
        <p:spPr>
          <a:xfrm>
            <a:off x="550664" y="4657279"/>
            <a:ext cx="8499872" cy="96813"/>
          </a:xfrm>
          <a:prstGeom prst="rect">
            <a:avLst/>
          </a:prstGeom>
          <a:noFill/>
          <a:ln/>
        </p:spPr>
        <p:txBody>
          <a:bodyPr wrap="none" lIns="0" tIns="0" rIns="0" bIns="0" rtlCol="0" anchor="t"/>
          <a:lstStyle/>
          <a:p>
            <a:pPr algn="l" indent="0" marL="0">
              <a:lnSpc>
                <a:spcPct val="104000"/>
              </a:lnSpc>
              <a:buNone/>
            </a:pPr>
            <a:r>
              <a:rPr lang="en-US" sz="600" dirty="0">
                <a:solidFill>
                  <a:srgbClr val="E0E4E6"/>
                </a:solidFill>
                <a:latin typeface="Barlow" pitchFamily="34" charset="0"/>
                <a:ea typeface="Barlow" pitchFamily="34" charset="-122"/>
                <a:cs typeface="Barlow" pitchFamily="34" charset="-120"/>
              </a:rPr>
              <a:t>Each tier is a subset of the one above it. Deep Learning is the most specialised — it requires large datasets and significant compute, but delivers the most powerful results for complex tasks like language and image generation.</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50664" y="984870"/>
            <a:ext cx="1343174" cy="209252"/>
          </a:xfrm>
          <a:prstGeom prst="roundRect">
            <a:avLst>
              <a:gd name="adj" fmla="val 78958"/>
            </a:avLst>
          </a:prstGeom>
          <a:solidFill>
            <a:srgbClr val="004D36"/>
          </a:solidFill>
          <a:ln/>
        </p:spPr>
      </p:sp>
      <p:sp>
        <p:nvSpPr>
          <p:cNvPr id="3" name="Text 1"/>
          <p:cNvSpPr/>
          <p:nvPr/>
        </p:nvSpPr>
        <p:spPr>
          <a:xfrm>
            <a:off x="633264" y="1026170"/>
            <a:ext cx="1635175" cy="126653"/>
          </a:xfrm>
          <a:prstGeom prst="rect">
            <a:avLst/>
          </a:prstGeom>
          <a:noFill/>
          <a:ln/>
        </p:spPr>
        <p:txBody>
          <a:bodyPr wrap="none" lIns="0" tIns="0" rIns="0" bIns="0" rtlCol="0" anchor="t"/>
          <a:lstStyle/>
          <a:p>
            <a:pPr algn="l" indent="0" marL="0">
              <a:lnSpc>
                <a:spcPct val="96000"/>
              </a:lnSpc>
              <a:buNone/>
            </a:pPr>
            <a:r>
              <a:rPr lang="en-US" sz="850" dirty="0">
                <a:solidFill>
                  <a:srgbClr val="E0E4E6"/>
                </a:solidFill>
                <a:latin typeface="Barlow" pitchFamily="34" charset="0"/>
                <a:ea typeface="Barlow" pitchFamily="34" charset="-122"/>
                <a:cs typeface="Barlow" pitchFamily="34" charset="-120"/>
              </a:rPr>
              <a:t>MODULE 1 — SECTION 1.4</a:t>
            </a:r>
            <a:endParaRPr lang="en-US" sz="850" dirty="0"/>
          </a:p>
        </p:txBody>
      </p:sp>
      <p:sp>
        <p:nvSpPr>
          <p:cNvPr id="4" name="Text 2"/>
          <p:cNvSpPr/>
          <p:nvPr/>
        </p:nvSpPr>
        <p:spPr>
          <a:xfrm>
            <a:off x="550664" y="1249189"/>
            <a:ext cx="8042672" cy="382488"/>
          </a:xfrm>
          <a:prstGeom prst="rect">
            <a:avLst/>
          </a:prstGeom>
          <a:noFill/>
          <a:ln/>
        </p:spPr>
        <p:txBody>
          <a:bodyPr wrap="none" lIns="0" tIns="0" rIns="0" bIns="0" rtlCol="0" anchor="t"/>
          <a:lstStyle/>
          <a:p>
            <a:pPr algn="l" indent="0" marL="0">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Narrow AI vs. General AI vs. Super AI</a:t>
            </a:r>
            <a:endParaRPr lang="en-US" sz="24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0664" y="1838176"/>
            <a:ext cx="2589088" cy="2320379"/>
          </a:xfrm>
          <a:prstGeom prst="rect">
            <a:avLst/>
          </a:prstGeom>
        </p:spPr>
      </p:pic>
      <p:sp>
        <p:nvSpPr>
          <p:cNvPr id="6" name="Text 3"/>
          <p:cNvSpPr/>
          <p:nvPr/>
        </p:nvSpPr>
        <p:spPr>
          <a:xfrm>
            <a:off x="783580" y="1994892"/>
            <a:ext cx="2199456" cy="382488"/>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Narrow AI (ANI) — Exists Today</a:t>
            </a:r>
            <a:endParaRPr lang="en-US" sz="1200" dirty="0"/>
          </a:p>
        </p:txBody>
      </p:sp>
      <p:sp>
        <p:nvSpPr>
          <p:cNvPr id="7" name="Text 4"/>
          <p:cNvSpPr/>
          <p:nvPr/>
        </p:nvSpPr>
        <p:spPr>
          <a:xfrm>
            <a:off x="783580" y="2459980"/>
            <a:ext cx="2199456" cy="1541859"/>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The only kind of AI that currently exists. It is very good at one specific task — translation, image recognition, game-playing — but is completely helpless outside its training domain. Every AI product you use today is Narrow AI.</a:t>
            </a:r>
            <a:endParaRPr lang="en-US" sz="10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7419" y="1838176"/>
            <a:ext cx="2589088" cy="2320379"/>
          </a:xfrm>
          <a:prstGeom prst="rect">
            <a:avLst/>
          </a:prstGeom>
        </p:spPr>
      </p:pic>
      <p:sp>
        <p:nvSpPr>
          <p:cNvPr id="9" name="Text 5"/>
          <p:cNvSpPr/>
          <p:nvPr/>
        </p:nvSpPr>
        <p:spPr>
          <a:xfrm>
            <a:off x="3510335" y="1994892"/>
            <a:ext cx="2199456" cy="382488"/>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Artificial General Intelligence (AGI) — Hypothetical</a:t>
            </a:r>
            <a:endParaRPr lang="en-US" sz="1200" dirty="0"/>
          </a:p>
        </p:txBody>
      </p:sp>
      <p:sp>
        <p:nvSpPr>
          <p:cNvPr id="10" name="Text 6"/>
          <p:cNvSpPr/>
          <p:nvPr/>
        </p:nvSpPr>
        <p:spPr>
          <a:xfrm>
            <a:off x="3510335" y="2459980"/>
            <a:ext cx="2199456" cy="1541859"/>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A system that can reason and learn across any domain as flexibly as a human. Does not exist yet. The timeline for AGI is actively and hotly debated among researchers, with estimates ranging from decades to never.</a:t>
            </a:r>
            <a:endParaRPr lang="en-US" sz="10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04173" y="1838176"/>
            <a:ext cx="2589088" cy="2320379"/>
          </a:xfrm>
          <a:prstGeom prst="rect">
            <a:avLst/>
          </a:prstGeom>
        </p:spPr>
      </p:pic>
      <p:sp>
        <p:nvSpPr>
          <p:cNvPr id="12" name="Text 7"/>
          <p:cNvSpPr/>
          <p:nvPr/>
        </p:nvSpPr>
        <p:spPr>
          <a:xfrm>
            <a:off x="6237089" y="1994892"/>
            <a:ext cx="2199456" cy="382488"/>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Artificial Super Intelligence (ASI) — Speculative</a:t>
            </a:r>
            <a:endParaRPr lang="en-US" sz="1200" dirty="0"/>
          </a:p>
        </p:txBody>
      </p:sp>
      <p:sp>
        <p:nvSpPr>
          <p:cNvPr id="13" name="Text 8"/>
          <p:cNvSpPr/>
          <p:nvPr/>
        </p:nvSpPr>
        <p:spPr>
          <a:xfrm>
            <a:off x="6237089" y="2459980"/>
            <a:ext cx="2199456" cy="1101328"/>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A hypothetical system smarter than any human in every domain. Remains entirely speculative and is primarily a topic of philosophical and long-term safety research.</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50664" y="428997"/>
            <a:ext cx="1129903" cy="176510"/>
          </a:xfrm>
          <a:prstGeom prst="roundRect">
            <a:avLst>
              <a:gd name="adj" fmla="val 78979"/>
            </a:avLst>
          </a:prstGeom>
          <a:solidFill>
            <a:srgbClr val="004D36"/>
          </a:solidFill>
          <a:ln/>
        </p:spPr>
      </p:sp>
      <p:sp>
        <p:nvSpPr>
          <p:cNvPr id="3" name="Text 1"/>
          <p:cNvSpPr/>
          <p:nvPr/>
        </p:nvSpPr>
        <p:spPr>
          <a:xfrm>
            <a:off x="620316" y="463823"/>
            <a:ext cx="1447800" cy="106859"/>
          </a:xfrm>
          <a:prstGeom prst="rect">
            <a:avLst/>
          </a:prstGeom>
          <a:noFill/>
          <a:ln/>
        </p:spPr>
        <p:txBody>
          <a:bodyPr wrap="none" lIns="0" tIns="0" rIns="0" bIns="0" rtlCol="0" anchor="t"/>
          <a:lstStyle/>
          <a:p>
            <a:pPr algn="l" indent="0" marL="0">
              <a:lnSpc>
                <a:spcPct val="96000"/>
              </a:lnSpc>
              <a:buNone/>
            </a:pPr>
            <a:r>
              <a:rPr lang="en-US" sz="700" dirty="0">
                <a:solidFill>
                  <a:srgbClr val="E0E4E6"/>
                </a:solidFill>
                <a:latin typeface="Barlow" pitchFamily="34" charset="0"/>
                <a:ea typeface="Barlow" pitchFamily="34" charset="-122"/>
                <a:cs typeface="Barlow" pitchFamily="34" charset="-120"/>
              </a:rPr>
              <a:t>MODULE 1 — SECTION 1.5</a:t>
            </a:r>
            <a:endParaRPr lang="en-US" sz="700" dirty="0"/>
          </a:p>
        </p:txBody>
      </p:sp>
      <p:sp>
        <p:nvSpPr>
          <p:cNvPr id="4" name="Text 2"/>
          <p:cNvSpPr/>
          <p:nvPr/>
        </p:nvSpPr>
        <p:spPr>
          <a:xfrm>
            <a:off x="550664" y="644649"/>
            <a:ext cx="8042672" cy="322659"/>
          </a:xfrm>
          <a:prstGeom prst="rect">
            <a:avLst/>
          </a:prstGeom>
          <a:noFill/>
          <a:ln/>
        </p:spPr>
        <p:txBody>
          <a:bodyPr wrap="none" lIns="0" tIns="0" rIns="0" bIns="0" rtlCol="0" anchor="t"/>
          <a:lstStyle/>
          <a:p>
            <a:pPr algn="l" indent="0" marL="0">
              <a:lnSpc>
                <a:spcPct val="104000"/>
              </a:lnSpc>
              <a:buNone/>
            </a:pPr>
            <a:r>
              <a:rPr lang="en-US" sz="2000" b="1" dirty="0">
                <a:solidFill>
                  <a:srgbClr val="F0FCFF"/>
                </a:solidFill>
                <a:latin typeface="Spline Sans Bold" pitchFamily="34" charset="0"/>
                <a:ea typeface="Spline Sans Bold" pitchFamily="34" charset="-122"/>
                <a:cs typeface="Spline Sans Bold" pitchFamily="34" charset="-120"/>
              </a:rPr>
              <a:t>Where AI Is Used Today</a:t>
            </a:r>
            <a:endParaRPr lang="en-US" sz="2000" dirty="0"/>
          </a:p>
        </p:txBody>
      </p:sp>
      <p:sp>
        <p:nvSpPr>
          <p:cNvPr id="5" name="Text 3"/>
          <p:cNvSpPr/>
          <p:nvPr/>
        </p:nvSpPr>
        <p:spPr>
          <a:xfrm>
            <a:off x="550664" y="1114276"/>
            <a:ext cx="8499872" cy="171301"/>
          </a:xfrm>
          <a:prstGeom prst="rect">
            <a:avLst/>
          </a:prstGeom>
          <a:noFill/>
          <a:ln/>
        </p:spPr>
        <p:txBody>
          <a:bodyPr wrap="none" lIns="0" tIns="0" rIns="0" bIns="0" rtlCol="0" anchor="t"/>
          <a:lstStyle/>
          <a:p>
            <a:pPr algn="l" indent="0" marL="0">
              <a:lnSpc>
                <a:spcPct val="123000"/>
              </a:lnSpc>
              <a:buNone/>
            </a:pPr>
            <a:r>
              <a:rPr lang="en-US" sz="900" dirty="0">
                <a:solidFill>
                  <a:srgbClr val="E0E4E6"/>
                </a:solidFill>
                <a:latin typeface="Barlow" pitchFamily="34" charset="0"/>
                <a:ea typeface="Barlow" pitchFamily="34" charset="-122"/>
                <a:cs typeface="Barlow" pitchFamily="34" charset="-120"/>
              </a:rPr>
              <a:t>You interact with AI dozens of times every day — often without realising it. Here are the most common applications in modern life:</a:t>
            </a:r>
            <a:endParaRPr lang="en-US" sz="9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0664" y="1395785"/>
            <a:ext cx="290364" cy="290364"/>
          </a:xfrm>
          <a:prstGeom prst="rect">
            <a:avLst/>
          </a:prstGeom>
        </p:spPr>
      </p:pic>
      <p:sp>
        <p:nvSpPr>
          <p:cNvPr id="7" name="Text 4"/>
          <p:cNvSpPr/>
          <p:nvPr/>
        </p:nvSpPr>
        <p:spPr>
          <a:xfrm>
            <a:off x="550664" y="1808634"/>
            <a:ext cx="3960093" cy="161330"/>
          </a:xfrm>
          <a:prstGeom prst="rect">
            <a:avLst/>
          </a:prstGeom>
          <a:noFill/>
          <a:ln/>
        </p:spPr>
        <p:txBody>
          <a:bodyPr wrap="none" lIns="0" tIns="0" rIns="0" bIns="0" rtlCol="0" anchor="t"/>
          <a:lstStyle/>
          <a:p>
            <a:pPr algn="l" indent="0" marL="0">
              <a:lnSpc>
                <a:spcPct val="104000"/>
              </a:lnSpc>
              <a:buNone/>
            </a:pPr>
            <a:r>
              <a:rPr lang="en-US" sz="1000" b="1" dirty="0">
                <a:solidFill>
                  <a:srgbClr val="E0E4E6"/>
                </a:solidFill>
                <a:latin typeface="Spline Sans Bold" pitchFamily="34" charset="0"/>
                <a:ea typeface="Spline Sans Bold" pitchFamily="34" charset="-122"/>
                <a:cs typeface="Spline Sans Bold" pitchFamily="34" charset="-120"/>
              </a:rPr>
              <a:t>Search Engines</a:t>
            </a:r>
            <a:endParaRPr lang="en-US" sz="1000" dirty="0"/>
          </a:p>
        </p:txBody>
      </p:sp>
      <p:sp>
        <p:nvSpPr>
          <p:cNvPr id="8" name="Text 5"/>
          <p:cNvSpPr/>
          <p:nvPr/>
        </p:nvSpPr>
        <p:spPr>
          <a:xfrm>
            <a:off x="550664" y="2028751"/>
            <a:ext cx="3960093" cy="342602"/>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E0E4E6"/>
                </a:solidFill>
                <a:latin typeface="Barlow" pitchFamily="34" charset="0"/>
                <a:ea typeface="Barlow" pitchFamily="34" charset="-122"/>
                <a:cs typeface="Barlow" pitchFamily="34" charset="-120"/>
              </a:rPr>
              <a:t>Ranking billions of pages in milliseconds to surface the most relevant results for your query.</a:t>
            </a:r>
            <a:endParaRPr lang="en-US" sz="9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33243" y="1395785"/>
            <a:ext cx="290364" cy="290364"/>
          </a:xfrm>
          <a:prstGeom prst="rect">
            <a:avLst/>
          </a:prstGeom>
        </p:spPr>
      </p:pic>
      <p:sp>
        <p:nvSpPr>
          <p:cNvPr id="10" name="Text 6"/>
          <p:cNvSpPr/>
          <p:nvPr/>
        </p:nvSpPr>
        <p:spPr>
          <a:xfrm>
            <a:off x="4633243" y="1808634"/>
            <a:ext cx="3960093" cy="161330"/>
          </a:xfrm>
          <a:prstGeom prst="rect">
            <a:avLst/>
          </a:prstGeom>
          <a:noFill/>
          <a:ln/>
        </p:spPr>
        <p:txBody>
          <a:bodyPr wrap="none" lIns="0" tIns="0" rIns="0" bIns="0" rtlCol="0" anchor="t"/>
          <a:lstStyle/>
          <a:p>
            <a:pPr algn="l" indent="0" marL="0">
              <a:lnSpc>
                <a:spcPct val="104000"/>
              </a:lnSpc>
              <a:buNone/>
            </a:pPr>
            <a:r>
              <a:rPr lang="en-US" sz="1000" b="1" dirty="0">
                <a:solidFill>
                  <a:srgbClr val="E0E4E6"/>
                </a:solidFill>
                <a:latin typeface="Spline Sans Bold" pitchFamily="34" charset="0"/>
                <a:ea typeface="Spline Sans Bold" pitchFamily="34" charset="-122"/>
                <a:cs typeface="Spline Sans Bold" pitchFamily="34" charset="-120"/>
              </a:rPr>
              <a:t>Social Media Feeds</a:t>
            </a:r>
            <a:endParaRPr lang="en-US" sz="1000" dirty="0"/>
          </a:p>
        </p:txBody>
      </p:sp>
      <p:sp>
        <p:nvSpPr>
          <p:cNvPr id="11" name="Text 7"/>
          <p:cNvSpPr/>
          <p:nvPr/>
        </p:nvSpPr>
        <p:spPr>
          <a:xfrm>
            <a:off x="4633243" y="2028751"/>
            <a:ext cx="3960093" cy="342602"/>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E0E4E6"/>
                </a:solidFill>
                <a:latin typeface="Barlow" pitchFamily="34" charset="0"/>
                <a:ea typeface="Barlow" pitchFamily="34" charset="-122"/>
                <a:cs typeface="Barlow" pitchFamily="34" charset="-120"/>
              </a:rPr>
              <a:t>Deciding which posts, ads, and videos you see — and in what order — based on your behaviour.</a:t>
            </a:r>
            <a:endParaRPr lang="en-US" sz="9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0664" y="2567360"/>
            <a:ext cx="290364" cy="290364"/>
          </a:xfrm>
          <a:prstGeom prst="rect">
            <a:avLst/>
          </a:prstGeom>
        </p:spPr>
      </p:pic>
      <p:sp>
        <p:nvSpPr>
          <p:cNvPr id="13" name="Text 8"/>
          <p:cNvSpPr/>
          <p:nvPr/>
        </p:nvSpPr>
        <p:spPr>
          <a:xfrm>
            <a:off x="550664" y="2980209"/>
            <a:ext cx="3960093" cy="161330"/>
          </a:xfrm>
          <a:prstGeom prst="rect">
            <a:avLst/>
          </a:prstGeom>
          <a:noFill/>
          <a:ln/>
        </p:spPr>
        <p:txBody>
          <a:bodyPr wrap="none" lIns="0" tIns="0" rIns="0" bIns="0" rtlCol="0" anchor="t"/>
          <a:lstStyle/>
          <a:p>
            <a:pPr algn="l" indent="0" marL="0">
              <a:lnSpc>
                <a:spcPct val="104000"/>
              </a:lnSpc>
              <a:buNone/>
            </a:pPr>
            <a:r>
              <a:rPr lang="en-US" sz="1000" b="1" dirty="0">
                <a:solidFill>
                  <a:srgbClr val="E0E4E6"/>
                </a:solidFill>
                <a:latin typeface="Spline Sans Bold" pitchFamily="34" charset="0"/>
                <a:ea typeface="Spline Sans Bold" pitchFamily="34" charset="-122"/>
                <a:cs typeface="Spline Sans Bold" pitchFamily="34" charset="-120"/>
              </a:rPr>
              <a:t>Fraud Detection</a:t>
            </a:r>
            <a:endParaRPr lang="en-US" sz="1000" dirty="0"/>
          </a:p>
        </p:txBody>
      </p:sp>
      <p:sp>
        <p:nvSpPr>
          <p:cNvPr id="14" name="Text 9"/>
          <p:cNvSpPr/>
          <p:nvPr/>
        </p:nvSpPr>
        <p:spPr>
          <a:xfrm>
            <a:off x="550664" y="3200326"/>
            <a:ext cx="3960093" cy="342602"/>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E0E4E6"/>
                </a:solidFill>
                <a:latin typeface="Barlow" pitchFamily="34" charset="0"/>
                <a:ea typeface="Barlow" pitchFamily="34" charset="-122"/>
                <a:cs typeface="Barlow" pitchFamily="34" charset="-120"/>
              </a:rPr>
              <a:t>Your bank flagging unusual card transactions in real time before you even notice.</a:t>
            </a:r>
            <a:endParaRPr lang="en-US" sz="9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33243" y="2567360"/>
            <a:ext cx="290364" cy="290364"/>
          </a:xfrm>
          <a:prstGeom prst="rect">
            <a:avLst/>
          </a:prstGeom>
        </p:spPr>
      </p:pic>
      <p:sp>
        <p:nvSpPr>
          <p:cNvPr id="16" name="Text 10"/>
          <p:cNvSpPr/>
          <p:nvPr/>
        </p:nvSpPr>
        <p:spPr>
          <a:xfrm>
            <a:off x="4633243" y="2980209"/>
            <a:ext cx="3960093" cy="161330"/>
          </a:xfrm>
          <a:prstGeom prst="rect">
            <a:avLst/>
          </a:prstGeom>
          <a:noFill/>
          <a:ln/>
        </p:spPr>
        <p:txBody>
          <a:bodyPr wrap="none" lIns="0" tIns="0" rIns="0" bIns="0" rtlCol="0" anchor="t"/>
          <a:lstStyle/>
          <a:p>
            <a:pPr algn="l" indent="0" marL="0">
              <a:lnSpc>
                <a:spcPct val="104000"/>
              </a:lnSpc>
              <a:buNone/>
            </a:pPr>
            <a:r>
              <a:rPr lang="en-US" sz="1000" b="1" dirty="0">
                <a:solidFill>
                  <a:srgbClr val="E0E4E6"/>
                </a:solidFill>
                <a:latin typeface="Spline Sans Bold" pitchFamily="34" charset="0"/>
                <a:ea typeface="Spline Sans Bold" pitchFamily="34" charset="-122"/>
                <a:cs typeface="Spline Sans Bold" pitchFamily="34" charset="-120"/>
              </a:rPr>
              <a:t>Medical Imaging</a:t>
            </a:r>
            <a:endParaRPr lang="en-US" sz="1000" dirty="0"/>
          </a:p>
        </p:txBody>
      </p:sp>
      <p:sp>
        <p:nvSpPr>
          <p:cNvPr id="17" name="Text 11"/>
          <p:cNvSpPr/>
          <p:nvPr/>
        </p:nvSpPr>
        <p:spPr>
          <a:xfrm>
            <a:off x="4633243" y="3200326"/>
            <a:ext cx="3960093" cy="342602"/>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E0E4E6"/>
                </a:solidFill>
                <a:latin typeface="Barlow" pitchFamily="34" charset="0"/>
                <a:ea typeface="Barlow" pitchFamily="34" charset="-122"/>
                <a:cs typeface="Barlow" pitchFamily="34" charset="-120"/>
              </a:rPr>
              <a:t>Detecting tumours and anomalies from X-rays and MRI scans, often matching specialist accuracy.</a:t>
            </a:r>
            <a:endParaRPr lang="en-US" sz="900"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0664" y="3738935"/>
            <a:ext cx="290364" cy="290364"/>
          </a:xfrm>
          <a:prstGeom prst="rect">
            <a:avLst/>
          </a:prstGeom>
        </p:spPr>
      </p:pic>
      <p:sp>
        <p:nvSpPr>
          <p:cNvPr id="19" name="Text 12"/>
          <p:cNvSpPr/>
          <p:nvPr/>
        </p:nvSpPr>
        <p:spPr>
          <a:xfrm>
            <a:off x="550664" y="4151784"/>
            <a:ext cx="3960093" cy="161330"/>
          </a:xfrm>
          <a:prstGeom prst="rect">
            <a:avLst/>
          </a:prstGeom>
          <a:noFill/>
          <a:ln/>
        </p:spPr>
        <p:txBody>
          <a:bodyPr wrap="none" lIns="0" tIns="0" rIns="0" bIns="0" rtlCol="0" anchor="t"/>
          <a:lstStyle/>
          <a:p>
            <a:pPr algn="l" indent="0" marL="0">
              <a:lnSpc>
                <a:spcPct val="104000"/>
              </a:lnSpc>
              <a:buNone/>
            </a:pPr>
            <a:r>
              <a:rPr lang="en-US" sz="1000" b="1" dirty="0">
                <a:solidFill>
                  <a:srgbClr val="E0E4E6"/>
                </a:solidFill>
                <a:latin typeface="Spline Sans Bold" pitchFamily="34" charset="0"/>
                <a:ea typeface="Spline Sans Bold" pitchFamily="34" charset="-122"/>
                <a:cs typeface="Spline Sans Bold" pitchFamily="34" charset="-120"/>
              </a:rPr>
              <a:t>Voice Assistants</a:t>
            </a:r>
            <a:endParaRPr lang="en-US" sz="1000" dirty="0"/>
          </a:p>
        </p:txBody>
      </p:sp>
      <p:sp>
        <p:nvSpPr>
          <p:cNvPr id="20" name="Text 13"/>
          <p:cNvSpPr/>
          <p:nvPr/>
        </p:nvSpPr>
        <p:spPr>
          <a:xfrm>
            <a:off x="550664" y="4371901"/>
            <a:ext cx="3960093" cy="342602"/>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E0E4E6"/>
                </a:solidFill>
                <a:latin typeface="Barlow" pitchFamily="34" charset="0"/>
                <a:ea typeface="Barlow" pitchFamily="34" charset="-122"/>
                <a:cs typeface="Barlow" pitchFamily="34" charset="-120"/>
              </a:rPr>
              <a:t>Siri, Alexa, and Google Assistant understanding and responding to natural spoken language.</a:t>
            </a:r>
            <a:endParaRPr lang="en-US" sz="900" dirty="0"/>
          </a:p>
        </p:txBody>
      </p:sp>
      <p:pic>
        <p:nvPicPr>
          <p:cNvPr id="2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633243" y="3738935"/>
            <a:ext cx="290364" cy="290364"/>
          </a:xfrm>
          <a:prstGeom prst="rect">
            <a:avLst/>
          </a:prstGeom>
        </p:spPr>
      </p:pic>
      <p:sp>
        <p:nvSpPr>
          <p:cNvPr id="22" name="Text 14"/>
          <p:cNvSpPr/>
          <p:nvPr/>
        </p:nvSpPr>
        <p:spPr>
          <a:xfrm>
            <a:off x="4633243" y="4151784"/>
            <a:ext cx="3960093" cy="161330"/>
          </a:xfrm>
          <a:prstGeom prst="rect">
            <a:avLst/>
          </a:prstGeom>
          <a:noFill/>
          <a:ln/>
        </p:spPr>
        <p:txBody>
          <a:bodyPr wrap="none" lIns="0" tIns="0" rIns="0" bIns="0" rtlCol="0" anchor="t"/>
          <a:lstStyle/>
          <a:p>
            <a:pPr algn="l" indent="0" marL="0">
              <a:lnSpc>
                <a:spcPct val="104000"/>
              </a:lnSpc>
              <a:buNone/>
            </a:pPr>
            <a:r>
              <a:rPr lang="en-US" sz="1000" b="1" dirty="0">
                <a:solidFill>
                  <a:srgbClr val="E0E4E6"/>
                </a:solidFill>
                <a:latin typeface="Spline Sans Bold" pitchFamily="34" charset="0"/>
                <a:ea typeface="Spline Sans Bold" pitchFamily="34" charset="-122"/>
                <a:cs typeface="Spline Sans Bold" pitchFamily="34" charset="-120"/>
              </a:rPr>
              <a:t>Recommendation Engines</a:t>
            </a:r>
            <a:endParaRPr lang="en-US" sz="1000" dirty="0"/>
          </a:p>
        </p:txBody>
      </p:sp>
      <p:sp>
        <p:nvSpPr>
          <p:cNvPr id="23" name="Text 15"/>
          <p:cNvSpPr/>
          <p:nvPr/>
        </p:nvSpPr>
        <p:spPr>
          <a:xfrm>
            <a:off x="4633243" y="4371901"/>
            <a:ext cx="3960093" cy="342602"/>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E0E4E6"/>
                </a:solidFill>
                <a:latin typeface="Barlow" pitchFamily="34" charset="0"/>
                <a:ea typeface="Barlow" pitchFamily="34" charset="-122"/>
                <a:cs typeface="Barlow" pitchFamily="34" charset="-120"/>
              </a:rPr>
              <a:t>Netflix, Spotify, and Amazon predicting what you want to watch, hear, or buy next.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Shape 0"/>
          <p:cNvSpPr/>
          <p:nvPr/>
        </p:nvSpPr>
        <p:spPr>
          <a:xfrm>
            <a:off x="3979664" y="874663"/>
            <a:ext cx="661839" cy="209252"/>
          </a:xfrm>
          <a:prstGeom prst="roundRect">
            <a:avLst>
              <a:gd name="adj" fmla="val 78958"/>
            </a:avLst>
          </a:prstGeom>
          <a:solidFill>
            <a:srgbClr val="004D36"/>
          </a:solidFill>
          <a:ln/>
        </p:spPr>
      </p:sp>
      <p:sp>
        <p:nvSpPr>
          <p:cNvPr id="4" name="Text 1"/>
          <p:cNvSpPr/>
          <p:nvPr/>
        </p:nvSpPr>
        <p:spPr>
          <a:xfrm>
            <a:off x="4062264" y="915963"/>
            <a:ext cx="953839" cy="126653"/>
          </a:xfrm>
          <a:prstGeom prst="rect">
            <a:avLst/>
          </a:prstGeom>
          <a:noFill/>
          <a:ln/>
        </p:spPr>
        <p:txBody>
          <a:bodyPr wrap="none" lIns="0" tIns="0" rIns="0" bIns="0" rtlCol="0" anchor="t"/>
          <a:lstStyle/>
          <a:p>
            <a:pPr algn="l" indent="0" marL="0">
              <a:lnSpc>
                <a:spcPct val="96000"/>
              </a:lnSpc>
              <a:buNone/>
            </a:pPr>
            <a:r>
              <a:rPr lang="en-US" sz="850" dirty="0">
                <a:solidFill>
                  <a:srgbClr val="E0E4E6"/>
                </a:solidFill>
                <a:latin typeface="Barlow" pitchFamily="34" charset="0"/>
                <a:ea typeface="Barlow" pitchFamily="34" charset="-122"/>
                <a:cs typeface="Barlow" pitchFamily="34" charset="-120"/>
              </a:rPr>
              <a:t>MODULE 2</a:t>
            </a:r>
            <a:endParaRPr lang="en-US" sz="850" dirty="0"/>
          </a:p>
        </p:txBody>
      </p:sp>
      <p:sp>
        <p:nvSpPr>
          <p:cNvPr id="5" name="Text 2"/>
          <p:cNvSpPr/>
          <p:nvPr/>
        </p:nvSpPr>
        <p:spPr>
          <a:xfrm>
            <a:off x="3979664" y="1138982"/>
            <a:ext cx="4613672" cy="764977"/>
          </a:xfrm>
          <a:prstGeom prst="rect">
            <a:avLst/>
          </a:prstGeom>
          <a:noFill/>
          <a:ln/>
        </p:spPr>
        <p:txBody>
          <a:bodyPr wrap="square" lIns="0" tIns="0" rIns="0" bIns="0" rtlCol="0" anchor="t">
            <a:normAutofit/>
          </a:bodyPr>
          <a:lstStyle/>
          <a:p>
            <a:pPr algn="l" indent="0" marL="0">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Machine Learning Fundamentals</a:t>
            </a:r>
            <a:endParaRPr lang="en-US" sz="2400" dirty="0"/>
          </a:p>
        </p:txBody>
      </p:sp>
      <p:sp>
        <p:nvSpPr>
          <p:cNvPr id="6" name="Text 3"/>
          <p:cNvSpPr/>
          <p:nvPr/>
        </p:nvSpPr>
        <p:spPr>
          <a:xfrm>
            <a:off x="3979664" y="1959025"/>
            <a:ext cx="4613672" cy="191244"/>
          </a:xfrm>
          <a:prstGeom prst="rect">
            <a:avLst/>
          </a:prstGeom>
          <a:noFill/>
          <a:ln/>
        </p:spPr>
        <p:txBody>
          <a:bodyPr wrap="none" lIns="0" tIns="0" rIns="0" bIns="0" rtlCol="0" anchor="t"/>
          <a:lstStyle/>
          <a:p>
            <a:pPr algn="l" indent="0" marL="0">
              <a:lnSpc>
                <a:spcPct val="104000"/>
              </a:lnSpc>
              <a:buNone/>
            </a:pPr>
            <a:r>
              <a:rPr lang="en-US" sz="1200" b="1" dirty="0">
                <a:solidFill>
                  <a:srgbClr val="F0FCFF"/>
                </a:solidFill>
                <a:latin typeface="Spline Sans Bold" pitchFamily="34" charset="0"/>
                <a:ea typeface="Spline Sans Bold" pitchFamily="34" charset="-122"/>
                <a:cs typeface="Spline Sans Bold" pitchFamily="34" charset="-120"/>
              </a:rPr>
              <a:t>The Core Idea</a:t>
            </a:r>
            <a:endParaRPr lang="en-US" sz="1200" dirty="0"/>
          </a:p>
        </p:txBody>
      </p:sp>
      <p:sp>
        <p:nvSpPr>
          <p:cNvPr id="7" name="Shape 4"/>
          <p:cNvSpPr/>
          <p:nvPr/>
        </p:nvSpPr>
        <p:spPr>
          <a:xfrm>
            <a:off x="3880545" y="2356768"/>
            <a:ext cx="2337122" cy="1912069"/>
          </a:xfrm>
          <a:prstGeom prst="roundRect">
            <a:avLst>
              <a:gd name="adj" fmla="val 17282"/>
            </a:avLst>
          </a:prstGeom>
          <a:solidFill>
            <a:srgbClr val="FE6A03">
              <a:alpha val="75000"/>
            </a:srgbClr>
          </a:solidFill>
          <a:ln/>
        </p:spPr>
      </p:sp>
      <p:sp>
        <p:nvSpPr>
          <p:cNvPr id="8" name="Text 5"/>
          <p:cNvSpPr/>
          <p:nvPr/>
        </p:nvSpPr>
        <p:spPr>
          <a:xfrm>
            <a:off x="4018211" y="2494434"/>
            <a:ext cx="2061790" cy="191244"/>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Spline Sans Bold" pitchFamily="34" charset="0"/>
                <a:ea typeface="Spline Sans Bold" pitchFamily="34" charset="-122"/>
                <a:cs typeface="Spline Sans Bold" pitchFamily="34" charset="-120"/>
              </a:rPr>
              <a:t>Traditional Programming</a:t>
            </a:r>
            <a:endParaRPr lang="en-US" sz="1200" dirty="0"/>
          </a:p>
        </p:txBody>
      </p:sp>
      <p:sp>
        <p:nvSpPr>
          <p:cNvPr id="9" name="Text 6"/>
          <p:cNvSpPr/>
          <p:nvPr/>
        </p:nvSpPr>
        <p:spPr>
          <a:xfrm>
            <a:off x="4018211" y="2823344"/>
            <a:ext cx="2061790" cy="1101328"/>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000000"/>
                </a:solidFill>
                <a:latin typeface="Barlow" pitchFamily="34" charset="0"/>
                <a:ea typeface="Barlow" pitchFamily="34" charset="-122"/>
                <a:cs typeface="Barlow" pitchFamily="34" charset="-120"/>
              </a:rPr>
              <a:t>A human writes explicit rules: </a:t>
            </a:r>
            <a:pPr algn="l" indent="0" marL="0">
              <a:lnSpc>
                <a:spcPct val="133000"/>
              </a:lnSpc>
              <a:buNone/>
            </a:pPr>
            <a:r>
              <a:rPr lang="en-US" sz="1050" b="1" dirty="0">
                <a:solidFill>
                  <a:srgbClr val="000000"/>
                </a:solidFill>
                <a:latin typeface="Barlow Bold" pitchFamily="34" charset="0"/>
                <a:ea typeface="Barlow Bold" pitchFamily="34" charset="-122"/>
                <a:cs typeface="Barlow Bold" pitchFamily="34" charset="-120"/>
              </a:rPr>
              <a:t>IF</a:t>
            </a:r>
            <a:pPr algn="l" indent="0" marL="0">
              <a:lnSpc>
                <a:spcPct val="133000"/>
              </a:lnSpc>
              <a:buNone/>
            </a:pPr>
            <a:r>
              <a:rPr lang="en-US" sz="1050" dirty="0">
                <a:solidFill>
                  <a:srgbClr val="000000"/>
                </a:solidFill>
                <a:latin typeface="Barlow" pitchFamily="34" charset="0"/>
                <a:ea typeface="Barlow" pitchFamily="34" charset="-122"/>
                <a:cs typeface="Barlow" pitchFamily="34" charset="-120"/>
              </a:rPr>
              <a:t> spam keyword </a:t>
            </a:r>
            <a:pPr algn="l" indent="0" marL="0">
              <a:lnSpc>
                <a:spcPct val="133000"/>
              </a:lnSpc>
              <a:buNone/>
            </a:pPr>
            <a:r>
              <a:rPr lang="en-US" sz="1050" b="1" dirty="0">
                <a:solidFill>
                  <a:srgbClr val="000000"/>
                </a:solidFill>
                <a:latin typeface="Barlow Bold" pitchFamily="34" charset="0"/>
                <a:ea typeface="Barlow Bold" pitchFamily="34" charset="-122"/>
                <a:cs typeface="Barlow Bold" pitchFamily="34" charset="-120"/>
              </a:rPr>
              <a:t>THEN</a:t>
            </a:r>
            <a:pPr algn="l" indent="0" marL="0">
              <a:lnSpc>
                <a:spcPct val="133000"/>
              </a:lnSpc>
              <a:buNone/>
            </a:pPr>
            <a:r>
              <a:rPr lang="en-US" sz="1050" dirty="0">
                <a:solidFill>
                  <a:srgbClr val="000000"/>
                </a:solidFill>
                <a:latin typeface="Barlow" pitchFamily="34" charset="0"/>
                <a:ea typeface="Barlow" pitchFamily="34" charset="-122"/>
                <a:cs typeface="Barlow" pitchFamily="34" charset="-120"/>
              </a:rPr>
              <a:t> mark as spam. Every rule must be hand-crafted by an engineer who anticipates every possible case.</a:t>
            </a:r>
            <a:endParaRPr lang="en-US" sz="1050" dirty="0"/>
          </a:p>
        </p:txBody>
      </p:sp>
      <p:sp>
        <p:nvSpPr>
          <p:cNvPr id="10" name="Text 7"/>
          <p:cNvSpPr/>
          <p:nvPr/>
        </p:nvSpPr>
        <p:spPr>
          <a:xfrm>
            <a:off x="6459215" y="2494434"/>
            <a:ext cx="2138883" cy="191244"/>
          </a:xfrm>
          <a:prstGeom prst="rect">
            <a:avLst/>
          </a:prstGeom>
          <a:noFill/>
          <a:ln/>
        </p:spPr>
        <p:txBody>
          <a:bodyPr wrap="none" lIns="0" tIns="0" rIns="0" bIns="0" rtlCol="0" anchor="t"/>
          <a:lstStyle/>
          <a:p>
            <a:pPr algn="l" indent="0" marL="0">
              <a:lnSpc>
                <a:spcPct val="104000"/>
              </a:lnSpc>
              <a:buNone/>
            </a:pPr>
            <a:r>
              <a:rPr lang="en-US" sz="1200" b="1" dirty="0">
                <a:solidFill>
                  <a:srgbClr val="F0FCFF"/>
                </a:solidFill>
                <a:latin typeface="Spline Sans Bold" pitchFamily="34" charset="0"/>
                <a:ea typeface="Spline Sans Bold" pitchFamily="34" charset="-122"/>
                <a:cs typeface="Spline Sans Bold" pitchFamily="34" charset="-120"/>
              </a:rPr>
              <a:t>Machine Learning</a:t>
            </a:r>
            <a:endParaRPr lang="en-US" sz="1200" dirty="0"/>
          </a:p>
        </p:txBody>
      </p:sp>
      <p:sp>
        <p:nvSpPr>
          <p:cNvPr id="11" name="Text 8"/>
          <p:cNvSpPr/>
          <p:nvPr/>
        </p:nvSpPr>
        <p:spPr>
          <a:xfrm>
            <a:off x="6459215" y="2823344"/>
            <a:ext cx="2138883" cy="1321594"/>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You show the system 10,000 examples of spam and 10,000 examples of real email and let it </a:t>
            </a:r>
            <a:pPr algn="l" indent="0" marL="0">
              <a:lnSpc>
                <a:spcPct val="133000"/>
              </a:lnSpc>
              <a:buNone/>
            </a:pPr>
            <a:r>
              <a:rPr lang="en-US" sz="1050" b="1" dirty="0">
                <a:solidFill>
                  <a:srgbClr val="E0E4E6"/>
                </a:solidFill>
                <a:latin typeface="Barlow Bold" pitchFamily="34" charset="0"/>
                <a:ea typeface="Barlow Bold" pitchFamily="34" charset="-122"/>
                <a:cs typeface="Barlow Bold" pitchFamily="34" charset="-120"/>
              </a:rPr>
              <a:t>figure out the rules itself</a:t>
            </a:r>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 The system learns the pattern from data — no manual rule-writing required.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50664" y="547911"/>
            <a:ext cx="1382464" cy="209252"/>
          </a:xfrm>
          <a:prstGeom prst="roundRect">
            <a:avLst>
              <a:gd name="adj" fmla="val 78958"/>
            </a:avLst>
          </a:prstGeom>
          <a:solidFill>
            <a:srgbClr val="004D36"/>
          </a:solidFill>
          <a:ln/>
        </p:spPr>
      </p:sp>
      <p:sp>
        <p:nvSpPr>
          <p:cNvPr id="3" name="Text 1"/>
          <p:cNvSpPr/>
          <p:nvPr/>
        </p:nvSpPr>
        <p:spPr>
          <a:xfrm>
            <a:off x="633264" y="589211"/>
            <a:ext cx="1674465" cy="126653"/>
          </a:xfrm>
          <a:prstGeom prst="rect">
            <a:avLst/>
          </a:prstGeom>
          <a:noFill/>
          <a:ln/>
        </p:spPr>
        <p:txBody>
          <a:bodyPr wrap="none" lIns="0" tIns="0" rIns="0" bIns="0" rtlCol="0" anchor="t"/>
          <a:lstStyle/>
          <a:p>
            <a:pPr algn="l" indent="0" marL="0">
              <a:lnSpc>
                <a:spcPct val="96000"/>
              </a:lnSpc>
              <a:buNone/>
            </a:pPr>
            <a:r>
              <a:rPr lang="en-US" sz="850" dirty="0">
                <a:solidFill>
                  <a:srgbClr val="E0E4E6"/>
                </a:solidFill>
                <a:latin typeface="Barlow" pitchFamily="34" charset="0"/>
                <a:ea typeface="Barlow" pitchFamily="34" charset="-122"/>
                <a:cs typeface="Barlow" pitchFamily="34" charset="-120"/>
              </a:rPr>
              <a:t>MODULE 2 — SECTION 2.2</a:t>
            </a:r>
            <a:endParaRPr lang="en-US" sz="850" dirty="0"/>
          </a:p>
        </p:txBody>
      </p:sp>
      <p:sp>
        <p:nvSpPr>
          <p:cNvPr id="4" name="Text 2"/>
          <p:cNvSpPr/>
          <p:nvPr/>
        </p:nvSpPr>
        <p:spPr>
          <a:xfrm>
            <a:off x="550664" y="812229"/>
            <a:ext cx="8042672" cy="382488"/>
          </a:xfrm>
          <a:prstGeom prst="rect">
            <a:avLst/>
          </a:prstGeom>
          <a:noFill/>
          <a:ln/>
        </p:spPr>
        <p:txBody>
          <a:bodyPr wrap="none" lIns="0" tIns="0" rIns="0" bIns="0" rtlCol="0" anchor="t"/>
          <a:lstStyle/>
          <a:p>
            <a:pPr algn="l" indent="0" marL="0">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Supervised Learning</a:t>
            </a:r>
            <a:endParaRPr lang="en-US" sz="2400" dirty="0"/>
          </a:p>
        </p:txBody>
      </p:sp>
      <p:sp>
        <p:nvSpPr>
          <p:cNvPr id="5" name="Text 3"/>
          <p:cNvSpPr/>
          <p:nvPr/>
        </p:nvSpPr>
        <p:spPr>
          <a:xfrm>
            <a:off x="550664" y="1401217"/>
            <a:ext cx="8042672" cy="440531"/>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The model is trained on </a:t>
            </a:r>
            <a:pPr algn="l" indent="0" marL="0">
              <a:lnSpc>
                <a:spcPct val="133000"/>
              </a:lnSpc>
              <a:buNone/>
            </a:pPr>
            <a:r>
              <a:rPr lang="en-US" sz="1050" b="1" dirty="0">
                <a:solidFill>
                  <a:srgbClr val="E0E4E6"/>
                </a:solidFill>
                <a:latin typeface="Barlow Bold" pitchFamily="34" charset="0"/>
                <a:ea typeface="Barlow Bold" pitchFamily="34" charset="-122"/>
                <a:cs typeface="Barlow Bold" pitchFamily="34" charset="-120"/>
              </a:rPr>
              <a:t>labelled data</a:t>
            </a:r>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 — each input has a known correct output. The model learns to map inputs to outputs by minimising the error between its predictions and the true labels.</a:t>
            </a:r>
            <a:endParaRPr lang="en-US" sz="1050" dirty="0"/>
          </a:p>
        </p:txBody>
      </p:sp>
      <p:sp>
        <p:nvSpPr>
          <p:cNvPr id="6" name="Shape 4"/>
          <p:cNvSpPr/>
          <p:nvPr/>
        </p:nvSpPr>
        <p:spPr>
          <a:xfrm>
            <a:off x="550664" y="1996604"/>
            <a:ext cx="8042672" cy="2003524"/>
          </a:xfrm>
          <a:prstGeom prst="roundRect">
            <a:avLst>
              <a:gd name="adj" fmla="val 10308"/>
            </a:avLst>
          </a:prstGeom>
          <a:noFill/>
          <a:ln w="4763">
            <a:solidFill>
              <a:srgbClr val="FFFFFF">
                <a:alpha val="24000"/>
              </a:srgbClr>
            </a:solidFill>
            <a:prstDash val="solid"/>
          </a:ln>
        </p:spPr>
      </p:sp>
      <p:sp>
        <p:nvSpPr>
          <p:cNvPr id="7" name="Shape 5"/>
          <p:cNvSpPr/>
          <p:nvPr/>
        </p:nvSpPr>
        <p:spPr>
          <a:xfrm>
            <a:off x="550664" y="2398737"/>
            <a:ext cx="8042672" cy="8605"/>
          </a:xfrm>
          <a:prstGeom prst="rect">
            <a:avLst/>
          </a:prstGeom>
          <a:solidFill>
            <a:srgbClr val="FFFFFF">
              <a:alpha val="24000"/>
            </a:srgbClr>
          </a:solidFill>
          <a:ln/>
        </p:spPr>
      </p:sp>
      <p:sp>
        <p:nvSpPr>
          <p:cNvPr id="8" name="Shape 6"/>
          <p:cNvSpPr/>
          <p:nvPr/>
        </p:nvSpPr>
        <p:spPr>
          <a:xfrm>
            <a:off x="550664" y="2798490"/>
            <a:ext cx="8042672" cy="8605"/>
          </a:xfrm>
          <a:prstGeom prst="rect">
            <a:avLst/>
          </a:prstGeom>
          <a:solidFill>
            <a:srgbClr val="FFFFFF">
              <a:alpha val="24000"/>
            </a:srgbClr>
          </a:solidFill>
          <a:ln/>
        </p:spPr>
      </p:sp>
      <p:sp>
        <p:nvSpPr>
          <p:cNvPr id="9" name="Shape 7"/>
          <p:cNvSpPr/>
          <p:nvPr/>
        </p:nvSpPr>
        <p:spPr>
          <a:xfrm>
            <a:off x="550664" y="3198242"/>
            <a:ext cx="8042672" cy="8605"/>
          </a:xfrm>
          <a:prstGeom prst="rect">
            <a:avLst/>
          </a:prstGeom>
          <a:solidFill>
            <a:srgbClr val="FFFFFF">
              <a:alpha val="24000"/>
            </a:srgbClr>
          </a:solidFill>
          <a:ln/>
        </p:spPr>
      </p:sp>
      <p:sp>
        <p:nvSpPr>
          <p:cNvPr id="10" name="Shape 8"/>
          <p:cNvSpPr/>
          <p:nvPr/>
        </p:nvSpPr>
        <p:spPr>
          <a:xfrm>
            <a:off x="550664" y="3597994"/>
            <a:ext cx="8042672" cy="8605"/>
          </a:xfrm>
          <a:prstGeom prst="rect">
            <a:avLst/>
          </a:prstGeom>
          <a:solidFill>
            <a:srgbClr val="FFFFFF">
              <a:alpha val="24000"/>
            </a:srgbClr>
          </a:solidFill>
          <a:ln/>
        </p:spPr>
      </p:sp>
      <p:sp>
        <p:nvSpPr>
          <p:cNvPr id="11" name="Text 9"/>
          <p:cNvSpPr/>
          <p:nvPr/>
        </p:nvSpPr>
        <p:spPr>
          <a:xfrm>
            <a:off x="694060" y="2088728"/>
            <a:ext cx="2858988" cy="220266"/>
          </a:xfrm>
          <a:prstGeom prst="rect">
            <a:avLst/>
          </a:prstGeom>
          <a:noFill/>
          <a:ln/>
        </p:spPr>
        <p:txBody>
          <a:bodyPr wrap="none" lIns="0" tIns="0" rIns="0" bIns="0" rtlCol="0" anchor="t"/>
          <a:lstStyle/>
          <a:p>
            <a:pPr algn="l" indent="0" marL="0">
              <a:lnSpc>
                <a:spcPct val="133000"/>
              </a:lnSpc>
              <a:buNone/>
            </a:pPr>
            <a:r>
              <a:rPr lang="en-US" sz="1050" b="1" dirty="0">
                <a:solidFill>
                  <a:srgbClr val="E0E4E6"/>
                </a:solidFill>
                <a:latin typeface="Barlow Bold" pitchFamily="34" charset="0"/>
                <a:ea typeface="Barlow Bold" pitchFamily="34" charset="-122"/>
                <a:cs typeface="Barlow Bold" pitchFamily="34" charset="-120"/>
              </a:rPr>
              <a:t>Task</a:t>
            </a:r>
            <a:endParaRPr lang="en-US" sz="1050" dirty="0"/>
          </a:p>
        </p:txBody>
      </p:sp>
      <p:sp>
        <p:nvSpPr>
          <p:cNvPr id="12" name="Text 10"/>
          <p:cNvSpPr/>
          <p:nvPr/>
        </p:nvSpPr>
        <p:spPr>
          <a:xfrm>
            <a:off x="3371180" y="2088728"/>
            <a:ext cx="2858988" cy="220266"/>
          </a:xfrm>
          <a:prstGeom prst="rect">
            <a:avLst/>
          </a:prstGeom>
          <a:noFill/>
          <a:ln/>
        </p:spPr>
        <p:txBody>
          <a:bodyPr wrap="none" lIns="0" tIns="0" rIns="0" bIns="0" rtlCol="0" anchor="t"/>
          <a:lstStyle/>
          <a:p>
            <a:pPr algn="l" indent="0" marL="0">
              <a:lnSpc>
                <a:spcPct val="133000"/>
              </a:lnSpc>
              <a:buNone/>
            </a:pPr>
            <a:r>
              <a:rPr lang="en-US" sz="1050" b="1" dirty="0">
                <a:solidFill>
                  <a:srgbClr val="E0E4E6"/>
                </a:solidFill>
                <a:latin typeface="Barlow Bold" pitchFamily="34" charset="0"/>
                <a:ea typeface="Barlow Bold" pitchFamily="34" charset="-122"/>
                <a:cs typeface="Barlow Bold" pitchFamily="34" charset="-120"/>
              </a:rPr>
              <a:t>Input (X)</a:t>
            </a:r>
            <a:endParaRPr lang="en-US" sz="1050" dirty="0"/>
          </a:p>
        </p:txBody>
      </p:sp>
      <p:sp>
        <p:nvSpPr>
          <p:cNvPr id="13" name="Text 11"/>
          <p:cNvSpPr/>
          <p:nvPr/>
        </p:nvSpPr>
        <p:spPr>
          <a:xfrm>
            <a:off x="6048301" y="2088728"/>
            <a:ext cx="2858988" cy="220266"/>
          </a:xfrm>
          <a:prstGeom prst="rect">
            <a:avLst/>
          </a:prstGeom>
          <a:noFill/>
          <a:ln/>
        </p:spPr>
        <p:txBody>
          <a:bodyPr wrap="none" lIns="0" tIns="0" rIns="0" bIns="0" rtlCol="0" anchor="t"/>
          <a:lstStyle/>
          <a:p>
            <a:pPr algn="l" indent="0" marL="0">
              <a:lnSpc>
                <a:spcPct val="133000"/>
              </a:lnSpc>
              <a:buNone/>
            </a:pPr>
            <a:r>
              <a:rPr lang="en-US" sz="1050" b="1" dirty="0">
                <a:solidFill>
                  <a:srgbClr val="E0E4E6"/>
                </a:solidFill>
                <a:latin typeface="Barlow Bold" pitchFamily="34" charset="0"/>
                <a:ea typeface="Barlow Bold" pitchFamily="34" charset="-122"/>
                <a:cs typeface="Barlow Bold" pitchFamily="34" charset="-120"/>
              </a:rPr>
              <a:t>Output (Y) — Label</a:t>
            </a:r>
            <a:endParaRPr lang="en-US" sz="1050" dirty="0"/>
          </a:p>
        </p:txBody>
      </p:sp>
      <p:sp>
        <p:nvSpPr>
          <p:cNvPr id="14" name="Text 12"/>
          <p:cNvSpPr/>
          <p:nvPr/>
        </p:nvSpPr>
        <p:spPr>
          <a:xfrm>
            <a:off x="694060" y="2488481"/>
            <a:ext cx="2858988"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Spam detection</a:t>
            </a:r>
            <a:endParaRPr lang="en-US" sz="1050" dirty="0"/>
          </a:p>
        </p:txBody>
      </p:sp>
      <p:sp>
        <p:nvSpPr>
          <p:cNvPr id="15" name="Text 13"/>
          <p:cNvSpPr/>
          <p:nvPr/>
        </p:nvSpPr>
        <p:spPr>
          <a:xfrm>
            <a:off x="3371180" y="2488481"/>
            <a:ext cx="2858988"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Email text</a:t>
            </a:r>
            <a:endParaRPr lang="en-US" sz="1050" dirty="0"/>
          </a:p>
        </p:txBody>
      </p:sp>
      <p:sp>
        <p:nvSpPr>
          <p:cNvPr id="16" name="Text 14"/>
          <p:cNvSpPr/>
          <p:nvPr/>
        </p:nvSpPr>
        <p:spPr>
          <a:xfrm>
            <a:off x="6048301" y="2488481"/>
            <a:ext cx="2858988"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Spam / Not Spam</a:t>
            </a:r>
            <a:endParaRPr lang="en-US" sz="1050" dirty="0"/>
          </a:p>
        </p:txBody>
      </p:sp>
      <p:sp>
        <p:nvSpPr>
          <p:cNvPr id="17" name="Text 15"/>
          <p:cNvSpPr/>
          <p:nvPr/>
        </p:nvSpPr>
        <p:spPr>
          <a:xfrm>
            <a:off x="694060" y="2888233"/>
            <a:ext cx="2858988"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House price prediction</a:t>
            </a:r>
            <a:endParaRPr lang="en-US" sz="1050" dirty="0"/>
          </a:p>
        </p:txBody>
      </p:sp>
      <p:sp>
        <p:nvSpPr>
          <p:cNvPr id="18" name="Text 16"/>
          <p:cNvSpPr/>
          <p:nvPr/>
        </p:nvSpPr>
        <p:spPr>
          <a:xfrm>
            <a:off x="3371180" y="2888233"/>
            <a:ext cx="2858988"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Size, location, rooms</a:t>
            </a:r>
            <a:endParaRPr lang="en-US" sz="1050" dirty="0"/>
          </a:p>
        </p:txBody>
      </p:sp>
      <p:sp>
        <p:nvSpPr>
          <p:cNvPr id="19" name="Text 17"/>
          <p:cNvSpPr/>
          <p:nvPr/>
        </p:nvSpPr>
        <p:spPr>
          <a:xfrm>
            <a:off x="6048301" y="2888233"/>
            <a:ext cx="2858988"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Price in $</a:t>
            </a:r>
            <a:endParaRPr lang="en-US" sz="1050" dirty="0"/>
          </a:p>
        </p:txBody>
      </p:sp>
      <p:sp>
        <p:nvSpPr>
          <p:cNvPr id="20" name="Text 18"/>
          <p:cNvSpPr/>
          <p:nvPr/>
        </p:nvSpPr>
        <p:spPr>
          <a:xfrm>
            <a:off x="694060" y="3287985"/>
            <a:ext cx="2858988"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Image classification</a:t>
            </a:r>
            <a:endParaRPr lang="en-US" sz="1050" dirty="0"/>
          </a:p>
        </p:txBody>
      </p:sp>
      <p:sp>
        <p:nvSpPr>
          <p:cNvPr id="21" name="Text 19"/>
          <p:cNvSpPr/>
          <p:nvPr/>
        </p:nvSpPr>
        <p:spPr>
          <a:xfrm>
            <a:off x="3371180" y="3287985"/>
            <a:ext cx="2858988"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Pixel values</a:t>
            </a:r>
            <a:endParaRPr lang="en-US" sz="1050" dirty="0"/>
          </a:p>
        </p:txBody>
      </p:sp>
      <p:sp>
        <p:nvSpPr>
          <p:cNvPr id="22" name="Text 20"/>
          <p:cNvSpPr/>
          <p:nvPr/>
        </p:nvSpPr>
        <p:spPr>
          <a:xfrm>
            <a:off x="6048301" y="3287985"/>
            <a:ext cx="2858988"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Cat / Dog / Car</a:t>
            </a:r>
            <a:endParaRPr lang="en-US" sz="1050" dirty="0"/>
          </a:p>
        </p:txBody>
      </p:sp>
      <p:sp>
        <p:nvSpPr>
          <p:cNvPr id="23" name="Text 21"/>
          <p:cNvSpPr/>
          <p:nvPr/>
        </p:nvSpPr>
        <p:spPr>
          <a:xfrm>
            <a:off x="694060" y="3687738"/>
            <a:ext cx="2858988"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Sentiment analysis</a:t>
            </a:r>
            <a:endParaRPr lang="en-US" sz="1050" dirty="0"/>
          </a:p>
        </p:txBody>
      </p:sp>
      <p:sp>
        <p:nvSpPr>
          <p:cNvPr id="24" name="Text 22"/>
          <p:cNvSpPr/>
          <p:nvPr/>
        </p:nvSpPr>
        <p:spPr>
          <a:xfrm>
            <a:off x="3371180" y="3687738"/>
            <a:ext cx="2858988"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Movie review text</a:t>
            </a:r>
            <a:endParaRPr lang="en-US" sz="1050" dirty="0"/>
          </a:p>
        </p:txBody>
      </p:sp>
      <p:sp>
        <p:nvSpPr>
          <p:cNvPr id="25" name="Text 23"/>
          <p:cNvSpPr/>
          <p:nvPr/>
        </p:nvSpPr>
        <p:spPr>
          <a:xfrm>
            <a:off x="6048301" y="3687738"/>
            <a:ext cx="2858988"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Positive / Negative</a:t>
            </a:r>
            <a:endParaRPr lang="en-US" sz="1050" dirty="0"/>
          </a:p>
        </p:txBody>
      </p:sp>
      <p:sp>
        <p:nvSpPr>
          <p:cNvPr id="26" name="Text 24"/>
          <p:cNvSpPr/>
          <p:nvPr/>
        </p:nvSpPr>
        <p:spPr>
          <a:xfrm>
            <a:off x="550664" y="4154984"/>
            <a:ext cx="8042672" cy="440531"/>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Supervised learning is the most widely used form of ML in production systems today. The quality and quantity of labelled data is often the single biggest factor in model performance.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50664" y="786408"/>
            <a:ext cx="1382464" cy="209252"/>
          </a:xfrm>
          <a:prstGeom prst="roundRect">
            <a:avLst>
              <a:gd name="adj" fmla="val 78958"/>
            </a:avLst>
          </a:prstGeom>
          <a:solidFill>
            <a:srgbClr val="004D36"/>
          </a:solidFill>
          <a:ln/>
        </p:spPr>
      </p:sp>
      <p:sp>
        <p:nvSpPr>
          <p:cNvPr id="3" name="Text 1"/>
          <p:cNvSpPr/>
          <p:nvPr/>
        </p:nvSpPr>
        <p:spPr>
          <a:xfrm>
            <a:off x="633264" y="827708"/>
            <a:ext cx="1674465" cy="126653"/>
          </a:xfrm>
          <a:prstGeom prst="rect">
            <a:avLst/>
          </a:prstGeom>
          <a:noFill/>
          <a:ln/>
        </p:spPr>
        <p:txBody>
          <a:bodyPr wrap="none" lIns="0" tIns="0" rIns="0" bIns="0" rtlCol="0" anchor="t"/>
          <a:lstStyle/>
          <a:p>
            <a:pPr algn="l" indent="0" marL="0">
              <a:lnSpc>
                <a:spcPct val="96000"/>
              </a:lnSpc>
              <a:buNone/>
            </a:pPr>
            <a:r>
              <a:rPr lang="en-US" sz="850" dirty="0">
                <a:solidFill>
                  <a:srgbClr val="E0E4E6"/>
                </a:solidFill>
                <a:latin typeface="Barlow" pitchFamily="34" charset="0"/>
                <a:ea typeface="Barlow" pitchFamily="34" charset="-122"/>
                <a:cs typeface="Barlow" pitchFamily="34" charset="-120"/>
              </a:rPr>
              <a:t>MODULE 2 — SECTION 2.2</a:t>
            </a:r>
            <a:endParaRPr lang="en-US" sz="850" dirty="0"/>
          </a:p>
        </p:txBody>
      </p:sp>
      <p:sp>
        <p:nvSpPr>
          <p:cNvPr id="4" name="Text 2"/>
          <p:cNvSpPr/>
          <p:nvPr/>
        </p:nvSpPr>
        <p:spPr>
          <a:xfrm>
            <a:off x="550664" y="1050727"/>
            <a:ext cx="8042672" cy="382488"/>
          </a:xfrm>
          <a:prstGeom prst="rect">
            <a:avLst/>
          </a:prstGeom>
          <a:noFill/>
          <a:ln/>
        </p:spPr>
        <p:txBody>
          <a:bodyPr wrap="none" lIns="0" tIns="0" rIns="0" bIns="0" rtlCol="0" anchor="t"/>
          <a:lstStyle/>
          <a:p>
            <a:pPr algn="l" indent="0" marL="0">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Unsupervised &amp; Reinforcement Learning</a:t>
            </a:r>
            <a:endParaRPr lang="en-US" sz="2400" dirty="0"/>
          </a:p>
        </p:txBody>
      </p:sp>
      <p:sp>
        <p:nvSpPr>
          <p:cNvPr id="5" name="Text 3"/>
          <p:cNvSpPr/>
          <p:nvPr/>
        </p:nvSpPr>
        <p:spPr>
          <a:xfrm>
            <a:off x="550664" y="1777380"/>
            <a:ext cx="3853383" cy="191244"/>
          </a:xfrm>
          <a:prstGeom prst="rect">
            <a:avLst/>
          </a:prstGeom>
          <a:noFill/>
          <a:ln/>
        </p:spPr>
        <p:txBody>
          <a:bodyPr wrap="none" lIns="0" tIns="0" rIns="0" bIns="0" rtlCol="0" anchor="t"/>
          <a:lstStyle/>
          <a:p>
            <a:pPr algn="l" indent="0" marL="0">
              <a:lnSpc>
                <a:spcPct val="104000"/>
              </a:lnSpc>
              <a:buNone/>
            </a:pPr>
            <a:r>
              <a:rPr lang="en-US" sz="1200" b="1" dirty="0">
                <a:solidFill>
                  <a:srgbClr val="F0FCFF"/>
                </a:solidFill>
                <a:latin typeface="Spline Sans Bold" pitchFamily="34" charset="0"/>
                <a:ea typeface="Spline Sans Bold" pitchFamily="34" charset="-122"/>
                <a:cs typeface="Spline Sans Bold" pitchFamily="34" charset="-120"/>
              </a:rPr>
              <a:t>Unsupervised Learning</a:t>
            </a:r>
            <a:endParaRPr lang="en-US" sz="1200" dirty="0"/>
          </a:p>
        </p:txBody>
      </p:sp>
      <p:sp>
        <p:nvSpPr>
          <p:cNvPr id="6" name="Text 4"/>
          <p:cNvSpPr/>
          <p:nvPr/>
        </p:nvSpPr>
        <p:spPr>
          <a:xfrm>
            <a:off x="550664" y="2106290"/>
            <a:ext cx="3853383" cy="660797"/>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No labels. The model finds hidden structure in the data by itself — grouping similar things together (clustering) or compressing data (dimensionality reduction).</a:t>
            </a:r>
            <a:endParaRPr lang="en-US" sz="1050" dirty="0"/>
          </a:p>
        </p:txBody>
      </p:sp>
      <p:sp>
        <p:nvSpPr>
          <p:cNvPr id="7" name="Text 5"/>
          <p:cNvSpPr/>
          <p:nvPr/>
        </p:nvSpPr>
        <p:spPr>
          <a:xfrm>
            <a:off x="550664" y="2890986"/>
            <a:ext cx="3853383" cy="1417886"/>
          </a:xfrm>
          <a:prstGeom prst="rect">
            <a:avLst/>
          </a:prstGeom>
          <a:noFill/>
          <a:ln/>
        </p:spPr>
        <p:txBody>
          <a:bodyPr wrap="square" lIns="0" tIns="0" rIns="0" bIns="0" rtlCol="0" anchor="t">
            <a:normAutofit/>
          </a:bodyPr>
          <a:lstStyle/>
          <a:p>
            <a:pPr algn="l" marL="213360" indent="-213360">
              <a:lnSpc>
                <a:spcPct val="133000"/>
              </a:lnSpc>
              <a:buSzPct val="100000"/>
              <a:buChar char="•"/>
            </a:pPr>
            <a:r>
              <a:rPr lang="en-US" sz="1050" b="1" dirty="0">
                <a:solidFill>
                  <a:srgbClr val="E0E4E6"/>
                </a:solidFill>
                <a:latin typeface="Barlow Bold" pitchFamily="34" charset="0"/>
                <a:ea typeface="Barlow Bold" pitchFamily="34" charset="-122"/>
                <a:cs typeface="Barlow Bold" pitchFamily="34" charset="-120"/>
              </a:rPr>
              <a:t>Customer segmentation</a:t>
            </a:r>
            <a:pPr algn="l" marL="213360" indent="-213360">
              <a:lnSpc>
                <a:spcPct val="133000"/>
              </a:lnSpc>
              <a:buSzPct val="100000"/>
              <a:buChar char="•"/>
            </a:pPr>
            <a:r>
              <a:rPr lang="en-US" sz="1050" dirty="0">
                <a:solidFill>
                  <a:srgbClr val="E0E4E6"/>
                </a:solidFill>
                <a:latin typeface="Barlow" pitchFamily="34" charset="0"/>
                <a:ea typeface="Barlow" pitchFamily="34" charset="-122"/>
                <a:cs typeface="Barlow" pitchFamily="34" charset="-120"/>
              </a:rPr>
              <a:t> — grouping shoppers by behaviour without telling the model what groups to form.</a:t>
            </a:r>
            <a:endParaRPr lang="en-US" sz="1050" dirty="0"/>
          </a:p>
          <a:p>
            <a:pPr algn="l" marL="213360" indent="-213360">
              <a:lnSpc>
                <a:spcPct val="133000"/>
              </a:lnSpc>
              <a:buSzPct val="100000"/>
              <a:buChar char="•"/>
            </a:pPr>
            <a:r>
              <a:rPr lang="en-US" sz="1050" b="1" dirty="0">
                <a:solidFill>
                  <a:srgbClr val="E0E4E6"/>
                </a:solidFill>
                <a:latin typeface="Barlow Bold" pitchFamily="34" charset="0"/>
                <a:ea typeface="Barlow Bold" pitchFamily="34" charset="-122"/>
                <a:cs typeface="Barlow Bold" pitchFamily="34" charset="-120"/>
              </a:rPr>
              <a:t>Anomaly detection</a:t>
            </a:r>
            <a:pPr algn="l" marL="213360" indent="-213360">
              <a:lnSpc>
                <a:spcPct val="133000"/>
              </a:lnSpc>
              <a:buSzPct val="100000"/>
              <a:buChar char="•"/>
            </a:pPr>
            <a:r>
              <a:rPr lang="en-US" sz="1050" dirty="0">
                <a:solidFill>
                  <a:srgbClr val="E0E4E6"/>
                </a:solidFill>
                <a:latin typeface="Barlow" pitchFamily="34" charset="0"/>
                <a:ea typeface="Barlow" pitchFamily="34" charset="-122"/>
                <a:cs typeface="Barlow" pitchFamily="34" charset="-120"/>
              </a:rPr>
              <a:t> — finding unusual patterns in network traffic.</a:t>
            </a:r>
            <a:endParaRPr lang="en-US" sz="1050" dirty="0"/>
          </a:p>
          <a:p>
            <a:pPr algn="l" marL="213360" indent="-213360">
              <a:lnSpc>
                <a:spcPct val="133000"/>
              </a:lnSpc>
              <a:buSzPct val="100000"/>
              <a:buChar char="•"/>
            </a:pPr>
            <a:r>
              <a:rPr lang="en-US" sz="1050" b="1" dirty="0">
                <a:solidFill>
                  <a:srgbClr val="E0E4E6"/>
                </a:solidFill>
                <a:latin typeface="Barlow Bold" pitchFamily="34" charset="0"/>
                <a:ea typeface="Barlow Bold" pitchFamily="34" charset="-122"/>
                <a:cs typeface="Barlow Bold" pitchFamily="34" charset="-120"/>
              </a:rPr>
              <a:t>Topic modelling</a:t>
            </a:r>
            <a:pPr algn="l" marL="213360" indent="-213360">
              <a:lnSpc>
                <a:spcPct val="133000"/>
              </a:lnSpc>
              <a:buSzPct val="100000"/>
              <a:buChar char="•"/>
            </a:pPr>
            <a:r>
              <a:rPr lang="en-US" sz="1050" dirty="0">
                <a:solidFill>
                  <a:srgbClr val="E0E4E6"/>
                </a:solidFill>
                <a:latin typeface="Barlow" pitchFamily="34" charset="0"/>
                <a:ea typeface="Barlow" pitchFamily="34" charset="-122"/>
                <a:cs typeface="Barlow" pitchFamily="34" charset="-120"/>
              </a:rPr>
              <a:t> — discovering themes across thousands of articles.</a:t>
            </a:r>
            <a:endParaRPr lang="en-US" sz="1050" dirty="0"/>
          </a:p>
        </p:txBody>
      </p:sp>
      <p:sp>
        <p:nvSpPr>
          <p:cNvPr id="8" name="Text 6"/>
          <p:cNvSpPr/>
          <p:nvPr/>
        </p:nvSpPr>
        <p:spPr>
          <a:xfrm>
            <a:off x="4744715" y="1777380"/>
            <a:ext cx="3853383" cy="191244"/>
          </a:xfrm>
          <a:prstGeom prst="rect">
            <a:avLst/>
          </a:prstGeom>
          <a:noFill/>
          <a:ln/>
        </p:spPr>
        <p:txBody>
          <a:bodyPr wrap="none" lIns="0" tIns="0" rIns="0" bIns="0" rtlCol="0" anchor="t"/>
          <a:lstStyle/>
          <a:p>
            <a:pPr algn="l" indent="0" marL="0">
              <a:lnSpc>
                <a:spcPct val="104000"/>
              </a:lnSpc>
              <a:buNone/>
            </a:pPr>
            <a:r>
              <a:rPr lang="en-US" sz="1200" b="1" dirty="0">
                <a:solidFill>
                  <a:srgbClr val="F0FCFF"/>
                </a:solidFill>
                <a:latin typeface="Spline Sans Bold" pitchFamily="34" charset="0"/>
                <a:ea typeface="Spline Sans Bold" pitchFamily="34" charset="-122"/>
                <a:cs typeface="Spline Sans Bold" pitchFamily="34" charset="-120"/>
              </a:rPr>
              <a:t>Reinforcement Learning (RL)</a:t>
            </a:r>
            <a:endParaRPr lang="en-US" sz="1200" dirty="0"/>
          </a:p>
        </p:txBody>
      </p:sp>
      <p:sp>
        <p:nvSpPr>
          <p:cNvPr id="9" name="Text 7"/>
          <p:cNvSpPr/>
          <p:nvPr/>
        </p:nvSpPr>
        <p:spPr>
          <a:xfrm>
            <a:off x="4744715" y="2106290"/>
            <a:ext cx="3853383" cy="881063"/>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An agent learns by trial and error: it takes actions in an environment, receives a reward (or penalty), and gradually learns which actions maximise the reward. Think of training a dog — good behaviour gets a treat.</a:t>
            </a:r>
            <a:endParaRPr lang="en-US" sz="1050" dirty="0"/>
          </a:p>
        </p:txBody>
      </p:sp>
      <p:sp>
        <p:nvSpPr>
          <p:cNvPr id="10" name="Text 8"/>
          <p:cNvSpPr/>
          <p:nvPr/>
        </p:nvSpPr>
        <p:spPr>
          <a:xfrm>
            <a:off x="4744715" y="3111252"/>
            <a:ext cx="3853383" cy="1197620"/>
          </a:xfrm>
          <a:prstGeom prst="rect">
            <a:avLst/>
          </a:prstGeom>
          <a:noFill/>
          <a:ln/>
        </p:spPr>
        <p:txBody>
          <a:bodyPr wrap="square" lIns="0" tIns="0" rIns="0" bIns="0" rtlCol="0" anchor="t">
            <a:normAutofit/>
          </a:bodyPr>
          <a:lstStyle/>
          <a:p>
            <a:pPr algn="l" marL="213360" indent="-213360">
              <a:lnSpc>
                <a:spcPct val="133000"/>
              </a:lnSpc>
              <a:buSzPct val="100000"/>
              <a:buChar char="•"/>
            </a:pPr>
            <a:r>
              <a:rPr lang="en-US" sz="1050" b="1" dirty="0">
                <a:solidFill>
                  <a:srgbClr val="E0E4E6"/>
                </a:solidFill>
                <a:latin typeface="Barlow Bold" pitchFamily="34" charset="0"/>
                <a:ea typeface="Barlow Bold" pitchFamily="34" charset="-122"/>
                <a:cs typeface="Barlow Bold" pitchFamily="34" charset="-120"/>
              </a:rPr>
              <a:t>AlphaGo / AlphaZero</a:t>
            </a:r>
            <a:pPr algn="l" marL="213360" indent="-213360">
              <a:lnSpc>
                <a:spcPct val="133000"/>
              </a:lnSpc>
              <a:buSzPct val="100000"/>
              <a:buChar char="•"/>
            </a:pPr>
            <a:r>
              <a:rPr lang="en-US" sz="1050" dirty="0">
                <a:solidFill>
                  <a:srgbClr val="E0E4E6"/>
                </a:solidFill>
                <a:latin typeface="Barlow" pitchFamily="34" charset="0"/>
                <a:ea typeface="Barlow" pitchFamily="34" charset="-122"/>
                <a:cs typeface="Barlow" pitchFamily="34" charset="-120"/>
              </a:rPr>
              <a:t> — mastered Go by playing millions of games against itself.</a:t>
            </a:r>
            <a:endParaRPr lang="en-US" sz="1050" dirty="0"/>
          </a:p>
          <a:p>
            <a:pPr algn="l" marL="213360" indent="-213360">
              <a:lnSpc>
                <a:spcPct val="133000"/>
              </a:lnSpc>
              <a:buSzPct val="100000"/>
              <a:buChar char="•"/>
            </a:pPr>
            <a:r>
              <a:rPr lang="en-US" sz="1050" b="1" dirty="0">
                <a:solidFill>
                  <a:srgbClr val="E0E4E6"/>
                </a:solidFill>
                <a:latin typeface="Barlow Bold" pitchFamily="34" charset="0"/>
                <a:ea typeface="Barlow Bold" pitchFamily="34" charset="-122"/>
                <a:cs typeface="Barlow Bold" pitchFamily="34" charset="-120"/>
              </a:rPr>
              <a:t>ChatGPT training</a:t>
            </a:r>
            <a:pPr algn="l" marL="213360" indent="-213360">
              <a:lnSpc>
                <a:spcPct val="133000"/>
              </a:lnSpc>
              <a:buSzPct val="100000"/>
              <a:buChar char="•"/>
            </a:pPr>
            <a:r>
              <a:rPr lang="en-US" sz="1050" dirty="0">
                <a:solidFill>
                  <a:srgbClr val="E0E4E6"/>
                </a:solidFill>
                <a:latin typeface="Barlow" pitchFamily="34" charset="0"/>
                <a:ea typeface="Barlow" pitchFamily="34" charset="-122"/>
                <a:cs typeface="Barlow" pitchFamily="34" charset="-120"/>
              </a:rPr>
              <a:t> — RLHF uses human feedback as a reward signal.</a:t>
            </a:r>
            <a:endParaRPr lang="en-US" sz="1050" dirty="0"/>
          </a:p>
          <a:p>
            <a:pPr algn="l" marL="213360" indent="-213360">
              <a:lnSpc>
                <a:spcPct val="133000"/>
              </a:lnSpc>
              <a:buSzPct val="100000"/>
              <a:buChar char="•"/>
            </a:pPr>
            <a:r>
              <a:rPr lang="en-US" sz="1050" b="1" dirty="0">
                <a:solidFill>
                  <a:srgbClr val="E0E4E6"/>
                </a:solidFill>
                <a:latin typeface="Barlow Bold" pitchFamily="34" charset="0"/>
                <a:ea typeface="Barlow Bold" pitchFamily="34" charset="-122"/>
                <a:cs typeface="Barlow Bold" pitchFamily="34" charset="-120"/>
              </a:rPr>
              <a:t>Robotics</a:t>
            </a:r>
            <a:pPr algn="l" marL="213360" indent="-213360">
              <a:lnSpc>
                <a:spcPct val="133000"/>
              </a:lnSpc>
              <a:buSzPct val="100000"/>
              <a:buChar char="•"/>
            </a:pPr>
            <a:r>
              <a:rPr lang="en-US" sz="1050" dirty="0">
                <a:solidFill>
                  <a:srgbClr val="E0E4E6"/>
                </a:solidFill>
                <a:latin typeface="Barlow" pitchFamily="34" charset="0"/>
                <a:ea typeface="Barlow" pitchFamily="34" charset="-122"/>
                <a:cs typeface="Barlow" pitchFamily="34" charset="-120"/>
              </a:rPr>
              <a:t> — a robot arm learns to pick up objects.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50664" y="386730"/>
            <a:ext cx="1380158" cy="209252"/>
          </a:xfrm>
          <a:prstGeom prst="roundRect">
            <a:avLst>
              <a:gd name="adj" fmla="val 78958"/>
            </a:avLst>
          </a:prstGeom>
          <a:solidFill>
            <a:srgbClr val="004D36"/>
          </a:solidFill>
          <a:ln/>
        </p:spPr>
      </p:sp>
      <p:sp>
        <p:nvSpPr>
          <p:cNvPr id="3" name="Text 1"/>
          <p:cNvSpPr/>
          <p:nvPr/>
        </p:nvSpPr>
        <p:spPr>
          <a:xfrm>
            <a:off x="633264" y="428030"/>
            <a:ext cx="1672158" cy="126653"/>
          </a:xfrm>
          <a:prstGeom prst="rect">
            <a:avLst/>
          </a:prstGeom>
          <a:noFill/>
          <a:ln/>
        </p:spPr>
        <p:txBody>
          <a:bodyPr wrap="none" lIns="0" tIns="0" rIns="0" bIns="0" rtlCol="0" anchor="t"/>
          <a:lstStyle/>
          <a:p>
            <a:pPr algn="l" indent="0" marL="0">
              <a:lnSpc>
                <a:spcPct val="96000"/>
              </a:lnSpc>
              <a:buNone/>
            </a:pPr>
            <a:r>
              <a:rPr lang="en-US" sz="850" dirty="0">
                <a:solidFill>
                  <a:srgbClr val="E0E4E6"/>
                </a:solidFill>
                <a:latin typeface="Barlow" pitchFamily="34" charset="0"/>
                <a:ea typeface="Barlow" pitchFamily="34" charset="-122"/>
                <a:cs typeface="Barlow" pitchFamily="34" charset="-120"/>
              </a:rPr>
              <a:t>MODULE 2 — SECTION 2.3</a:t>
            </a:r>
            <a:endParaRPr lang="en-US" sz="850" dirty="0"/>
          </a:p>
        </p:txBody>
      </p:sp>
      <p:sp>
        <p:nvSpPr>
          <p:cNvPr id="4" name="Text 2"/>
          <p:cNvSpPr/>
          <p:nvPr/>
        </p:nvSpPr>
        <p:spPr>
          <a:xfrm>
            <a:off x="550664" y="651049"/>
            <a:ext cx="8042672" cy="382488"/>
          </a:xfrm>
          <a:prstGeom prst="rect">
            <a:avLst/>
          </a:prstGeom>
          <a:noFill/>
          <a:ln/>
        </p:spPr>
        <p:txBody>
          <a:bodyPr wrap="none" lIns="0" tIns="0" rIns="0" bIns="0" rtlCol="0" anchor="t"/>
          <a:lstStyle/>
          <a:p>
            <a:pPr algn="l" indent="0" marL="0">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The ML Workflow</a:t>
            </a:r>
            <a:endParaRPr lang="en-US" sz="2400" dirty="0"/>
          </a:p>
        </p:txBody>
      </p:sp>
      <p:pic>
        <p:nvPicPr>
          <p:cNvPr id="5" name="Image 0" descr="preencoded.png">    </p:cNvPr>
          <p:cNvPicPr>
            <a:picLocks noChangeAspect="1"/>
          </p:cNvPicPr>
          <p:nvPr/>
        </p:nvPicPr>
        <p:blipFill>
          <a:blip r:embed="rId1"/>
          <a:stretch>
            <a:fillRect/>
          </a:stretch>
        </p:blipFill>
        <p:spPr>
          <a:xfrm>
            <a:off x="679475" y="1240036"/>
            <a:ext cx="7785050" cy="2921273"/>
          </a:xfrm>
          <a:prstGeom prst="rect">
            <a:avLst/>
          </a:prstGeom>
        </p:spPr>
      </p:pic>
      <p:sp>
        <p:nvSpPr>
          <p:cNvPr id="6" name="Text 3"/>
          <p:cNvSpPr/>
          <p:nvPr/>
        </p:nvSpPr>
        <p:spPr>
          <a:xfrm>
            <a:off x="6969693" y="3464709"/>
            <a:ext cx="1174204" cy="201062"/>
          </a:xfrm>
          <a:prstGeom prst="rect">
            <a:avLst/>
          </a:prstGeom>
          <a:noFill/>
          <a:ln/>
        </p:spPr>
        <p:txBody>
          <a:bodyPr wrap="none" lIns="0" tIns="0" rIns="0" bIns="0" rtlCol="0" anchor="t"/>
          <a:lstStyle/>
          <a:p>
            <a:pPr algn="ctr" indent="0" marL="0">
              <a:lnSpc>
                <a:spcPct val="104000"/>
              </a:lnSpc>
              <a:buNone/>
            </a:pPr>
            <a:r>
              <a:rPr lang="en-US" sz="1250" b="1" dirty="0">
                <a:solidFill>
                  <a:srgbClr val="E0E4E6"/>
                </a:solidFill>
                <a:latin typeface="Spline Sans Bold" pitchFamily="34" charset="0"/>
                <a:ea typeface="Spline Sans Bold" pitchFamily="34" charset="-122"/>
                <a:cs typeface="Spline Sans Bold" pitchFamily="34" charset="-120"/>
              </a:rPr>
              <a:t>Evaluate</a:t>
            </a:r>
            <a:endParaRPr lang="en-US" sz="1250" dirty="0"/>
          </a:p>
        </p:txBody>
      </p:sp>
      <p:sp>
        <p:nvSpPr>
          <p:cNvPr id="7" name="Text 4"/>
          <p:cNvSpPr/>
          <p:nvPr/>
        </p:nvSpPr>
        <p:spPr>
          <a:xfrm>
            <a:off x="5489874" y="3464709"/>
            <a:ext cx="1174204" cy="201062"/>
          </a:xfrm>
          <a:prstGeom prst="rect">
            <a:avLst/>
          </a:prstGeom>
          <a:noFill/>
          <a:ln/>
        </p:spPr>
        <p:txBody>
          <a:bodyPr wrap="none" lIns="0" tIns="0" rIns="0" bIns="0" rtlCol="0" anchor="t"/>
          <a:lstStyle/>
          <a:p>
            <a:pPr algn="ctr" indent="0" marL="0">
              <a:lnSpc>
                <a:spcPct val="104000"/>
              </a:lnSpc>
              <a:buNone/>
            </a:pPr>
            <a:r>
              <a:rPr lang="en-US" sz="1250" b="1" dirty="0">
                <a:solidFill>
                  <a:srgbClr val="E0E4E6"/>
                </a:solidFill>
                <a:latin typeface="Spline Sans Bold" pitchFamily="34" charset="0"/>
                <a:ea typeface="Spline Sans Bold" pitchFamily="34" charset="-122"/>
                <a:cs typeface="Spline Sans Bold" pitchFamily="34" charset="-120"/>
              </a:rPr>
              <a:t>Train</a:t>
            </a:r>
            <a:endParaRPr lang="en-US" sz="1250" dirty="0"/>
          </a:p>
        </p:txBody>
      </p:sp>
      <p:sp>
        <p:nvSpPr>
          <p:cNvPr id="8" name="Text 5"/>
          <p:cNvSpPr/>
          <p:nvPr/>
        </p:nvSpPr>
        <p:spPr>
          <a:xfrm>
            <a:off x="4018097" y="3464709"/>
            <a:ext cx="1174204" cy="201062"/>
          </a:xfrm>
          <a:prstGeom prst="rect">
            <a:avLst/>
          </a:prstGeom>
          <a:noFill/>
          <a:ln/>
        </p:spPr>
        <p:txBody>
          <a:bodyPr wrap="none" lIns="0" tIns="0" rIns="0" bIns="0" rtlCol="0" anchor="t"/>
          <a:lstStyle/>
          <a:p>
            <a:pPr algn="ctr" indent="0" marL="0">
              <a:lnSpc>
                <a:spcPct val="104000"/>
              </a:lnSpc>
              <a:buNone/>
            </a:pPr>
            <a:r>
              <a:rPr lang="en-US" sz="1250" b="1" dirty="0">
                <a:solidFill>
                  <a:srgbClr val="E0E4E6"/>
                </a:solidFill>
                <a:latin typeface="Spline Sans Bold" pitchFamily="34" charset="0"/>
                <a:ea typeface="Spline Sans Bold" pitchFamily="34" charset="-122"/>
                <a:cs typeface="Spline Sans Bold" pitchFamily="34" charset="-120"/>
              </a:rPr>
              <a:t>Choose</a:t>
            </a:r>
            <a:endParaRPr lang="en-US" sz="1250" dirty="0"/>
          </a:p>
        </p:txBody>
      </p:sp>
      <p:sp>
        <p:nvSpPr>
          <p:cNvPr id="9" name="Text 6"/>
          <p:cNvSpPr/>
          <p:nvPr/>
        </p:nvSpPr>
        <p:spPr>
          <a:xfrm>
            <a:off x="2546321" y="3464709"/>
            <a:ext cx="1174204" cy="201062"/>
          </a:xfrm>
          <a:prstGeom prst="rect">
            <a:avLst/>
          </a:prstGeom>
          <a:noFill/>
          <a:ln/>
        </p:spPr>
        <p:txBody>
          <a:bodyPr wrap="none" lIns="0" tIns="0" rIns="0" bIns="0" rtlCol="0" anchor="t"/>
          <a:lstStyle/>
          <a:p>
            <a:pPr algn="ctr" indent="0" marL="0">
              <a:lnSpc>
                <a:spcPct val="104000"/>
              </a:lnSpc>
              <a:buNone/>
            </a:pPr>
            <a:r>
              <a:rPr lang="en-US" sz="1250" b="1" dirty="0">
                <a:solidFill>
                  <a:srgbClr val="E0E4E6"/>
                </a:solidFill>
                <a:latin typeface="Spline Sans Bold" pitchFamily="34" charset="0"/>
                <a:ea typeface="Spline Sans Bold" pitchFamily="34" charset="-122"/>
                <a:cs typeface="Spline Sans Bold" pitchFamily="34" charset="-120"/>
              </a:rPr>
              <a:t>Clean</a:t>
            </a:r>
            <a:endParaRPr lang="en-US" sz="1250" dirty="0"/>
          </a:p>
        </p:txBody>
      </p:sp>
      <p:sp>
        <p:nvSpPr>
          <p:cNvPr id="10" name="Text 7"/>
          <p:cNvSpPr/>
          <p:nvPr/>
        </p:nvSpPr>
        <p:spPr>
          <a:xfrm>
            <a:off x="1042375" y="3464709"/>
            <a:ext cx="1174204" cy="201062"/>
          </a:xfrm>
          <a:prstGeom prst="rect">
            <a:avLst/>
          </a:prstGeom>
          <a:noFill/>
          <a:ln/>
        </p:spPr>
        <p:txBody>
          <a:bodyPr wrap="none" lIns="0" tIns="0" rIns="0" bIns="0" rtlCol="0" anchor="t"/>
          <a:lstStyle/>
          <a:p>
            <a:pPr algn="ctr" indent="0" marL="0">
              <a:lnSpc>
                <a:spcPct val="104000"/>
              </a:lnSpc>
              <a:buNone/>
            </a:pPr>
            <a:r>
              <a:rPr lang="en-US" sz="1250" b="1" dirty="0">
                <a:solidFill>
                  <a:srgbClr val="E0E4E6"/>
                </a:solidFill>
                <a:latin typeface="Spline Sans Bold" pitchFamily="34" charset="0"/>
                <a:ea typeface="Spline Sans Bold" pitchFamily="34" charset="-122"/>
                <a:cs typeface="Spline Sans Bold" pitchFamily="34" charset="-120"/>
              </a:rPr>
              <a:t>Collect</a:t>
            </a:r>
            <a:endParaRPr lang="en-US" sz="1250" dirty="0"/>
          </a:p>
        </p:txBody>
      </p:sp>
      <p:sp>
        <p:nvSpPr>
          <p:cNvPr id="11" name="Text 8"/>
          <p:cNvSpPr/>
          <p:nvPr/>
        </p:nvSpPr>
        <p:spPr>
          <a:xfrm>
            <a:off x="550664" y="4316164"/>
            <a:ext cx="8042672" cy="440531"/>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This seven-step cycle is iterative, not linear. In practice, teams loop between steps 3–6 many times before deploying. The quality of step 1 (data collection) often determines the ceiling of what any model can achieve — garbage in, garbage out.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50664" y="622399"/>
            <a:ext cx="1384102" cy="209252"/>
          </a:xfrm>
          <a:prstGeom prst="roundRect">
            <a:avLst>
              <a:gd name="adj" fmla="val 78958"/>
            </a:avLst>
          </a:prstGeom>
          <a:solidFill>
            <a:srgbClr val="004D36"/>
          </a:solidFill>
          <a:ln/>
        </p:spPr>
      </p:sp>
      <p:sp>
        <p:nvSpPr>
          <p:cNvPr id="3" name="Text 1"/>
          <p:cNvSpPr/>
          <p:nvPr/>
        </p:nvSpPr>
        <p:spPr>
          <a:xfrm>
            <a:off x="633264" y="663699"/>
            <a:ext cx="1676102" cy="126653"/>
          </a:xfrm>
          <a:prstGeom prst="rect">
            <a:avLst/>
          </a:prstGeom>
          <a:noFill/>
          <a:ln/>
        </p:spPr>
        <p:txBody>
          <a:bodyPr wrap="none" lIns="0" tIns="0" rIns="0" bIns="0" rtlCol="0" anchor="t"/>
          <a:lstStyle/>
          <a:p>
            <a:pPr algn="l" indent="0" marL="0">
              <a:lnSpc>
                <a:spcPct val="96000"/>
              </a:lnSpc>
              <a:buNone/>
            </a:pPr>
            <a:r>
              <a:rPr lang="en-US" sz="850" dirty="0">
                <a:solidFill>
                  <a:srgbClr val="E0E4E6"/>
                </a:solidFill>
                <a:latin typeface="Barlow" pitchFamily="34" charset="0"/>
                <a:ea typeface="Barlow" pitchFamily="34" charset="-122"/>
                <a:cs typeface="Barlow" pitchFamily="34" charset="-120"/>
              </a:rPr>
              <a:t>MODULE 2 — SECTION 2.4</a:t>
            </a:r>
            <a:endParaRPr lang="en-US" sz="850" dirty="0"/>
          </a:p>
        </p:txBody>
      </p:sp>
      <p:sp>
        <p:nvSpPr>
          <p:cNvPr id="4" name="Text 2"/>
          <p:cNvSpPr/>
          <p:nvPr/>
        </p:nvSpPr>
        <p:spPr>
          <a:xfrm>
            <a:off x="550664" y="886718"/>
            <a:ext cx="8042672" cy="382488"/>
          </a:xfrm>
          <a:prstGeom prst="rect">
            <a:avLst/>
          </a:prstGeom>
          <a:noFill/>
          <a:ln/>
        </p:spPr>
        <p:txBody>
          <a:bodyPr wrap="none" lIns="0" tIns="0" rIns="0" bIns="0" rtlCol="0" anchor="t"/>
          <a:lstStyle/>
          <a:p>
            <a:pPr algn="l" indent="0" marL="0">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Overfitting vs. Underfitting</a:t>
            </a:r>
            <a:endParaRPr lang="en-US" sz="2400" dirty="0"/>
          </a:p>
        </p:txBody>
      </p:sp>
      <p:sp>
        <p:nvSpPr>
          <p:cNvPr id="5" name="Shape 3"/>
          <p:cNvSpPr/>
          <p:nvPr/>
        </p:nvSpPr>
        <p:spPr>
          <a:xfrm>
            <a:off x="550664" y="1475705"/>
            <a:ext cx="8042672" cy="2119610"/>
          </a:xfrm>
          <a:prstGeom prst="roundRect">
            <a:avLst>
              <a:gd name="adj" fmla="val 9744"/>
            </a:avLst>
          </a:prstGeom>
          <a:solidFill>
            <a:srgbClr val="0A081B"/>
          </a:solidFill>
          <a:ln w="14288">
            <a:solidFill>
              <a:srgbClr val="16FFBB"/>
            </a:solidFill>
            <a:prstDash val="solid"/>
          </a:ln>
        </p:spPr>
      </p:sp>
      <p:sp>
        <p:nvSpPr>
          <p:cNvPr id="6" name="Shape 4"/>
          <p:cNvSpPr/>
          <p:nvPr/>
        </p:nvSpPr>
        <p:spPr>
          <a:xfrm>
            <a:off x="564952" y="1489993"/>
            <a:ext cx="2671316" cy="2091035"/>
          </a:xfrm>
          <a:prstGeom prst="rect">
            <a:avLst/>
          </a:prstGeom>
          <a:solidFill>
            <a:srgbClr val="0A081B"/>
          </a:solidFill>
          <a:ln/>
        </p:spPr>
      </p:sp>
      <p:sp>
        <p:nvSpPr>
          <p:cNvPr id="7" name="Text 5"/>
          <p:cNvSpPr/>
          <p:nvPr/>
        </p:nvSpPr>
        <p:spPr>
          <a:xfrm>
            <a:off x="702618" y="1627659"/>
            <a:ext cx="2395984" cy="191244"/>
          </a:xfrm>
          <a:prstGeom prst="rect">
            <a:avLst/>
          </a:prstGeom>
          <a:noFill/>
          <a:ln/>
        </p:spPr>
        <p:txBody>
          <a:bodyPr wrap="none" lIns="0" tIns="0" rIns="0" bIns="0" rtlCol="0" anchor="t"/>
          <a:lstStyle/>
          <a:p>
            <a:pPr algn="l" indent="0" marL="0">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Overfitting</a:t>
            </a:r>
            <a:endParaRPr lang="en-US" sz="1200" dirty="0"/>
          </a:p>
        </p:txBody>
      </p:sp>
      <p:sp>
        <p:nvSpPr>
          <p:cNvPr id="8" name="Text 6"/>
          <p:cNvSpPr/>
          <p:nvPr/>
        </p:nvSpPr>
        <p:spPr>
          <a:xfrm>
            <a:off x="702618" y="1901503"/>
            <a:ext cx="2395984" cy="1541859"/>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The model memorises the training data perfectly but fails on new data — it has learned the noise, not the signal. Like a student who memorises exam answers but cannot solve new problems. Symptom: 99% training accuracy, 60% test accuracy.</a:t>
            </a:r>
            <a:endParaRPr lang="en-US" sz="1050" dirty="0"/>
          </a:p>
        </p:txBody>
      </p:sp>
      <p:sp>
        <p:nvSpPr>
          <p:cNvPr id="9" name="Shape 7"/>
          <p:cNvSpPr/>
          <p:nvPr/>
        </p:nvSpPr>
        <p:spPr>
          <a:xfrm>
            <a:off x="3236268" y="1489993"/>
            <a:ext cx="2671390" cy="2091035"/>
          </a:xfrm>
          <a:prstGeom prst="rect">
            <a:avLst/>
          </a:prstGeom>
          <a:solidFill>
            <a:srgbClr val="0A081B"/>
          </a:solidFill>
          <a:ln/>
        </p:spPr>
      </p:sp>
      <p:sp>
        <p:nvSpPr>
          <p:cNvPr id="10" name="Shape 8"/>
          <p:cNvSpPr/>
          <p:nvPr/>
        </p:nvSpPr>
        <p:spPr>
          <a:xfrm>
            <a:off x="3236268" y="1489993"/>
            <a:ext cx="19050" cy="2091035"/>
          </a:xfrm>
          <a:prstGeom prst="roundRect">
            <a:avLst>
              <a:gd name="adj" fmla="val 1084131"/>
            </a:avLst>
          </a:prstGeom>
          <a:solidFill>
            <a:srgbClr val="0FC3C0"/>
          </a:solidFill>
          <a:ln/>
        </p:spPr>
      </p:sp>
      <p:sp>
        <p:nvSpPr>
          <p:cNvPr id="11" name="Text 9"/>
          <p:cNvSpPr/>
          <p:nvPr/>
        </p:nvSpPr>
        <p:spPr>
          <a:xfrm>
            <a:off x="3373934" y="1627659"/>
            <a:ext cx="2396058" cy="191244"/>
          </a:xfrm>
          <a:prstGeom prst="rect">
            <a:avLst/>
          </a:prstGeom>
          <a:noFill/>
          <a:ln/>
        </p:spPr>
        <p:txBody>
          <a:bodyPr wrap="none" lIns="0" tIns="0" rIns="0" bIns="0" rtlCol="0" anchor="t"/>
          <a:lstStyle/>
          <a:p>
            <a:pPr algn="l" indent="0" marL="0">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The Goal</a:t>
            </a:r>
            <a:endParaRPr lang="en-US" sz="1200" dirty="0"/>
          </a:p>
        </p:txBody>
      </p:sp>
      <p:sp>
        <p:nvSpPr>
          <p:cNvPr id="12" name="Text 10"/>
          <p:cNvSpPr/>
          <p:nvPr/>
        </p:nvSpPr>
        <p:spPr>
          <a:xfrm>
            <a:off x="3373934" y="1901503"/>
            <a:ext cx="2396058" cy="881063"/>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The right balance — a model that </a:t>
            </a:r>
            <a:pPr algn="l" indent="0" marL="0">
              <a:lnSpc>
                <a:spcPct val="133000"/>
              </a:lnSpc>
              <a:buNone/>
            </a:pPr>
            <a:r>
              <a:rPr lang="en-US" sz="1050" b="1" dirty="0">
                <a:solidFill>
                  <a:srgbClr val="E0E4E6"/>
                </a:solidFill>
                <a:latin typeface="Barlow Bold" pitchFamily="34" charset="0"/>
                <a:ea typeface="Barlow Bold" pitchFamily="34" charset="-122"/>
                <a:cs typeface="Barlow Bold" pitchFamily="34" charset="-120"/>
              </a:rPr>
              <a:t>generalises</a:t>
            </a:r>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 to new, unseen examples. It captures the true underlying pattern without memorising irrelevant details.</a:t>
            </a:r>
            <a:endParaRPr lang="en-US" sz="1050" dirty="0"/>
          </a:p>
        </p:txBody>
      </p:sp>
      <p:sp>
        <p:nvSpPr>
          <p:cNvPr id="13" name="Shape 11"/>
          <p:cNvSpPr/>
          <p:nvPr/>
        </p:nvSpPr>
        <p:spPr>
          <a:xfrm>
            <a:off x="5907658" y="1489993"/>
            <a:ext cx="2671390" cy="2091035"/>
          </a:xfrm>
          <a:prstGeom prst="rect">
            <a:avLst/>
          </a:prstGeom>
          <a:solidFill>
            <a:srgbClr val="0A081B"/>
          </a:solidFill>
          <a:ln/>
        </p:spPr>
      </p:sp>
      <p:sp>
        <p:nvSpPr>
          <p:cNvPr id="14" name="Shape 12"/>
          <p:cNvSpPr/>
          <p:nvPr/>
        </p:nvSpPr>
        <p:spPr>
          <a:xfrm>
            <a:off x="5907658" y="1489993"/>
            <a:ext cx="19050" cy="2091035"/>
          </a:xfrm>
          <a:prstGeom prst="roundRect">
            <a:avLst>
              <a:gd name="adj" fmla="val 1084131"/>
            </a:avLst>
          </a:prstGeom>
          <a:solidFill>
            <a:srgbClr val="1D8DCD"/>
          </a:solidFill>
          <a:ln/>
        </p:spPr>
      </p:sp>
      <p:sp>
        <p:nvSpPr>
          <p:cNvPr id="15" name="Text 13"/>
          <p:cNvSpPr/>
          <p:nvPr/>
        </p:nvSpPr>
        <p:spPr>
          <a:xfrm>
            <a:off x="6045324" y="1627659"/>
            <a:ext cx="2396058" cy="191244"/>
          </a:xfrm>
          <a:prstGeom prst="rect">
            <a:avLst/>
          </a:prstGeom>
          <a:noFill/>
          <a:ln/>
        </p:spPr>
        <p:txBody>
          <a:bodyPr wrap="none" lIns="0" tIns="0" rIns="0" bIns="0" rtlCol="0" anchor="t"/>
          <a:lstStyle/>
          <a:p>
            <a:pPr algn="l" indent="0" marL="0">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Underfitting</a:t>
            </a:r>
            <a:endParaRPr lang="en-US" sz="1200" dirty="0"/>
          </a:p>
        </p:txBody>
      </p:sp>
      <p:sp>
        <p:nvSpPr>
          <p:cNvPr id="16" name="Text 14"/>
          <p:cNvSpPr/>
          <p:nvPr/>
        </p:nvSpPr>
        <p:spPr>
          <a:xfrm>
            <a:off x="6045324" y="1901503"/>
            <a:ext cx="2396058" cy="1101328"/>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The model is too simple to capture the real pattern — it performs poorly on both training and new data. Usually caused by choosing a model that is not expressive enough for the task.</a:t>
            </a:r>
            <a:endParaRPr lang="en-US" sz="1050" dirty="0"/>
          </a:p>
        </p:txBody>
      </p:sp>
      <p:sp>
        <p:nvSpPr>
          <p:cNvPr id="17" name="Shape 15"/>
          <p:cNvSpPr/>
          <p:nvPr/>
        </p:nvSpPr>
        <p:spPr>
          <a:xfrm>
            <a:off x="550664" y="3750171"/>
            <a:ext cx="8042672" cy="770855"/>
          </a:xfrm>
          <a:prstGeom prst="roundRect">
            <a:avLst>
              <a:gd name="adj" fmla="val 26792"/>
            </a:avLst>
          </a:prstGeom>
          <a:solidFill>
            <a:srgbClr val="022349"/>
          </a:solidFill>
          <a:ln/>
        </p:spPr>
      </p:sp>
      <p:pic>
        <p:nvPicPr>
          <p:cNvPr id="18" name="Image 0" descr="preencoded.png">    </p:cNvPr>
          <p:cNvPicPr>
            <a:picLocks noChangeAspect="1"/>
          </p:cNvPicPr>
          <p:nvPr/>
        </p:nvPicPr>
        <p:blipFill>
          <a:blip r:embed="rId1"/>
          <a:stretch>
            <a:fillRect/>
          </a:stretch>
        </p:blipFill>
        <p:spPr>
          <a:xfrm>
            <a:off x="688330" y="3949378"/>
            <a:ext cx="172045" cy="137666"/>
          </a:xfrm>
          <a:prstGeom prst="rect">
            <a:avLst/>
          </a:prstGeom>
        </p:spPr>
      </p:pic>
      <p:sp>
        <p:nvSpPr>
          <p:cNvPr id="19" name="Text 16"/>
          <p:cNvSpPr/>
          <p:nvPr/>
        </p:nvSpPr>
        <p:spPr>
          <a:xfrm>
            <a:off x="998041" y="3922216"/>
            <a:ext cx="7457629" cy="440531"/>
          </a:xfrm>
          <a:prstGeom prst="rect">
            <a:avLst/>
          </a:prstGeom>
          <a:noFill/>
          <a:ln/>
        </p:spPr>
        <p:txBody>
          <a:bodyPr wrap="square" lIns="0" tIns="0" rIns="0" bIns="0" rtlCol="0" anchor="t">
            <a:normAutofit/>
          </a:bodyPr>
          <a:lstStyle/>
          <a:p>
            <a:pPr algn="l" indent="0" marL="0">
              <a:lnSpc>
                <a:spcPct val="133000"/>
              </a:lnSpc>
              <a:buNone/>
            </a:pPr>
            <a:r>
              <a:rPr lang="en-US" sz="1050" b="1" dirty="0">
                <a:solidFill>
                  <a:srgbClr val="FFFFFF"/>
                </a:solidFill>
                <a:latin typeface="Barlow Bold" pitchFamily="34" charset="0"/>
                <a:ea typeface="Barlow Bold" pitchFamily="34" charset="-122"/>
                <a:cs typeface="Barlow Bold" pitchFamily="34" charset="-120"/>
              </a:rPr>
              <a:t>Practical Tip:</a:t>
            </a:r>
            <a:pPr algn="l" indent="0" marL="0">
              <a:lnSpc>
                <a:spcPct val="133000"/>
              </a:lnSpc>
              <a:buNone/>
            </a:pPr>
            <a:r>
              <a:rPr lang="en-US" sz="1050" dirty="0">
                <a:solidFill>
                  <a:srgbClr val="FFFFFF"/>
                </a:solidFill>
                <a:latin typeface="Barlow" pitchFamily="34" charset="0"/>
                <a:ea typeface="Barlow" pitchFamily="34" charset="-122"/>
                <a:cs typeface="Barlow" pitchFamily="34" charset="-120"/>
              </a:rPr>
              <a:t> If your model scores 99% on training data but 60% on test data, it is overfitting. Add more training data or use regularisation techniques.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50664" y="860896"/>
            <a:ext cx="659532" cy="209252"/>
          </a:xfrm>
          <a:prstGeom prst="roundRect">
            <a:avLst>
              <a:gd name="adj" fmla="val 78958"/>
            </a:avLst>
          </a:prstGeom>
          <a:solidFill>
            <a:srgbClr val="004D36"/>
          </a:solidFill>
          <a:ln/>
        </p:spPr>
      </p:sp>
      <p:sp>
        <p:nvSpPr>
          <p:cNvPr id="3" name="Text 1"/>
          <p:cNvSpPr/>
          <p:nvPr/>
        </p:nvSpPr>
        <p:spPr>
          <a:xfrm>
            <a:off x="633264" y="902196"/>
            <a:ext cx="951533" cy="126653"/>
          </a:xfrm>
          <a:prstGeom prst="rect">
            <a:avLst/>
          </a:prstGeom>
          <a:noFill/>
          <a:ln/>
        </p:spPr>
        <p:txBody>
          <a:bodyPr wrap="none" lIns="0" tIns="0" rIns="0" bIns="0" rtlCol="0" anchor="t"/>
          <a:lstStyle/>
          <a:p>
            <a:pPr algn="l" indent="0" marL="0">
              <a:lnSpc>
                <a:spcPct val="96000"/>
              </a:lnSpc>
              <a:buNone/>
            </a:pPr>
            <a:r>
              <a:rPr lang="en-US" sz="850" dirty="0">
                <a:solidFill>
                  <a:srgbClr val="E0E4E6"/>
                </a:solidFill>
                <a:latin typeface="Barlow" pitchFamily="34" charset="0"/>
                <a:ea typeface="Barlow" pitchFamily="34" charset="-122"/>
                <a:cs typeface="Barlow" pitchFamily="34" charset="-120"/>
              </a:rPr>
              <a:t>MODULE 3</a:t>
            </a:r>
            <a:endParaRPr lang="en-US" sz="850" dirty="0"/>
          </a:p>
        </p:txBody>
      </p:sp>
      <p:sp>
        <p:nvSpPr>
          <p:cNvPr id="4" name="Text 2"/>
          <p:cNvSpPr/>
          <p:nvPr/>
        </p:nvSpPr>
        <p:spPr>
          <a:xfrm>
            <a:off x="550664" y="1125215"/>
            <a:ext cx="8042672" cy="382488"/>
          </a:xfrm>
          <a:prstGeom prst="rect">
            <a:avLst/>
          </a:prstGeom>
          <a:noFill/>
          <a:ln/>
        </p:spPr>
        <p:txBody>
          <a:bodyPr wrap="none" lIns="0" tIns="0" rIns="0" bIns="0" rtlCol="0" anchor="t"/>
          <a:lstStyle/>
          <a:p>
            <a:pPr algn="l" indent="0" marL="0">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The Math Layer — Key Formulas Explained</a:t>
            </a:r>
            <a:endParaRPr lang="en-US" sz="2400" dirty="0"/>
          </a:p>
        </p:txBody>
      </p:sp>
      <p:sp>
        <p:nvSpPr>
          <p:cNvPr id="5" name="Text 3"/>
          <p:cNvSpPr/>
          <p:nvPr/>
        </p:nvSpPr>
        <p:spPr>
          <a:xfrm>
            <a:off x="550664" y="1714202"/>
            <a:ext cx="8042672" cy="660797"/>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You do not need a maths degree to understand AI, but knowing a handful of formulas gives you a much stronger mental model of how things work. Each formula in this module is shown with a plain-English explanation and a concrete numerical example. Think of these as the grammar rules of the language that AI speaks.</a:t>
            </a:r>
            <a:endParaRPr lang="en-US" sz="1050" dirty="0"/>
          </a:p>
        </p:txBody>
      </p:sp>
      <p:sp>
        <p:nvSpPr>
          <p:cNvPr id="6" name="Shape 4"/>
          <p:cNvSpPr/>
          <p:nvPr/>
        </p:nvSpPr>
        <p:spPr>
          <a:xfrm>
            <a:off x="550664" y="2529855"/>
            <a:ext cx="2589088" cy="807541"/>
          </a:xfrm>
          <a:prstGeom prst="roundRect">
            <a:avLst>
              <a:gd name="adj" fmla="val 25575"/>
            </a:avLst>
          </a:prstGeom>
          <a:solidFill>
            <a:srgbClr val="0A081B">
              <a:alpha val="75000"/>
            </a:srgbClr>
          </a:solidFill>
          <a:ln w="19050">
            <a:solidFill>
              <a:srgbClr val="16FFBB"/>
            </a:solidFill>
            <a:prstDash val="solid"/>
          </a:ln>
        </p:spPr>
      </p:sp>
      <p:sp>
        <p:nvSpPr>
          <p:cNvPr id="7" name="Text 5"/>
          <p:cNvSpPr/>
          <p:nvPr/>
        </p:nvSpPr>
        <p:spPr>
          <a:xfrm>
            <a:off x="707380" y="2686571"/>
            <a:ext cx="2275656" cy="191244"/>
          </a:xfrm>
          <a:prstGeom prst="rect">
            <a:avLst/>
          </a:prstGeom>
          <a:noFill/>
          <a:ln/>
        </p:spPr>
        <p:txBody>
          <a:bodyPr wrap="none" lIns="0" tIns="0" rIns="0" bIns="0" rtlCol="0" anchor="t"/>
          <a:lstStyle/>
          <a:p>
            <a:pPr algn="l" indent="0" marL="0">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Vectors</a:t>
            </a:r>
            <a:endParaRPr lang="en-US" sz="1200" dirty="0"/>
          </a:p>
        </p:txBody>
      </p:sp>
      <p:sp>
        <p:nvSpPr>
          <p:cNvPr id="8" name="Text 6"/>
          <p:cNvSpPr/>
          <p:nvPr/>
        </p:nvSpPr>
        <p:spPr>
          <a:xfrm>
            <a:off x="707380" y="2960415"/>
            <a:ext cx="2275656"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Representing data as numbers</a:t>
            </a:r>
            <a:endParaRPr lang="en-US" sz="1050" dirty="0"/>
          </a:p>
        </p:txBody>
      </p:sp>
      <p:sp>
        <p:nvSpPr>
          <p:cNvPr id="9" name="Shape 7"/>
          <p:cNvSpPr/>
          <p:nvPr/>
        </p:nvSpPr>
        <p:spPr>
          <a:xfrm>
            <a:off x="3277419" y="2529855"/>
            <a:ext cx="2589088" cy="807541"/>
          </a:xfrm>
          <a:prstGeom prst="roundRect">
            <a:avLst>
              <a:gd name="adj" fmla="val 25575"/>
            </a:avLst>
          </a:prstGeom>
          <a:solidFill>
            <a:srgbClr val="0A081B">
              <a:alpha val="75000"/>
            </a:srgbClr>
          </a:solidFill>
          <a:ln w="19050">
            <a:solidFill>
              <a:srgbClr val="29DDDA"/>
            </a:solidFill>
            <a:prstDash val="solid"/>
          </a:ln>
        </p:spPr>
      </p:sp>
      <p:sp>
        <p:nvSpPr>
          <p:cNvPr id="10" name="Text 8"/>
          <p:cNvSpPr/>
          <p:nvPr/>
        </p:nvSpPr>
        <p:spPr>
          <a:xfrm>
            <a:off x="3434135" y="2686571"/>
            <a:ext cx="2275656" cy="191244"/>
          </a:xfrm>
          <a:prstGeom prst="rect">
            <a:avLst/>
          </a:prstGeom>
          <a:noFill/>
          <a:ln/>
        </p:spPr>
        <p:txBody>
          <a:bodyPr wrap="none" lIns="0" tIns="0" rIns="0" bIns="0" rtlCol="0" anchor="t"/>
          <a:lstStyle/>
          <a:p>
            <a:pPr algn="l" indent="0" marL="0">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Dot Product</a:t>
            </a:r>
            <a:endParaRPr lang="en-US" sz="1200" dirty="0"/>
          </a:p>
        </p:txBody>
      </p:sp>
      <p:sp>
        <p:nvSpPr>
          <p:cNvPr id="11" name="Text 9"/>
          <p:cNvSpPr/>
          <p:nvPr/>
        </p:nvSpPr>
        <p:spPr>
          <a:xfrm>
            <a:off x="3434135" y="2960415"/>
            <a:ext cx="2275656"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Similarity and weighting</a:t>
            </a:r>
            <a:endParaRPr lang="en-US" sz="1050" dirty="0"/>
          </a:p>
        </p:txBody>
      </p:sp>
      <p:sp>
        <p:nvSpPr>
          <p:cNvPr id="12" name="Shape 10"/>
          <p:cNvSpPr/>
          <p:nvPr/>
        </p:nvSpPr>
        <p:spPr>
          <a:xfrm>
            <a:off x="6004173" y="2529855"/>
            <a:ext cx="2589088" cy="807541"/>
          </a:xfrm>
          <a:prstGeom prst="roundRect">
            <a:avLst>
              <a:gd name="adj" fmla="val 25575"/>
            </a:avLst>
          </a:prstGeom>
          <a:solidFill>
            <a:srgbClr val="0A081B">
              <a:alpha val="75000"/>
            </a:srgbClr>
          </a:solidFill>
          <a:ln w="19050">
            <a:solidFill>
              <a:srgbClr val="37A7E7"/>
            </a:solidFill>
            <a:prstDash val="solid"/>
          </a:ln>
        </p:spPr>
      </p:sp>
      <p:sp>
        <p:nvSpPr>
          <p:cNvPr id="13" name="Text 11"/>
          <p:cNvSpPr/>
          <p:nvPr/>
        </p:nvSpPr>
        <p:spPr>
          <a:xfrm>
            <a:off x="6160889" y="2686571"/>
            <a:ext cx="2275656" cy="191244"/>
          </a:xfrm>
          <a:prstGeom prst="rect">
            <a:avLst/>
          </a:prstGeom>
          <a:noFill/>
          <a:ln/>
        </p:spPr>
        <p:txBody>
          <a:bodyPr wrap="none" lIns="0" tIns="0" rIns="0" bIns="0" rtlCol="0" anchor="t"/>
          <a:lstStyle/>
          <a:p>
            <a:pPr algn="l" indent="0" marL="0">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Neuron Formula</a:t>
            </a:r>
            <a:endParaRPr lang="en-US" sz="1200" dirty="0"/>
          </a:p>
        </p:txBody>
      </p:sp>
      <p:sp>
        <p:nvSpPr>
          <p:cNvPr id="14" name="Text 12"/>
          <p:cNvSpPr/>
          <p:nvPr/>
        </p:nvSpPr>
        <p:spPr>
          <a:xfrm>
            <a:off x="6160889" y="2960415"/>
            <a:ext cx="2275656"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The core computation unit</a:t>
            </a:r>
            <a:endParaRPr lang="en-US" sz="1050" dirty="0"/>
          </a:p>
        </p:txBody>
      </p:sp>
      <p:sp>
        <p:nvSpPr>
          <p:cNvPr id="15" name="Shape 13"/>
          <p:cNvSpPr/>
          <p:nvPr/>
        </p:nvSpPr>
        <p:spPr>
          <a:xfrm>
            <a:off x="550664" y="3475062"/>
            <a:ext cx="3952429" cy="807541"/>
          </a:xfrm>
          <a:prstGeom prst="roundRect">
            <a:avLst>
              <a:gd name="adj" fmla="val 25575"/>
            </a:avLst>
          </a:prstGeom>
          <a:solidFill>
            <a:srgbClr val="0A081B">
              <a:alpha val="75000"/>
            </a:srgbClr>
          </a:solidFill>
          <a:ln w="19050">
            <a:solidFill>
              <a:srgbClr val="091231"/>
            </a:solidFill>
            <a:prstDash val="solid"/>
          </a:ln>
        </p:spPr>
      </p:sp>
      <p:sp>
        <p:nvSpPr>
          <p:cNvPr id="16" name="Text 14"/>
          <p:cNvSpPr/>
          <p:nvPr/>
        </p:nvSpPr>
        <p:spPr>
          <a:xfrm>
            <a:off x="707380" y="3631778"/>
            <a:ext cx="3638996" cy="191244"/>
          </a:xfrm>
          <a:prstGeom prst="rect">
            <a:avLst/>
          </a:prstGeom>
          <a:noFill/>
          <a:ln/>
        </p:spPr>
        <p:txBody>
          <a:bodyPr wrap="none" lIns="0" tIns="0" rIns="0" bIns="0" rtlCol="0" anchor="t"/>
          <a:lstStyle/>
          <a:p>
            <a:pPr algn="l" indent="0" marL="0">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Loss Functions</a:t>
            </a:r>
            <a:endParaRPr lang="en-US" sz="1200" dirty="0"/>
          </a:p>
        </p:txBody>
      </p:sp>
      <p:sp>
        <p:nvSpPr>
          <p:cNvPr id="17" name="Text 15"/>
          <p:cNvSpPr/>
          <p:nvPr/>
        </p:nvSpPr>
        <p:spPr>
          <a:xfrm>
            <a:off x="707380" y="3905622"/>
            <a:ext cx="3638996"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Measuring how wrong the model is</a:t>
            </a:r>
            <a:endParaRPr lang="en-US" sz="1050" dirty="0"/>
          </a:p>
        </p:txBody>
      </p:sp>
      <p:sp>
        <p:nvSpPr>
          <p:cNvPr id="18" name="Shape 16"/>
          <p:cNvSpPr/>
          <p:nvPr/>
        </p:nvSpPr>
        <p:spPr>
          <a:xfrm>
            <a:off x="4640759" y="3475062"/>
            <a:ext cx="3952503" cy="807541"/>
          </a:xfrm>
          <a:prstGeom prst="roundRect">
            <a:avLst>
              <a:gd name="adj" fmla="val 25575"/>
            </a:avLst>
          </a:prstGeom>
          <a:solidFill>
            <a:srgbClr val="0A081B">
              <a:alpha val="75000"/>
            </a:srgbClr>
          </a:solidFill>
          <a:ln w="19050">
            <a:solidFill>
              <a:srgbClr val="16FFBB"/>
            </a:solidFill>
            <a:prstDash val="solid"/>
          </a:ln>
        </p:spPr>
      </p:sp>
      <p:sp>
        <p:nvSpPr>
          <p:cNvPr id="19" name="Text 17"/>
          <p:cNvSpPr/>
          <p:nvPr/>
        </p:nvSpPr>
        <p:spPr>
          <a:xfrm>
            <a:off x="4797475" y="3631778"/>
            <a:ext cx="3639071" cy="191244"/>
          </a:xfrm>
          <a:prstGeom prst="rect">
            <a:avLst/>
          </a:prstGeom>
          <a:noFill/>
          <a:ln/>
        </p:spPr>
        <p:txBody>
          <a:bodyPr wrap="none" lIns="0" tIns="0" rIns="0" bIns="0" rtlCol="0" anchor="t"/>
          <a:lstStyle/>
          <a:p>
            <a:pPr algn="l" indent="0" marL="0">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Gradient Descent</a:t>
            </a:r>
            <a:endParaRPr lang="en-US" sz="1200" dirty="0"/>
          </a:p>
        </p:txBody>
      </p:sp>
      <p:sp>
        <p:nvSpPr>
          <p:cNvPr id="20" name="Text 18"/>
          <p:cNvSpPr/>
          <p:nvPr/>
        </p:nvSpPr>
        <p:spPr>
          <a:xfrm>
            <a:off x="4797475" y="3905622"/>
            <a:ext cx="3639071"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How models learn</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50664" y="947886"/>
            <a:ext cx="1357387" cy="209252"/>
          </a:xfrm>
          <a:prstGeom prst="roundRect">
            <a:avLst>
              <a:gd name="adj" fmla="val 78958"/>
            </a:avLst>
          </a:prstGeom>
          <a:solidFill>
            <a:srgbClr val="004D36"/>
          </a:solidFill>
          <a:ln/>
        </p:spPr>
      </p:sp>
      <p:sp>
        <p:nvSpPr>
          <p:cNvPr id="3" name="Text 1"/>
          <p:cNvSpPr/>
          <p:nvPr/>
        </p:nvSpPr>
        <p:spPr>
          <a:xfrm>
            <a:off x="633264" y="989186"/>
            <a:ext cx="1649388" cy="126653"/>
          </a:xfrm>
          <a:prstGeom prst="rect">
            <a:avLst/>
          </a:prstGeom>
          <a:noFill/>
          <a:ln/>
        </p:spPr>
        <p:txBody>
          <a:bodyPr wrap="none" lIns="0" tIns="0" rIns="0" bIns="0" rtlCol="0" anchor="t"/>
          <a:lstStyle/>
          <a:p>
            <a:pPr algn="l" indent="0" marL="0">
              <a:lnSpc>
                <a:spcPct val="96000"/>
              </a:lnSpc>
              <a:buNone/>
            </a:pPr>
            <a:r>
              <a:rPr lang="en-US" sz="850" dirty="0">
                <a:solidFill>
                  <a:srgbClr val="E0E4E6"/>
                </a:solidFill>
                <a:latin typeface="Barlow" pitchFamily="34" charset="0"/>
                <a:ea typeface="Barlow" pitchFamily="34" charset="-122"/>
                <a:cs typeface="Barlow" pitchFamily="34" charset="-120"/>
              </a:rPr>
              <a:t>MODULE 3 — SECTION 3.1</a:t>
            </a:r>
            <a:endParaRPr lang="en-US" sz="850" dirty="0"/>
          </a:p>
        </p:txBody>
      </p:sp>
      <p:sp>
        <p:nvSpPr>
          <p:cNvPr id="4" name="Text 2"/>
          <p:cNvSpPr/>
          <p:nvPr/>
        </p:nvSpPr>
        <p:spPr>
          <a:xfrm>
            <a:off x="550664" y="1212205"/>
            <a:ext cx="8042672" cy="382488"/>
          </a:xfrm>
          <a:prstGeom prst="rect">
            <a:avLst/>
          </a:prstGeom>
          <a:noFill/>
          <a:ln/>
        </p:spPr>
        <p:txBody>
          <a:bodyPr wrap="none" lIns="0" tIns="0" rIns="0" bIns="0" rtlCol="0" anchor="t"/>
          <a:lstStyle/>
          <a:p>
            <a:pPr algn="l" indent="0" marL="0">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Vectors — Representing Data as Numbers</a:t>
            </a:r>
            <a:endParaRPr lang="en-US" sz="2400" dirty="0"/>
          </a:p>
        </p:txBody>
      </p:sp>
      <p:sp>
        <p:nvSpPr>
          <p:cNvPr id="5" name="Text 3"/>
          <p:cNvSpPr/>
          <p:nvPr/>
        </p:nvSpPr>
        <p:spPr>
          <a:xfrm>
            <a:off x="550664" y="1801192"/>
            <a:ext cx="8042672" cy="440531"/>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Everything in ML starts with turning real-world things into numbers. A </a:t>
            </a:r>
            <a:pPr algn="l" indent="0" marL="0">
              <a:lnSpc>
                <a:spcPct val="133000"/>
              </a:lnSpc>
              <a:buNone/>
            </a:pPr>
            <a:r>
              <a:rPr lang="en-US" sz="1050" b="1" dirty="0">
                <a:solidFill>
                  <a:srgbClr val="E0E4E6"/>
                </a:solidFill>
                <a:latin typeface="Barlow Bold" pitchFamily="34" charset="0"/>
                <a:ea typeface="Barlow Bold" pitchFamily="34" charset="-122"/>
                <a:cs typeface="Barlow Bold" pitchFamily="34" charset="-120"/>
              </a:rPr>
              <a:t>vector</a:t>
            </a:r>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 is just an ordered list of numbers. It is the fundamental data structure of machine learning.</a:t>
            </a:r>
            <a:endParaRPr lang="en-US" sz="1050" dirty="0"/>
          </a:p>
        </p:txBody>
      </p:sp>
      <p:sp>
        <p:nvSpPr>
          <p:cNvPr id="6" name="Text 4"/>
          <p:cNvSpPr/>
          <p:nvPr/>
        </p:nvSpPr>
        <p:spPr>
          <a:xfrm>
            <a:off x="550664" y="2415927"/>
            <a:ext cx="8499872" cy="239167"/>
          </a:xfrm>
          <a:prstGeom prst="rect">
            <a:avLst/>
          </a:prstGeom>
          <a:noFill/>
          <a:ln/>
        </p:spPr>
        <p:txBody>
          <a:bodyPr wrap="none" lIns="0" tIns="0" rIns="0" bIns="0" rtlCol="0" anchor="t"/>
          <a:lstStyle/>
          <a:p>
            <a:pPr algn="l" indent="0" marL="0">
              <a:lnSpc>
                <a:spcPct val="133000"/>
              </a:lnSpc>
              <a:buNone/>
            </a:pPr>
            <a:endParaRPr lang="en-US" sz="1200" dirty="0"/>
          </a:p>
        </p:txBody>
      </p:sp>
      <p:pic>
        <p:nvPicPr>
          <p:cNvPr id="7" name="Image 0" descr="preencoded.png">    </p:cNvPr>
          <p:cNvPicPr>
            <a:picLocks noChangeAspect="1"/>
          </p:cNvPicPr>
          <p:nvPr/>
        </p:nvPicPr>
        <p:blipFill>
          <a:blip r:embed="rId1"/>
          <a:stretch>
            <a:fillRect/>
          </a:stretch>
        </p:blipFill>
        <p:spPr>
          <a:xfrm>
            <a:off x="550664" y="2415927"/>
            <a:ext cx="8042672" cy="239167"/>
          </a:xfrm>
          <a:prstGeom prst="rect">
            <a:avLst/>
          </a:prstGeom>
        </p:spPr>
      </p:pic>
      <p:sp>
        <p:nvSpPr>
          <p:cNvPr id="8" name="Shape 5"/>
          <p:cNvSpPr/>
          <p:nvPr/>
        </p:nvSpPr>
        <p:spPr>
          <a:xfrm>
            <a:off x="550664" y="2829297"/>
            <a:ext cx="8042672" cy="770855"/>
          </a:xfrm>
          <a:prstGeom prst="roundRect">
            <a:avLst>
              <a:gd name="adj" fmla="val 26792"/>
            </a:avLst>
          </a:prstGeom>
          <a:solidFill>
            <a:srgbClr val="00805A"/>
          </a:solidFill>
          <a:ln/>
        </p:spPr>
      </p:sp>
      <p:pic>
        <p:nvPicPr>
          <p:cNvPr id="9" name="Image 1" descr="preencoded.png">    </p:cNvPr>
          <p:cNvPicPr>
            <a:picLocks noChangeAspect="1"/>
          </p:cNvPicPr>
          <p:nvPr/>
        </p:nvPicPr>
        <p:blipFill>
          <a:blip r:embed="rId2"/>
          <a:stretch>
            <a:fillRect/>
          </a:stretch>
        </p:blipFill>
        <p:spPr>
          <a:xfrm>
            <a:off x="688330" y="3028504"/>
            <a:ext cx="172045" cy="137666"/>
          </a:xfrm>
          <a:prstGeom prst="rect">
            <a:avLst/>
          </a:prstGeom>
        </p:spPr>
      </p:pic>
      <p:sp>
        <p:nvSpPr>
          <p:cNvPr id="10" name="Text 6"/>
          <p:cNvSpPr/>
          <p:nvPr/>
        </p:nvSpPr>
        <p:spPr>
          <a:xfrm>
            <a:off x="998041" y="3001342"/>
            <a:ext cx="7457629" cy="440531"/>
          </a:xfrm>
          <a:prstGeom prst="rect">
            <a:avLst/>
          </a:prstGeom>
          <a:noFill/>
          <a:ln/>
        </p:spPr>
        <p:txBody>
          <a:bodyPr wrap="square" lIns="0" tIns="0" rIns="0" bIns="0" rtlCol="0" anchor="t">
            <a:normAutofit/>
          </a:bodyPr>
          <a:lstStyle/>
          <a:p>
            <a:pPr algn="l" indent="0" marL="0">
              <a:lnSpc>
                <a:spcPct val="133000"/>
              </a:lnSpc>
              <a:buNone/>
            </a:pPr>
            <a:r>
              <a:rPr lang="en-US" sz="1050" b="1" dirty="0">
                <a:solidFill>
                  <a:srgbClr val="FFFFFF"/>
                </a:solidFill>
                <a:latin typeface="Barlow Bold" pitchFamily="34" charset="0"/>
                <a:ea typeface="Barlow Bold" pitchFamily="34" charset="-122"/>
                <a:cs typeface="Barlow Bold" pitchFamily="34" charset="-120"/>
              </a:rPr>
              <a:t>Concrete Example — Representing a House:</a:t>
            </a:r>
            <a:endParaRPr lang="en-US" sz="1050" dirty="0"/>
          </a:p>
          <a:p>
            <a:pPr algn="l" indent="0" marL="0">
              <a:lnSpc>
                <a:spcPct val="133000"/>
              </a:lnSpc>
              <a:buNone/>
            </a:pPr>
            <a:r>
              <a:rPr lang="en-US" sz="1050" i="1" dirty="0">
                <a:solidFill>
                  <a:srgbClr val="FFFFFF"/>
                </a:solidFill>
                <a:latin typeface="Barlow" pitchFamily="34" charset="0"/>
                <a:ea typeface="Barlow" pitchFamily="34" charset="-122"/>
                <a:cs typeface="Barlow" pitchFamily="34" charset="-120"/>
              </a:rPr>
              <a:t>x = [120, 3, 2, 5]</a:t>
            </a:r>
            <a:pPr algn="l" indent="0" marL="0">
              <a:lnSpc>
                <a:spcPct val="133000"/>
              </a:lnSpc>
              <a:buNone/>
            </a:pPr>
            <a:r>
              <a:rPr lang="en-US" sz="1050" dirty="0">
                <a:solidFill>
                  <a:srgbClr val="FFFFFF"/>
                </a:solidFill>
                <a:latin typeface="Barlow" pitchFamily="34" charset="0"/>
                <a:ea typeface="Barlow" pitchFamily="34" charset="-122"/>
                <a:cs typeface="Barlow" pitchFamily="34" charset="-120"/>
              </a:rPr>
              <a:t> where </a:t>
            </a:r>
            <a:pPr algn="l" indent="0" marL="0">
              <a:lnSpc>
                <a:spcPct val="133000"/>
              </a:lnSpc>
              <a:buNone/>
            </a:pPr>
            <a:r>
              <a:rPr lang="en-US" sz="1050" i="1" dirty="0">
                <a:solidFill>
                  <a:srgbClr val="FFFFFF"/>
                </a:solidFill>
                <a:latin typeface="Barlow" pitchFamily="34" charset="0"/>
                <a:ea typeface="Barlow" pitchFamily="34" charset="-122"/>
                <a:cs typeface="Barlow" pitchFamily="34" charset="-120"/>
              </a:rPr>
              <a:t>x_1 = 120</a:t>
            </a:r>
            <a:pPr algn="l" indent="0" marL="0">
              <a:lnSpc>
                <a:spcPct val="133000"/>
              </a:lnSpc>
              <a:buNone/>
            </a:pPr>
            <a:r>
              <a:rPr lang="en-US" sz="1050" dirty="0">
                <a:solidFill>
                  <a:srgbClr val="FFFFFF"/>
                </a:solidFill>
                <a:latin typeface="Barlow" pitchFamily="34" charset="0"/>
                <a:ea typeface="Barlow" pitchFamily="34" charset="-122"/>
                <a:cs typeface="Barlow" pitchFamily="34" charset="-120"/>
              </a:rPr>
              <a:t> m² area, </a:t>
            </a:r>
            <a:pPr algn="l" indent="0" marL="0">
              <a:lnSpc>
                <a:spcPct val="133000"/>
              </a:lnSpc>
              <a:buNone/>
            </a:pPr>
            <a:r>
              <a:rPr lang="en-US" sz="1050" i="1" dirty="0">
                <a:solidFill>
                  <a:srgbClr val="FFFFFF"/>
                </a:solidFill>
                <a:latin typeface="Barlow" pitchFamily="34" charset="0"/>
                <a:ea typeface="Barlow" pitchFamily="34" charset="-122"/>
                <a:cs typeface="Barlow" pitchFamily="34" charset="-120"/>
              </a:rPr>
              <a:t>x_2 = 3</a:t>
            </a:r>
            <a:pPr algn="l" indent="0" marL="0">
              <a:lnSpc>
                <a:spcPct val="133000"/>
              </a:lnSpc>
              <a:buNone/>
            </a:pPr>
            <a:r>
              <a:rPr lang="en-US" sz="1050" dirty="0">
                <a:solidFill>
                  <a:srgbClr val="FFFFFF"/>
                </a:solidFill>
                <a:latin typeface="Barlow" pitchFamily="34" charset="0"/>
                <a:ea typeface="Barlow" pitchFamily="34" charset="-122"/>
                <a:cs typeface="Barlow" pitchFamily="34" charset="-120"/>
              </a:rPr>
              <a:t> bedrooms, </a:t>
            </a:r>
            <a:pPr algn="l" indent="0" marL="0">
              <a:lnSpc>
                <a:spcPct val="133000"/>
              </a:lnSpc>
              <a:buNone/>
            </a:pPr>
            <a:r>
              <a:rPr lang="en-US" sz="1050" i="1" dirty="0">
                <a:solidFill>
                  <a:srgbClr val="FFFFFF"/>
                </a:solidFill>
                <a:latin typeface="Barlow" pitchFamily="34" charset="0"/>
                <a:ea typeface="Barlow" pitchFamily="34" charset="-122"/>
                <a:cs typeface="Barlow" pitchFamily="34" charset="-120"/>
              </a:rPr>
              <a:t>x_3 = 2</a:t>
            </a:r>
            <a:pPr algn="l" indent="0" marL="0">
              <a:lnSpc>
                <a:spcPct val="133000"/>
              </a:lnSpc>
              <a:buNone/>
            </a:pPr>
            <a:r>
              <a:rPr lang="en-US" sz="1050" dirty="0">
                <a:solidFill>
                  <a:srgbClr val="FFFFFF"/>
                </a:solidFill>
                <a:latin typeface="Barlow" pitchFamily="34" charset="0"/>
                <a:ea typeface="Barlow" pitchFamily="34" charset="-122"/>
                <a:cs typeface="Barlow" pitchFamily="34" charset="-120"/>
              </a:rPr>
              <a:t> bathrooms, </a:t>
            </a:r>
            <a:pPr algn="l" indent="0" marL="0">
              <a:lnSpc>
                <a:spcPct val="133000"/>
              </a:lnSpc>
              <a:buNone/>
            </a:pPr>
            <a:r>
              <a:rPr lang="en-US" sz="1050" i="1" dirty="0">
                <a:solidFill>
                  <a:srgbClr val="FFFFFF"/>
                </a:solidFill>
                <a:latin typeface="Barlow" pitchFamily="34" charset="0"/>
                <a:ea typeface="Barlow" pitchFamily="34" charset="-122"/>
                <a:cs typeface="Barlow" pitchFamily="34" charset="-120"/>
              </a:rPr>
              <a:t>x_4 = 5</a:t>
            </a:r>
            <a:pPr algn="l" indent="0" marL="0">
              <a:lnSpc>
                <a:spcPct val="133000"/>
              </a:lnSpc>
              <a:buNone/>
            </a:pPr>
            <a:r>
              <a:rPr lang="en-US" sz="1050" dirty="0">
                <a:solidFill>
                  <a:srgbClr val="FFFFFF"/>
                </a:solidFill>
                <a:latin typeface="Barlow" pitchFamily="34" charset="0"/>
                <a:ea typeface="Barlow" pitchFamily="34" charset="-122"/>
                <a:cs typeface="Barlow" pitchFamily="34" charset="-120"/>
              </a:rPr>
              <a:t> km from city centre.</a:t>
            </a:r>
            <a:endParaRPr lang="en-US" sz="1050" dirty="0"/>
          </a:p>
        </p:txBody>
      </p:sp>
      <p:sp>
        <p:nvSpPr>
          <p:cNvPr id="11" name="Text 7"/>
          <p:cNvSpPr/>
          <p:nvPr/>
        </p:nvSpPr>
        <p:spPr>
          <a:xfrm>
            <a:off x="550664" y="3755008"/>
            <a:ext cx="8042672" cy="440531"/>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Once you have a vector, you can do maths on it — compare it to other vectors, multiply it by weights, and pass it through functions. Every image, sentence, audio clip, and data record in ML is ultimately represented as a vector (or a collection of vectors).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50664" y="837754"/>
            <a:ext cx="1377851" cy="209252"/>
          </a:xfrm>
          <a:prstGeom prst="roundRect">
            <a:avLst>
              <a:gd name="adj" fmla="val 78958"/>
            </a:avLst>
          </a:prstGeom>
          <a:solidFill>
            <a:srgbClr val="004D36"/>
          </a:solidFill>
          <a:ln/>
        </p:spPr>
      </p:sp>
      <p:sp>
        <p:nvSpPr>
          <p:cNvPr id="3" name="Text 1"/>
          <p:cNvSpPr/>
          <p:nvPr/>
        </p:nvSpPr>
        <p:spPr>
          <a:xfrm>
            <a:off x="633264" y="879053"/>
            <a:ext cx="1669852" cy="126653"/>
          </a:xfrm>
          <a:prstGeom prst="rect">
            <a:avLst/>
          </a:prstGeom>
          <a:noFill/>
          <a:ln/>
        </p:spPr>
        <p:txBody>
          <a:bodyPr wrap="none" lIns="0" tIns="0" rIns="0" bIns="0" rtlCol="0" anchor="t"/>
          <a:lstStyle/>
          <a:p>
            <a:pPr algn="l" indent="0" marL="0">
              <a:lnSpc>
                <a:spcPct val="96000"/>
              </a:lnSpc>
              <a:buNone/>
            </a:pPr>
            <a:r>
              <a:rPr lang="en-US" sz="850" dirty="0">
                <a:solidFill>
                  <a:srgbClr val="E0E4E6"/>
                </a:solidFill>
                <a:latin typeface="Barlow" pitchFamily="34" charset="0"/>
                <a:ea typeface="Barlow" pitchFamily="34" charset="-122"/>
                <a:cs typeface="Barlow" pitchFamily="34" charset="-120"/>
              </a:rPr>
              <a:t>MODULE 3 — SECTION 3.2</a:t>
            </a:r>
            <a:endParaRPr lang="en-US" sz="850" dirty="0"/>
          </a:p>
        </p:txBody>
      </p:sp>
      <p:sp>
        <p:nvSpPr>
          <p:cNvPr id="4" name="Text 2"/>
          <p:cNvSpPr/>
          <p:nvPr/>
        </p:nvSpPr>
        <p:spPr>
          <a:xfrm>
            <a:off x="550664" y="1102072"/>
            <a:ext cx="8042672" cy="382488"/>
          </a:xfrm>
          <a:prstGeom prst="rect">
            <a:avLst/>
          </a:prstGeom>
          <a:noFill/>
          <a:ln/>
        </p:spPr>
        <p:txBody>
          <a:bodyPr wrap="none" lIns="0" tIns="0" rIns="0" bIns="0" rtlCol="0" anchor="t"/>
          <a:lstStyle/>
          <a:p>
            <a:pPr algn="l" indent="0" marL="0">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The Dot Product — Similarity and Weighting</a:t>
            </a:r>
            <a:endParaRPr lang="en-US" sz="2400" dirty="0"/>
          </a:p>
        </p:txBody>
      </p:sp>
      <p:sp>
        <p:nvSpPr>
          <p:cNvPr id="5" name="Text 3"/>
          <p:cNvSpPr/>
          <p:nvPr/>
        </p:nvSpPr>
        <p:spPr>
          <a:xfrm>
            <a:off x="550664" y="1691060"/>
            <a:ext cx="8042672" cy="440531"/>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The dot product combines two vectors into a single number. It measures how much two vectors 'agree' in direction — and it is the core operation inside every neuron in a neural network.</a:t>
            </a:r>
            <a:endParaRPr lang="en-US" sz="1050" dirty="0"/>
          </a:p>
        </p:txBody>
      </p:sp>
      <p:sp>
        <p:nvSpPr>
          <p:cNvPr id="6" name="Text 4"/>
          <p:cNvSpPr/>
          <p:nvPr/>
        </p:nvSpPr>
        <p:spPr>
          <a:xfrm>
            <a:off x="550664" y="2305794"/>
            <a:ext cx="8499872" cy="239167"/>
          </a:xfrm>
          <a:prstGeom prst="rect">
            <a:avLst/>
          </a:prstGeom>
          <a:noFill/>
          <a:ln/>
        </p:spPr>
        <p:txBody>
          <a:bodyPr wrap="none" lIns="0" tIns="0" rIns="0" bIns="0" rtlCol="0" anchor="t"/>
          <a:lstStyle/>
          <a:p>
            <a:pPr algn="l" indent="0" marL="0">
              <a:lnSpc>
                <a:spcPct val="133000"/>
              </a:lnSpc>
              <a:buNone/>
            </a:pPr>
            <a:endParaRPr lang="en-US" sz="1200" dirty="0"/>
          </a:p>
        </p:txBody>
      </p:sp>
      <p:pic>
        <p:nvPicPr>
          <p:cNvPr id="7" name="Image 0" descr="preencoded.png">    </p:cNvPr>
          <p:cNvPicPr>
            <a:picLocks noChangeAspect="1"/>
          </p:cNvPicPr>
          <p:nvPr/>
        </p:nvPicPr>
        <p:blipFill>
          <a:blip r:embed="rId1"/>
          <a:stretch>
            <a:fillRect/>
          </a:stretch>
        </p:blipFill>
        <p:spPr>
          <a:xfrm>
            <a:off x="550664" y="2305794"/>
            <a:ext cx="8042672" cy="239167"/>
          </a:xfrm>
          <a:prstGeom prst="rect">
            <a:avLst/>
          </a:prstGeom>
        </p:spPr>
      </p:pic>
      <p:sp>
        <p:nvSpPr>
          <p:cNvPr id="8" name="Shape 5"/>
          <p:cNvSpPr/>
          <p:nvPr/>
        </p:nvSpPr>
        <p:spPr>
          <a:xfrm>
            <a:off x="550664" y="2719164"/>
            <a:ext cx="8042672" cy="770855"/>
          </a:xfrm>
          <a:prstGeom prst="roundRect">
            <a:avLst>
              <a:gd name="adj" fmla="val 26792"/>
            </a:avLst>
          </a:prstGeom>
          <a:solidFill>
            <a:srgbClr val="00805A"/>
          </a:solidFill>
          <a:ln/>
        </p:spPr>
      </p:sp>
      <p:pic>
        <p:nvPicPr>
          <p:cNvPr id="9" name="Image 1" descr="preencoded.png">    </p:cNvPr>
          <p:cNvPicPr>
            <a:picLocks noChangeAspect="1"/>
          </p:cNvPicPr>
          <p:nvPr/>
        </p:nvPicPr>
        <p:blipFill>
          <a:blip r:embed="rId2"/>
          <a:stretch>
            <a:fillRect/>
          </a:stretch>
        </p:blipFill>
        <p:spPr>
          <a:xfrm>
            <a:off x="688330" y="2918371"/>
            <a:ext cx="172045" cy="137666"/>
          </a:xfrm>
          <a:prstGeom prst="rect">
            <a:avLst/>
          </a:prstGeom>
        </p:spPr>
      </p:pic>
      <p:sp>
        <p:nvSpPr>
          <p:cNvPr id="10" name="Text 6"/>
          <p:cNvSpPr/>
          <p:nvPr/>
        </p:nvSpPr>
        <p:spPr>
          <a:xfrm>
            <a:off x="998041" y="2891210"/>
            <a:ext cx="7457629" cy="440531"/>
          </a:xfrm>
          <a:prstGeom prst="rect">
            <a:avLst/>
          </a:prstGeom>
          <a:noFill/>
          <a:ln/>
        </p:spPr>
        <p:txBody>
          <a:bodyPr wrap="square" lIns="0" tIns="0" rIns="0" bIns="0" rtlCol="0" anchor="t">
            <a:normAutofit/>
          </a:bodyPr>
          <a:lstStyle/>
          <a:p>
            <a:pPr algn="l" indent="0" marL="0">
              <a:lnSpc>
                <a:spcPct val="133000"/>
              </a:lnSpc>
              <a:buNone/>
            </a:pPr>
            <a:r>
              <a:rPr lang="en-US" sz="1050" b="1" dirty="0">
                <a:solidFill>
                  <a:srgbClr val="FFFFFF"/>
                </a:solidFill>
                <a:latin typeface="Barlow Bold" pitchFamily="34" charset="0"/>
                <a:ea typeface="Barlow Bold" pitchFamily="34" charset="-122"/>
                <a:cs typeface="Barlow Bold" pitchFamily="34" charset="-120"/>
              </a:rPr>
              <a:t>Concrete Example:</a:t>
            </a:r>
            <a:pPr algn="l" indent="0" marL="0">
              <a:lnSpc>
                <a:spcPct val="133000"/>
              </a:lnSpc>
              <a:buNone/>
            </a:pPr>
            <a:r>
              <a:rPr lang="en-US" sz="1050" dirty="0">
                <a:solidFill>
                  <a:srgbClr val="FFFFFF"/>
                </a:solidFill>
                <a:latin typeface="Barlow" pitchFamily="34" charset="0"/>
                <a:ea typeface="Barlow" pitchFamily="34" charset="-122"/>
                <a:cs typeface="Barlow" pitchFamily="34" charset="-120"/>
              </a:rPr>
              <a:t> Weights </a:t>
            </a:r>
            <a:pPr algn="l" indent="0" marL="0">
              <a:lnSpc>
                <a:spcPct val="133000"/>
              </a:lnSpc>
              <a:buNone/>
            </a:pPr>
            <a:r>
              <a:rPr lang="en-US" sz="1050" i="1" dirty="0">
                <a:solidFill>
                  <a:srgbClr val="FFFFFF"/>
                </a:solidFill>
                <a:latin typeface="Barlow" pitchFamily="34" charset="0"/>
                <a:ea typeface="Barlow" pitchFamily="34" charset="-122"/>
                <a:cs typeface="Barlow" pitchFamily="34" charset="-120"/>
              </a:rPr>
              <a:t>w = [0.5, 1.2, 0.3]</a:t>
            </a:r>
            <a:pPr algn="l" indent="0" marL="0">
              <a:lnSpc>
                <a:spcPct val="133000"/>
              </a:lnSpc>
              <a:buNone/>
            </a:pPr>
            <a:r>
              <a:rPr lang="en-US" sz="1050" dirty="0">
                <a:solidFill>
                  <a:srgbClr val="FFFFFF"/>
                </a:solidFill>
                <a:latin typeface="Barlow" pitchFamily="34" charset="0"/>
                <a:ea typeface="Barlow" pitchFamily="34" charset="-122"/>
                <a:cs typeface="Barlow" pitchFamily="34" charset="-120"/>
              </a:rPr>
              <a:t>, input </a:t>
            </a:r>
            <a:pPr algn="l" indent="0" marL="0">
              <a:lnSpc>
                <a:spcPct val="133000"/>
              </a:lnSpc>
              <a:buNone/>
            </a:pPr>
            <a:r>
              <a:rPr lang="en-US" sz="1050" i="1" dirty="0">
                <a:solidFill>
                  <a:srgbClr val="FFFFFF"/>
                </a:solidFill>
                <a:latin typeface="Barlow" pitchFamily="34" charset="0"/>
                <a:ea typeface="Barlow" pitchFamily="34" charset="-122"/>
                <a:cs typeface="Barlow" pitchFamily="34" charset="-120"/>
              </a:rPr>
              <a:t>x = [2, 1, 4]</a:t>
            </a:r>
            <a:endParaRPr lang="en-US" sz="1050" dirty="0"/>
          </a:p>
          <a:p>
            <a:pPr algn="l" indent="0" marL="0">
              <a:lnSpc>
                <a:spcPct val="133000"/>
              </a:lnSpc>
              <a:buNone/>
            </a:pPr>
            <a:r>
              <a:rPr lang="en-US" sz="1050" i="1" dirty="0">
                <a:solidFill>
                  <a:srgbClr val="FFFFFF"/>
                </a:solidFill>
                <a:latin typeface="Barlow" pitchFamily="34" charset="0"/>
                <a:ea typeface="Barlow" pitchFamily="34" charset="-122"/>
                <a:cs typeface="Barlow" pitchFamily="34" charset="-120"/>
              </a:rPr>
              <a:t>w \cdot x = (0.5)(2) + (1.2)(1) + (0.3)(4) = 1.0 + 1.2 + 1.2 = 3.4</a:t>
            </a:r>
            <a:endParaRPr lang="en-US" sz="1050" dirty="0"/>
          </a:p>
        </p:txBody>
      </p:sp>
      <p:sp>
        <p:nvSpPr>
          <p:cNvPr id="11" name="Text 7"/>
          <p:cNvSpPr/>
          <p:nvPr/>
        </p:nvSpPr>
        <p:spPr>
          <a:xfrm>
            <a:off x="550664" y="3644875"/>
            <a:ext cx="8042672" cy="660797"/>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This weighted sum — where each input is multiplied by its corresponding weight and the results are added together — is the fundamental computation that every artificial neuron performs. The weights determine how much each input feature matters to the final output. Learning, in neural networks, is largely the process of finding the right weights.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50664" y="557510"/>
            <a:ext cx="1375544" cy="209252"/>
          </a:xfrm>
          <a:prstGeom prst="roundRect">
            <a:avLst>
              <a:gd name="adj" fmla="val 78958"/>
            </a:avLst>
          </a:prstGeom>
          <a:solidFill>
            <a:srgbClr val="004D36"/>
          </a:solidFill>
          <a:ln/>
        </p:spPr>
      </p:sp>
      <p:sp>
        <p:nvSpPr>
          <p:cNvPr id="3" name="Text 1"/>
          <p:cNvSpPr/>
          <p:nvPr/>
        </p:nvSpPr>
        <p:spPr>
          <a:xfrm>
            <a:off x="633264" y="598810"/>
            <a:ext cx="1667545" cy="126653"/>
          </a:xfrm>
          <a:prstGeom prst="rect">
            <a:avLst/>
          </a:prstGeom>
          <a:noFill/>
          <a:ln/>
        </p:spPr>
        <p:txBody>
          <a:bodyPr wrap="none" lIns="0" tIns="0" rIns="0" bIns="0" rtlCol="0" anchor="t"/>
          <a:lstStyle/>
          <a:p>
            <a:pPr algn="l" indent="0" marL="0">
              <a:lnSpc>
                <a:spcPct val="96000"/>
              </a:lnSpc>
              <a:buNone/>
            </a:pPr>
            <a:r>
              <a:rPr lang="en-US" sz="850" dirty="0">
                <a:solidFill>
                  <a:srgbClr val="E0E4E6"/>
                </a:solidFill>
                <a:latin typeface="Barlow" pitchFamily="34" charset="0"/>
                <a:ea typeface="Barlow" pitchFamily="34" charset="-122"/>
                <a:cs typeface="Barlow" pitchFamily="34" charset="-120"/>
              </a:rPr>
              <a:t>MODULE 3 — SECTION 3.3</a:t>
            </a:r>
            <a:endParaRPr lang="en-US" sz="850" dirty="0"/>
          </a:p>
        </p:txBody>
      </p:sp>
      <p:sp>
        <p:nvSpPr>
          <p:cNvPr id="4" name="Text 2"/>
          <p:cNvSpPr/>
          <p:nvPr/>
        </p:nvSpPr>
        <p:spPr>
          <a:xfrm>
            <a:off x="550664" y="821829"/>
            <a:ext cx="8042672" cy="382488"/>
          </a:xfrm>
          <a:prstGeom prst="rect">
            <a:avLst/>
          </a:prstGeom>
          <a:noFill/>
          <a:ln/>
        </p:spPr>
        <p:txBody>
          <a:bodyPr wrap="none" lIns="0" tIns="0" rIns="0" bIns="0" rtlCol="0" anchor="t"/>
          <a:lstStyle/>
          <a:p>
            <a:pPr algn="l" indent="0" marL="0">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The Neuron Formula</a:t>
            </a:r>
            <a:endParaRPr lang="en-US" sz="2400" dirty="0"/>
          </a:p>
        </p:txBody>
      </p:sp>
      <p:sp>
        <p:nvSpPr>
          <p:cNvPr id="5" name="Text 3"/>
          <p:cNvSpPr/>
          <p:nvPr/>
        </p:nvSpPr>
        <p:spPr>
          <a:xfrm>
            <a:off x="550664" y="1410816"/>
            <a:ext cx="8499872"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A single artificial neuron computes a weighted sum of its inputs, adds a bias, then passes the result through an activation function.</a:t>
            </a:r>
            <a:endParaRPr lang="en-US" sz="1050" dirty="0"/>
          </a:p>
        </p:txBody>
      </p:sp>
      <p:sp>
        <p:nvSpPr>
          <p:cNvPr id="6" name="Text 4"/>
          <p:cNvSpPr/>
          <p:nvPr/>
        </p:nvSpPr>
        <p:spPr>
          <a:xfrm>
            <a:off x="550664" y="1805285"/>
            <a:ext cx="8499872" cy="239167"/>
          </a:xfrm>
          <a:prstGeom prst="rect">
            <a:avLst/>
          </a:prstGeom>
          <a:noFill/>
          <a:ln/>
        </p:spPr>
        <p:txBody>
          <a:bodyPr wrap="none" lIns="0" tIns="0" rIns="0" bIns="0" rtlCol="0" anchor="t"/>
          <a:lstStyle/>
          <a:p>
            <a:pPr algn="l" indent="0" marL="0">
              <a:lnSpc>
                <a:spcPct val="133000"/>
              </a:lnSpc>
              <a:buNone/>
            </a:pPr>
            <a:endParaRPr lang="en-US" sz="1200" dirty="0"/>
          </a:p>
        </p:txBody>
      </p:sp>
      <p:pic>
        <p:nvPicPr>
          <p:cNvPr id="7" name="Image 0" descr="preencoded.png">    </p:cNvPr>
          <p:cNvPicPr>
            <a:picLocks noChangeAspect="1"/>
          </p:cNvPicPr>
          <p:nvPr/>
        </p:nvPicPr>
        <p:blipFill>
          <a:blip r:embed="rId1"/>
          <a:stretch>
            <a:fillRect/>
          </a:stretch>
        </p:blipFill>
        <p:spPr>
          <a:xfrm>
            <a:off x="550664" y="1805285"/>
            <a:ext cx="8042672" cy="239167"/>
          </a:xfrm>
          <a:prstGeom prst="rect">
            <a:avLst/>
          </a:prstGeom>
        </p:spPr>
      </p:pic>
      <p:sp>
        <p:nvSpPr>
          <p:cNvPr id="8" name="Text 5"/>
          <p:cNvSpPr/>
          <p:nvPr/>
        </p:nvSpPr>
        <p:spPr>
          <a:xfrm>
            <a:off x="550664" y="2218655"/>
            <a:ext cx="8499872" cy="239167"/>
          </a:xfrm>
          <a:prstGeom prst="rect">
            <a:avLst/>
          </a:prstGeom>
          <a:noFill/>
          <a:ln/>
        </p:spPr>
        <p:txBody>
          <a:bodyPr wrap="none" lIns="0" tIns="0" rIns="0" bIns="0" rtlCol="0" anchor="t"/>
          <a:lstStyle/>
          <a:p>
            <a:pPr algn="l" indent="0" marL="0">
              <a:lnSpc>
                <a:spcPct val="133000"/>
              </a:lnSpc>
              <a:buNone/>
            </a:pPr>
            <a:endParaRPr lang="en-US" sz="1200" dirty="0"/>
          </a:p>
        </p:txBody>
      </p:sp>
      <p:pic>
        <p:nvPicPr>
          <p:cNvPr id="9" name="Image 1" descr="preencoded.png">    </p:cNvPr>
          <p:cNvPicPr>
            <a:picLocks noChangeAspect="1"/>
          </p:cNvPicPr>
          <p:nvPr/>
        </p:nvPicPr>
        <p:blipFill>
          <a:blip r:embed="rId2"/>
          <a:stretch>
            <a:fillRect/>
          </a:stretch>
        </p:blipFill>
        <p:spPr>
          <a:xfrm>
            <a:off x="550664" y="2218655"/>
            <a:ext cx="8042672" cy="239167"/>
          </a:xfrm>
          <a:prstGeom prst="rect">
            <a:avLst/>
          </a:prstGeom>
        </p:spPr>
      </p:pic>
      <p:sp>
        <p:nvSpPr>
          <p:cNvPr id="10" name="Shape 6"/>
          <p:cNvSpPr/>
          <p:nvPr/>
        </p:nvSpPr>
        <p:spPr>
          <a:xfrm>
            <a:off x="550664" y="2632025"/>
            <a:ext cx="3952503" cy="798016"/>
          </a:xfrm>
          <a:prstGeom prst="roundRect">
            <a:avLst>
              <a:gd name="adj" fmla="val 25880"/>
            </a:avLst>
          </a:prstGeom>
          <a:solidFill>
            <a:srgbClr val="0A081B"/>
          </a:solidFill>
          <a:ln w="14288">
            <a:solidFill>
              <a:srgbClr val="16FFBB"/>
            </a:solidFill>
            <a:prstDash val="solid"/>
          </a:ln>
        </p:spPr>
      </p:sp>
      <p:sp>
        <p:nvSpPr>
          <p:cNvPr id="11" name="Text 7"/>
          <p:cNvSpPr/>
          <p:nvPr/>
        </p:nvSpPr>
        <p:spPr>
          <a:xfrm>
            <a:off x="702618" y="2783979"/>
            <a:ext cx="3648596" cy="191244"/>
          </a:xfrm>
          <a:prstGeom prst="rect">
            <a:avLst/>
          </a:prstGeom>
          <a:noFill/>
          <a:ln/>
        </p:spPr>
        <p:txBody>
          <a:bodyPr wrap="none" lIns="0" tIns="0" rIns="0" bIns="0" rtlCol="0" anchor="t"/>
          <a:lstStyle/>
          <a:p>
            <a:pPr algn="l" indent="0" marL="0">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w (weights)</a:t>
            </a:r>
            <a:endParaRPr lang="en-US" sz="1200" dirty="0"/>
          </a:p>
        </p:txBody>
      </p:sp>
      <p:sp>
        <p:nvSpPr>
          <p:cNvPr id="12" name="Text 8"/>
          <p:cNvSpPr/>
          <p:nvPr/>
        </p:nvSpPr>
        <p:spPr>
          <a:xfrm>
            <a:off x="702618" y="3057823"/>
            <a:ext cx="3648596"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How much each input matters. Learned during training.</a:t>
            </a:r>
            <a:endParaRPr lang="en-US" sz="1050" dirty="0"/>
          </a:p>
        </p:txBody>
      </p:sp>
      <p:sp>
        <p:nvSpPr>
          <p:cNvPr id="13" name="Shape 9"/>
          <p:cNvSpPr/>
          <p:nvPr/>
        </p:nvSpPr>
        <p:spPr>
          <a:xfrm>
            <a:off x="4640833" y="2632025"/>
            <a:ext cx="3952503" cy="798016"/>
          </a:xfrm>
          <a:prstGeom prst="roundRect">
            <a:avLst>
              <a:gd name="adj" fmla="val 25880"/>
            </a:avLst>
          </a:prstGeom>
          <a:solidFill>
            <a:srgbClr val="0A081B"/>
          </a:solidFill>
          <a:ln w="14288">
            <a:solidFill>
              <a:srgbClr val="29DDDA"/>
            </a:solidFill>
            <a:prstDash val="solid"/>
          </a:ln>
        </p:spPr>
      </p:sp>
      <p:sp>
        <p:nvSpPr>
          <p:cNvPr id="14" name="Text 10"/>
          <p:cNvSpPr/>
          <p:nvPr/>
        </p:nvSpPr>
        <p:spPr>
          <a:xfrm>
            <a:off x="4792787" y="2783979"/>
            <a:ext cx="3648596" cy="191244"/>
          </a:xfrm>
          <a:prstGeom prst="rect">
            <a:avLst/>
          </a:prstGeom>
          <a:noFill/>
          <a:ln/>
        </p:spPr>
        <p:txBody>
          <a:bodyPr wrap="none" lIns="0" tIns="0" rIns="0" bIns="0" rtlCol="0" anchor="t"/>
          <a:lstStyle/>
          <a:p>
            <a:pPr algn="l" indent="0" marL="0">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x (inputs)</a:t>
            </a:r>
            <a:endParaRPr lang="en-US" sz="1200" dirty="0"/>
          </a:p>
        </p:txBody>
      </p:sp>
      <p:sp>
        <p:nvSpPr>
          <p:cNvPr id="15" name="Text 11"/>
          <p:cNvSpPr/>
          <p:nvPr/>
        </p:nvSpPr>
        <p:spPr>
          <a:xfrm>
            <a:off x="4792787" y="3057823"/>
            <a:ext cx="3648596"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The data coming in — the features of your example.</a:t>
            </a:r>
            <a:endParaRPr lang="en-US" sz="1050" dirty="0"/>
          </a:p>
        </p:txBody>
      </p:sp>
      <p:sp>
        <p:nvSpPr>
          <p:cNvPr id="16" name="Shape 12"/>
          <p:cNvSpPr/>
          <p:nvPr/>
        </p:nvSpPr>
        <p:spPr>
          <a:xfrm>
            <a:off x="550664" y="3567708"/>
            <a:ext cx="3952503" cy="1018282"/>
          </a:xfrm>
          <a:prstGeom prst="roundRect">
            <a:avLst>
              <a:gd name="adj" fmla="val 20282"/>
            </a:avLst>
          </a:prstGeom>
          <a:solidFill>
            <a:srgbClr val="0A081B"/>
          </a:solidFill>
          <a:ln w="14288">
            <a:solidFill>
              <a:srgbClr val="37A7E7"/>
            </a:solidFill>
            <a:prstDash val="solid"/>
          </a:ln>
        </p:spPr>
      </p:sp>
      <p:sp>
        <p:nvSpPr>
          <p:cNvPr id="17" name="Text 13"/>
          <p:cNvSpPr/>
          <p:nvPr/>
        </p:nvSpPr>
        <p:spPr>
          <a:xfrm>
            <a:off x="702618" y="3719661"/>
            <a:ext cx="3648596" cy="191244"/>
          </a:xfrm>
          <a:prstGeom prst="rect">
            <a:avLst/>
          </a:prstGeom>
          <a:noFill/>
          <a:ln/>
        </p:spPr>
        <p:txBody>
          <a:bodyPr wrap="none" lIns="0" tIns="0" rIns="0" bIns="0" rtlCol="0" anchor="t"/>
          <a:lstStyle/>
          <a:p>
            <a:pPr algn="l" indent="0" marL="0">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b (bias)</a:t>
            </a:r>
            <a:endParaRPr lang="en-US" sz="1200" dirty="0"/>
          </a:p>
        </p:txBody>
      </p:sp>
      <p:sp>
        <p:nvSpPr>
          <p:cNvPr id="18" name="Text 14"/>
          <p:cNvSpPr/>
          <p:nvPr/>
        </p:nvSpPr>
        <p:spPr>
          <a:xfrm>
            <a:off x="702618" y="3993505"/>
            <a:ext cx="3648596" cy="440531"/>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A constant offset; lets the neuron fire even when all inputs are 0.</a:t>
            </a:r>
            <a:endParaRPr lang="en-US" sz="1050" dirty="0"/>
          </a:p>
        </p:txBody>
      </p:sp>
      <p:sp>
        <p:nvSpPr>
          <p:cNvPr id="19" name="Shape 15"/>
          <p:cNvSpPr/>
          <p:nvPr/>
        </p:nvSpPr>
        <p:spPr>
          <a:xfrm>
            <a:off x="4640833" y="3567708"/>
            <a:ext cx="3952503" cy="1018282"/>
          </a:xfrm>
          <a:prstGeom prst="roundRect">
            <a:avLst>
              <a:gd name="adj" fmla="val 20282"/>
            </a:avLst>
          </a:prstGeom>
          <a:solidFill>
            <a:srgbClr val="0A081B"/>
          </a:solidFill>
          <a:ln w="14288">
            <a:solidFill>
              <a:srgbClr val="091231"/>
            </a:solidFill>
            <a:prstDash val="solid"/>
          </a:ln>
        </p:spPr>
      </p:sp>
      <p:sp>
        <p:nvSpPr>
          <p:cNvPr id="20" name="Text 16"/>
          <p:cNvSpPr/>
          <p:nvPr/>
        </p:nvSpPr>
        <p:spPr>
          <a:xfrm>
            <a:off x="4792787" y="3719661"/>
            <a:ext cx="3648596" cy="191244"/>
          </a:xfrm>
          <a:prstGeom prst="rect">
            <a:avLst/>
          </a:prstGeom>
          <a:noFill/>
          <a:ln/>
        </p:spPr>
        <p:txBody>
          <a:bodyPr wrap="none" lIns="0" tIns="0" rIns="0" bIns="0" rtlCol="0" anchor="t"/>
          <a:lstStyle/>
          <a:p>
            <a:pPr algn="l" indent="0" marL="0">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activation</a:t>
            </a:r>
            <a:endParaRPr lang="en-US" sz="1200" dirty="0"/>
          </a:p>
        </p:txBody>
      </p:sp>
      <p:sp>
        <p:nvSpPr>
          <p:cNvPr id="21" name="Text 17"/>
          <p:cNvSpPr/>
          <p:nvPr/>
        </p:nvSpPr>
        <p:spPr>
          <a:xfrm>
            <a:off x="4792787" y="3993505"/>
            <a:ext cx="3648596" cy="220266"/>
          </a:xfrm>
          <a:prstGeom prst="rect">
            <a:avLst/>
          </a:prstGeom>
          <a:noFill/>
          <a:ln/>
        </p:spPr>
        <p:txBody>
          <a:bodyPr wrap="none" lIns="0" tIns="0" rIns="0" bIns="0" rtlCol="0" anchor="t"/>
          <a:lstStyle/>
          <a:p>
            <a:pPr algn="l" indent="0" marL="0">
              <a:lnSpc>
                <a:spcPct val="133000"/>
              </a:lnSpc>
              <a:buNone/>
            </a:pPr>
            <a:r>
              <a:rPr lang="en-US" sz="1050" dirty="0">
                <a:solidFill>
                  <a:srgbClr val="E0E4E6"/>
                </a:solidFill>
                <a:latin typeface="Barlow" pitchFamily="34" charset="0"/>
                <a:ea typeface="Barlow" pitchFamily="34" charset="-122"/>
                <a:cs typeface="Barlow" pitchFamily="34" charset="-120"/>
              </a:rPr>
              <a:t>A non-linear function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2026-07-10T11:09:35Z</dcterms:created>
  <dcterms:modified xsi:type="dcterms:W3CDTF">2026-07-10T11:09:35Z</dcterms:modified>
</cp:coreProperties>
</file>