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image" Target="../media/image-33-4.png"/><Relationship Id="rId5" Type="http://schemas.openxmlformats.org/officeDocument/2006/relationships/image" Target="../media/image-33-5.svg"/><Relationship Id="rId6" Type="http://schemas.openxmlformats.org/officeDocument/2006/relationships/image" Target="../media/image-33-6.png"/><Relationship Id="rId7" Type="http://schemas.openxmlformats.org/officeDocument/2006/relationships/image" Target="../media/image-3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image" Target="../media/image-36-7.png"/><Relationship Id="rId8" Type="http://schemas.openxmlformats.org/officeDocument/2006/relationships/image" Target="../media/image-36-8.svg"/><Relationship Id="rId9" Type="http://schemas.openxmlformats.org/officeDocument/2006/relationships/image" Target="../media/image-36-9.png"/><Relationship Id="rId10" Type="http://schemas.openxmlformats.org/officeDocument/2006/relationships/image" Target="../media/image-3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svg"/><Relationship Id="rId7" Type="http://schemas.openxmlformats.org/officeDocument/2006/relationships/image" Target="../media/image-37-7.png"/><Relationship Id="rId8" Type="http://schemas.openxmlformats.org/officeDocument/2006/relationships/image" Target="../media/image-37-8.svg"/><Relationship Id="rId9" Type="http://schemas.openxmlformats.org/officeDocument/2006/relationships/image" Target="../media/image-37-1.png"/><Relationship Id="rId10" Type="http://schemas.openxmlformats.org/officeDocument/2006/relationships/image" Target="../media/image-37-2.svg"/><Relationship Id="rId11" Type="http://schemas.openxmlformats.org/officeDocument/2006/relationships/image" Target="../media/image-3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image" Target="../media/image-43-5.png"/><Relationship Id="rId6" Type="http://schemas.openxmlformats.org/officeDocument/2006/relationships/image" Target="../media/image-43-6.svg"/><Relationship Id="rId7" Type="http://schemas.openxmlformats.org/officeDocument/2006/relationships/image" Target="../media/image-43-7.png"/><Relationship Id="rId8" Type="http://schemas.openxmlformats.org/officeDocument/2006/relationships/image" Target="../media/image-4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image" Target="../media/image-45-5.png"/><Relationship Id="rId6" Type="http://schemas.openxmlformats.org/officeDocument/2006/relationships/image" Target="../media/image-4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2249785"/>
            <a:ext cx="6151409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Coding with AI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306086" y="3035102"/>
            <a:ext cx="676099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real software with AI without losing control of your codebase.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6086" y="3535263"/>
            <a:ext cx="1924101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6" name="Text 3"/>
          <p:cNvSpPr/>
          <p:nvPr/>
        </p:nvSpPr>
        <p:spPr>
          <a:xfrm>
            <a:off x="5416216" y="3590330"/>
            <a:ext cx="231342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PRACTICAL FIELD GUIDE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306086" y="4020741"/>
            <a:ext cx="6151409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 mode &amp; progressive changes · the tool landscape · Lovable vs. the cloud · keeping costs in check · sharper prompting · specialized coding agents.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614785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to Read This Guide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2044" y="2400102"/>
            <a:ext cx="5402028" cy="2843113"/>
          </a:xfrm>
          <a:prstGeom prst="roundRect">
            <a:avLst>
              <a:gd name="adj" fmla="val 15496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5594" y="2583656"/>
            <a:ext cx="50349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Hands-On, Not Theory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5594" y="3022203"/>
            <a:ext cx="5034928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idea comes with a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Scene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a small, realistic moment at the keyboard — followed by the practical takeaway. Skim the scenes for the fast version; read the takeaways for the depth.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6128" y="2583656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Core Mindset Shift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6128" y="3022203"/>
            <a:ext cx="5137716" cy="20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you code with AI,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your job changes from typing code to directing and reviewing it.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You become the architect and the editor. The AI is a fast, tireless, occasionally overconfident junior developer. Everything in this guide is about being a good director of that developer — giving clear instructions, keeping changes reviewable, and never letting the AI run further than you can follow.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74886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1551980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4200" y="1838523"/>
            <a:ext cx="5269872" cy="254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734200" y="1981101"/>
            <a:ext cx="526987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Staying in Control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4200" y="2346226"/>
            <a:ext cx="5269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Progressive changes and plan mode — the two disciplines that keep you from losing track of what changed.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87623" y="1551980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623" y="1838523"/>
            <a:ext cx="5269872" cy="254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6187623" y="1981101"/>
            <a:ext cx="526987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AI Coding Toolbox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87623" y="2346226"/>
            <a:ext cx="5269872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exists and when to reach for each family of tool.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4200" y="3254772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4200" y="3541316"/>
            <a:ext cx="5269872" cy="254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734200" y="3683893"/>
            <a:ext cx="526987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Lovable vs. the Cloud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4200" y="4049018"/>
            <a:ext cx="5269872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Where to actually run your app — and when to migrate.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7623" y="3254772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7623" y="3541316"/>
            <a:ext cx="5269872" cy="2540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6187623" y="3683893"/>
            <a:ext cx="526987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Keeping Costs in Check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7623" y="4049018"/>
            <a:ext cx="5269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Where the money goes and how to estimate it before the invoice arrives.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4200" y="4957564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4200" y="5244108"/>
            <a:ext cx="5269872" cy="254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1" name="Text 19"/>
          <p:cNvSpPr/>
          <p:nvPr/>
        </p:nvSpPr>
        <p:spPr>
          <a:xfrm>
            <a:off x="734200" y="5386685"/>
            <a:ext cx="526987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Prompting Well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4200" y="5751810"/>
            <a:ext cx="5269872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better output and lower bills — quality and cost meet here.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87623" y="4957564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87623" y="5244108"/>
            <a:ext cx="5269872" cy="254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25" name="Text 23"/>
          <p:cNvSpPr/>
          <p:nvPr/>
        </p:nvSpPr>
        <p:spPr>
          <a:xfrm>
            <a:off x="6187623" y="5386685"/>
            <a:ext cx="526987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Specialized Coding Agents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87623" y="5751810"/>
            <a:ext cx="5269872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Building them, scoping them, and what to watch for.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2469555"/>
            <a:ext cx="646692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4330" y="2524621"/>
            <a:ext cx="103601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2821980"/>
            <a:ext cx="10723294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Staying in Control of Your Codebase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4200" y="3800971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single biggest risk in AI coding isn't bad code — it's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losing track of what changed.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 model can rewrite twenty files in ten seconds. If you don't understand those changes, you now own a codebase you can't debug.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1300758"/>
            <a:ext cx="6151409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Core Problem: Losing Track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306086" y="2086074"/>
            <a:ext cx="6151409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disciplines prevent the loss-of-control spiral: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progressive changes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plan mode.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6086" y="2879923"/>
            <a:ext cx="6151409" cy="2677319"/>
          </a:xfrm>
          <a:prstGeom prst="roundRect">
            <a:avLst>
              <a:gd name="adj" fmla="val 10285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25136" y="2898973"/>
            <a:ext cx="6113310" cy="1319609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7" name="Text 4"/>
          <p:cNvSpPr/>
          <p:nvPr/>
        </p:nvSpPr>
        <p:spPr>
          <a:xfrm>
            <a:off x="5508686" y="3082528"/>
            <a:ext cx="574620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Progressive Changes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08686" y="3447653"/>
            <a:ext cx="5746209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Small, reviewable steps — one logical change at a time, each committed before the next begins.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25136" y="4218583"/>
            <a:ext cx="6113310" cy="1319609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0" name="Shape 7"/>
          <p:cNvSpPr/>
          <p:nvPr/>
        </p:nvSpPr>
        <p:spPr>
          <a:xfrm>
            <a:off x="5325136" y="4218583"/>
            <a:ext cx="6113310" cy="25400"/>
          </a:xfrm>
          <a:prstGeom prst="roundRect">
            <a:avLst>
              <a:gd name="adj" fmla="val 1084104"/>
            </a:avLst>
          </a:prstGeom>
          <a:solidFill>
            <a:srgbClr val="0FC3C0"/>
          </a:solidFill>
          <a:ln/>
        </p:spPr>
      </p:sp>
      <p:sp>
        <p:nvSpPr>
          <p:cNvPr id="11" name="Text 8"/>
          <p:cNvSpPr/>
          <p:nvPr/>
        </p:nvSpPr>
        <p:spPr>
          <a:xfrm>
            <a:off x="5508686" y="4402137"/>
            <a:ext cx="574620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Plan Mode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08686" y="4767263"/>
            <a:ext cx="5746209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AI investigates and proposes an approach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without editing any files yet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you review and approve before a line is written.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324868"/>
            <a:ext cx="10723294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1.1 Progressive Changes: Small Steps You Can Actually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4200" y="2826643"/>
            <a:ext cx="1864869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4" name="Text 2"/>
          <p:cNvSpPr/>
          <p:nvPr/>
        </p:nvSpPr>
        <p:spPr>
          <a:xfrm>
            <a:off x="844330" y="2881709"/>
            <a:ext cx="2254194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 A — WHAT NOT TO DO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4200" y="3312120"/>
            <a:ext cx="5137716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 A opens a fresh project and types: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"Build me a complete task-management app with login, teams, notifications, billing, and a calendar."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Ninety seconds later there are 40 new files. It runs — sort of. The login is broken, and Dev A has no idea which of the 40 files is responsible. They spend the next two days reverse-engineering code an AI wrote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them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6128" y="2826643"/>
            <a:ext cx="2209050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7" name="Text 5"/>
          <p:cNvSpPr/>
          <p:nvPr/>
        </p:nvSpPr>
        <p:spPr>
          <a:xfrm>
            <a:off x="6436259" y="2881709"/>
            <a:ext cx="2598375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 B — THE RIGHT APPROACH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26128" y="3312120"/>
            <a:ext cx="5137716" cy="20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 B, same app, works differently. First prompt: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"Set up an empty project with a health-check page."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Reviews it, commits. Next: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"Add a login form that authenticates against a users table."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Reviews the diff, tests it, commits. Then teams. Then billing. Each step is small enough to read in full. When something breaks, Dev B knows exactly which 20-line change caused it — and can undo just that.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34579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Progressive Changes Work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2111673"/>
            <a:ext cx="5269872" cy="1664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4747" y="2320627"/>
            <a:ext cx="475037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Reviewable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44747" y="2685752"/>
            <a:ext cx="4750376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30-line diff gets genuinely reviewed. A 2,000-line diff gets skimmed and rubber-stamped — which is how bugs and security holes slip in.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623" y="2111673"/>
            <a:ext cx="5269872" cy="16640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8169" y="2320627"/>
            <a:ext cx="475037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Reversible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98169" y="2685752"/>
            <a:ext cx="4750376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Frequent commits mean any bad change is one 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away. Your version history becomes an undo button with infinite levels.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3959324"/>
            <a:ext cx="5269872" cy="16640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4747" y="4168279"/>
            <a:ext cx="475037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Debuggable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044747" y="4533404"/>
            <a:ext cx="4750376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each commit does one thing, 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(or just reading history) pinpoints exactly which change broke the build.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7623" y="3959324"/>
            <a:ext cx="5269872" cy="16640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98169" y="4168279"/>
            <a:ext cx="475037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You Stay the Expert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498169" y="4533404"/>
            <a:ext cx="4750376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Because you understood every step, you can maintain and extend the code long after the AI session ends.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310878"/>
            <a:ext cx="6151409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Practical Rules of Thumb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056" y="2105372"/>
            <a:ext cx="275325" cy="2753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30788" y="2096195"/>
            <a:ext cx="5554821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One logical change per prompt; one commit per working change.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Never batch unrelated edits into a single AI request.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056" y="3059857"/>
            <a:ext cx="275325" cy="27533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30788" y="3050679"/>
            <a:ext cx="5554821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Never accept a diff you didn't read.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If it's too big to read, it's too big to accept — ask the AI to break it up.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056" y="4014341"/>
            <a:ext cx="275325" cy="27533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330788" y="4005163"/>
            <a:ext cx="5554821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Keep a clean git working tree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before you start an AI task, so the diff you review is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only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AI's change.</a:t>
            </a:r>
            <a:endParaRPr lang="en-US" sz="14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3056" y="4968825"/>
            <a:ext cx="275325" cy="27533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330788" y="4959648"/>
            <a:ext cx="5554821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If a change touches files you didn't expect, stop and ask why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before accepting. Unexpected file changes are a red flag.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28749"/>
            <a:ext cx="10723294" cy="458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1.2 Plan Mode: Think Before You Build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34200" y="1384995"/>
            <a:ext cx="10723294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modern AI coding tools (Claude Code, Cursor, and others) have 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plan mode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(sometimes "ask" or "architect" mode): the AI investigates and proposes an approach </a:t>
            </a:r>
            <a:pPr algn="l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without editing any files yet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You review the plan, refine it, and only then let it write code.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944" y="2054324"/>
            <a:ext cx="9341807" cy="35054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72982" y="4723909"/>
            <a:ext cx="1408997" cy="24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You Approve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97259" y="4723909"/>
            <a:ext cx="1408997" cy="24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You Review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31187" y="4723909"/>
            <a:ext cx="1408997" cy="24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Propose Plan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65114" y="4723909"/>
            <a:ext cx="1408997" cy="24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Map Affected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60440" y="4723909"/>
            <a:ext cx="1408998" cy="24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Read Files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4200" y="5727105"/>
            <a:ext cx="10723294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Notice where </a:t>
            </a:r>
            <a:pPr algn="l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sit: at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Review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Approve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before a single line is written. You catch a wrong approach when it's still just words, not a tangle of code to unwind.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930275"/>
            <a:ext cx="10723294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Plan Mode in Action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734200" y="1745952"/>
            <a:ext cx="19050" cy="1460798"/>
          </a:xfrm>
          <a:prstGeom prst="roundRect">
            <a:avLst>
              <a:gd name="adj" fmla="val 59999"/>
            </a:avLst>
          </a:prstGeom>
          <a:solidFill>
            <a:srgbClr val="16FFBB"/>
          </a:solidFill>
          <a:ln/>
        </p:spPr>
      </p:sp>
      <p:sp>
        <p:nvSpPr>
          <p:cNvPr id="4" name="Text 2"/>
          <p:cNvSpPr/>
          <p:nvPr/>
        </p:nvSpPr>
        <p:spPr>
          <a:xfrm>
            <a:off x="995734" y="1932285"/>
            <a:ext cx="10461760" cy="1088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Scene.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You ask for a new feature: "add rate-limiting to the API." In plan mode the AI comes back with: </a:t>
            </a:r>
            <a:pPr algn="l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"I'll add a middleware layer, introduce Redis for the counter store, and modify all 12 route handlers."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You didn't want a new Redis dependency for a small app. You reply: </a:t>
            </a:r>
            <a:pPr algn="l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"No external store — use an in-memory limiter, and wrap it once at the router level, not per-route."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AI revises the plan. You approve. It edits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 files instead of 14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Plan mode just saved you a bloated dependency and twelve unnecessary diffs.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4200" y="3393182"/>
            <a:ext cx="5278802" cy="2534444"/>
          </a:xfrm>
          <a:prstGeom prst="roundRect">
            <a:avLst>
              <a:gd name="adj" fmla="val 10322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7573" y="3586559"/>
            <a:ext cx="489205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 Plan Mode When…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7573" y="3928070"/>
            <a:ext cx="4892057" cy="1806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change spans multiple files or you're unsure how many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You're working in unfamiliar code and want the AI to map it first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approach is uncertain — there are several ways to do it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action is hard to reverse (schema migrations, auth changes, deletions)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8594" y="3393182"/>
            <a:ext cx="5278901" cy="2534444"/>
          </a:xfrm>
          <a:prstGeom prst="roundRect">
            <a:avLst>
              <a:gd name="adj" fmla="val 10322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1966" y="3586559"/>
            <a:ext cx="489215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Skip Plan Mode When…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1966" y="3928070"/>
            <a:ext cx="4892156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could describe the diff in one sentence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It's a typo fix, a log line, or a variable rename</a:t>
            </a:r>
            <a:endParaRPr lang="en-US" sz="1350" dirty="0"/>
          </a:p>
          <a:p>
            <a:pPr algn="l" marL="274320" indent="-27432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Planning a one-liner is wasted ceremony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006104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Make Plan Mode Conversational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2883198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Don't accept the first plan. Push on it. Every weakness you catch in the plan is a bug you don't have to debug later. The more precise your constraints — name specific files, point to a pattern already in the codebase — the fewer corrections you'll need afterward.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3677047"/>
            <a:ext cx="3452032" cy="1174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750" y="3860602"/>
            <a:ext cx="308493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"What happens if the input is empty?"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782" y="3677047"/>
            <a:ext cx="3452032" cy="1174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53332" y="3860602"/>
            <a:ext cx="308493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"What existing code does this touch?"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364" y="3677047"/>
            <a:ext cx="3452032" cy="1174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88914" y="3860602"/>
            <a:ext cx="3084931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"Is there a simpler approach that avoids a new dependency?"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91332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1.3 Your Safety Net: Version Control &amp; Verification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2044" y="2076648"/>
            <a:ext cx="5402028" cy="1962051"/>
          </a:xfrm>
          <a:prstGeom prst="roundRect">
            <a:avLst>
              <a:gd name="adj" fmla="val 22455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5594" y="2260203"/>
            <a:ext cx="50349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Commit Constantly, With Real Messages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5594" y="2698750"/>
            <a:ext cx="5034928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"Add login form validation" — not "stuff." Your git history becomes a narrated record of what the AI did and why, and your instant rollback path. Meaningful commit messages are the difference between a useful history and an unreadable 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6128" y="2260203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Verify Every Change Yourself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6128" y="2698750"/>
            <a:ext cx="5137716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it. Run the tests. Click the button. The AI saying "this should work" is a hypothesis, not a result.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Trust the running programme, not the reassuring summary.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Verification is the final gate before a change becomes part of your codebase.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4200" y="4245173"/>
            <a:ext cx="10723294" cy="1321495"/>
          </a:xfrm>
          <a:prstGeom prst="roundRect">
            <a:avLst>
              <a:gd name="adj" fmla="val 20837"/>
            </a:avLst>
          </a:prstGeom>
          <a:solidFill>
            <a:srgbClr val="00805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750" y="4510782"/>
            <a:ext cx="229388" cy="1835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30689" y="4474567"/>
            <a:ext cx="9943256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essential principle of Part 1: Keep every change small enough to read, plan the risky ones before touching code, review every diff, and commit constantly. Control isn't about distrusting the AI — it's about never accepting a change you don't understand.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2469555"/>
            <a:ext cx="674075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4330" y="2524621"/>
            <a:ext cx="10634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2821980"/>
            <a:ext cx="10723294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AI Coding Toolbox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4200" y="3800971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coding tools fall into four families. Knowing which family you're reaching for — and why — is half the battle. Prices below are approximate 2026 figures; always confirm current numbers on the vendor's own pricing page.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82526"/>
            <a:ext cx="10723294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Four Families of AI Coding Tools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540073"/>
            <a:ext cx="1458082" cy="9011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2663527"/>
            <a:ext cx="25140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 Builders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34200" y="3021211"/>
            <a:ext cx="2514041" cy="2867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Lovable, v0, Bolt, Replit Agent.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Describe an app in plain English and get a working, hosted web app — frontend, backend, database, and a URL — often within minutes. Best for getting a first MVP or prototype in front of people fast, and for non-developers. Trade-off: less low-level control.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585" y="1540073"/>
            <a:ext cx="1458082" cy="9011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0585" y="2663527"/>
            <a:ext cx="25140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AI-Native IDEs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470585" y="3021211"/>
            <a:ext cx="2514041" cy="315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Cursor, Windsurf.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 full code editor with deeply integrated AI: multi-file edits, agentic tasks, codebase-wide understanding. Best for daily professional development where you want power </a:t>
            </a:r>
            <a:pPr algn="l" indent="0" marL="0">
              <a:lnSpc>
                <a:spcPct val="132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and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your hands on the code. Cursor is widely rated the strongest agentic IDE; Windsurf covers similar ground at a friendlier price.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970" y="1540073"/>
            <a:ext cx="1458082" cy="9011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06970" y="2663527"/>
            <a:ext cx="25140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Terminal / CLI Agents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206970" y="3021211"/>
            <a:ext cx="2514041" cy="315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Claude Code, OpenAI Codex CLI.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AI lives in your terminal, reads your whole repo, and executes multi-step tasks with a large context window. Best for complex refactoring, repo-wide changes, and developers who live in the command line. Claude Code is frequently rated the top overall tool for repository-scale work in 2026.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354" y="1540073"/>
            <a:ext cx="1458181" cy="9012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43354" y="2663627"/>
            <a:ext cx="251414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Inline Assistants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943354" y="3021310"/>
            <a:ext cx="2514140" cy="258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 Copilot and similar.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Autocomplete-style suggestions inside your existing editor as you type. Best for staying in your current setup and speeding up line-by-line writing. The lightest-touch option with the highest degree of manual control.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05346"/>
            <a:ext cx="10723294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Quick Comparison: The Four Families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734200" y="1521023"/>
            <a:ext cx="10723294" cy="4631531"/>
          </a:xfrm>
          <a:prstGeom prst="roundRect">
            <a:avLst>
              <a:gd name="adj" fmla="val 564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4200" y="2286000"/>
            <a:ext cx="10723294" cy="10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4200" y="3319859"/>
            <a:ext cx="10723294" cy="10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4200" y="4625777"/>
            <a:ext cx="10723294" cy="10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4200" y="5387578"/>
            <a:ext cx="10723294" cy="10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5072" y="1633041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Family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42943" y="1633041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Examples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70814" y="1633041"/>
            <a:ext cx="261722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You Get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27101" y="1633041"/>
            <a:ext cx="261722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483389" y="1633041"/>
            <a:ext cx="133197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Control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54428" y="1633041"/>
            <a:ext cx="722394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~Cost (2026)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5072" y="2394843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 Builder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42943" y="2394843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Lovable, v0, Bolt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70814" y="2394843"/>
            <a:ext cx="2007641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hosted app from a prompt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27101" y="2394843"/>
            <a:ext cx="2007641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First MVP, non-devs, speed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83389" y="2394843"/>
            <a:ext cx="133197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54428" y="2394843"/>
            <a:ext cx="722394" cy="81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Free tier; ~$25–50/mo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5072" y="3428702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IDE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42943" y="3428702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Cursor, Windsurf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70814" y="3428702"/>
            <a:ext cx="261722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Agentic editor, multi-file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27101" y="3428702"/>
            <a:ext cx="261722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Daily pro dev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83389" y="3428702"/>
            <a:ext cx="133197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554428" y="3428702"/>
            <a:ext cx="722394" cy="1088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~$20/mo; teams ~$32–40/seat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15072" y="4734620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 Agent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42943" y="4734620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Claude Code, Codex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70814" y="4734620"/>
            <a:ext cx="261722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Repo-wide terminal agent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27101" y="4734620"/>
            <a:ext cx="261722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Refactors, big changes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483389" y="4734620"/>
            <a:ext cx="133197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554428" y="4734620"/>
            <a:ext cx="722394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Usage/seat-based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5072" y="5496421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Inline Assistant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842943" y="5496421"/>
            <a:ext cx="218881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 Copilot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770814" y="5496421"/>
            <a:ext cx="2007641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Autocomplete in your editor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27101" y="5496421"/>
            <a:ext cx="2617226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Incremental speed-up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483389" y="5496421"/>
            <a:ext cx="133197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Highest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554428" y="5496421"/>
            <a:ext cx="722394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~$10–20/mo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805954"/>
            <a:ext cx="10723294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Tool Relay: Using the Right Tool at the Right Moment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734200" y="1621631"/>
            <a:ext cx="19050" cy="1460798"/>
          </a:xfrm>
          <a:prstGeom prst="roundRect">
            <a:avLst>
              <a:gd name="adj" fmla="val 59999"/>
            </a:avLst>
          </a:prstGeom>
          <a:solidFill>
            <a:srgbClr val="16FFBB"/>
          </a:solidFill>
          <a:ln/>
        </p:spPr>
      </p:sp>
      <p:sp>
        <p:nvSpPr>
          <p:cNvPr id="4" name="Text 2"/>
          <p:cNvSpPr/>
          <p:nvPr/>
        </p:nvSpPr>
        <p:spPr>
          <a:xfrm>
            <a:off x="995734" y="1807964"/>
            <a:ext cx="10461760" cy="1088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Scene.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 founder wants to test a booking-app idea this weekend. Friday night: she uses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Lovable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go from idea to a clickable, hosted app she can send to five potential users — no setup, no servers. Their feedback is positive. The next week, she exports the project to GitHub and opens it in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Cursor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add real payment logic and tighten the UI with full control. A month later, when she needs a gnarly refactor across the whole backend, she runs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Claude Code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the terminal to do it repo-wide. Same product, three tools, each used where it shines.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3268861"/>
            <a:ext cx="3574365" cy="6975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8523" y="4131965"/>
            <a:ext cx="322571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 Builder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8523" y="4473476"/>
            <a:ext cx="322571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Validate the idea fast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566" y="3268861"/>
            <a:ext cx="3574464" cy="6975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2889" y="4131965"/>
            <a:ext cx="322581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IDE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82889" y="4473476"/>
            <a:ext cx="322581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Serious day-to-day building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030" y="3268861"/>
            <a:ext cx="3574365" cy="6975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57353" y="4131965"/>
            <a:ext cx="322571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CLI Agent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057353" y="4473476"/>
            <a:ext cx="322571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Repo-scale surgery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34200" y="5106194"/>
            <a:ext cx="10723294" cy="945852"/>
          </a:xfrm>
          <a:prstGeom prst="roundRect">
            <a:avLst>
              <a:gd name="adj" fmla="val 27657"/>
            </a:avLst>
          </a:prstGeom>
          <a:solidFill>
            <a:srgbClr val="00805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523" y="5355630"/>
            <a:ext cx="217978" cy="1743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00824" y="5315347"/>
            <a:ext cx="9982347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essential principle of Part 2: Pick the tool by the job. Speed-to-MVP → app builder. Daily controlled development → AI IDE. Repo-wide heavy lifting → CLI agent. Incremental typing help → inline assistant.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2469555"/>
            <a:ext cx="671000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4330" y="2524621"/>
            <a:ext cx="1060324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2821980"/>
            <a:ext cx="10723294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Where to Run Your App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4200" y="3800971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Lovable vs. the Cloud — Lovable will happily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host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your app too — one click and it's live at a URL. That's wonderful for speed and a trap if you mistake it for a permanent production home.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979289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Running on Lovable Gives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1856383"/>
            <a:ext cx="10723294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you publish on Lovable, it handles everything: the servers, the database, the deployment, the domain. You never touch infrastructure. For a prototype or an early MVP, this is close to magical — you go from prompt to a live, shareable app with zero DevOps knowledge.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2044" y="2943920"/>
            <a:ext cx="5402028" cy="2934692"/>
          </a:xfrm>
          <a:prstGeom prst="roundRect">
            <a:avLst>
              <a:gd name="adj" fmla="val 15013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5594" y="3127474"/>
            <a:ext cx="50349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5594" y="3566021"/>
            <a:ext cx="5034928" cy="2248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Zero setup.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No servers, no build pipeline, no config. It just works.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Instant.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Publish in one click; share a URL in seconds.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All-in-one.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Building, hosting, and the database live in one place and one bill.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Perfect for validation.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Ideal to test an idea, demo to users, or raise interest before investing in real infrastructure.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6128" y="3127474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Limits (the part people learn too late)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6128" y="3566021"/>
            <a:ext cx="5137716" cy="2184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Limited control.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You can't tune the server, add arbitrary backend services, or drop to low-level configuration.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Vendor dependency.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Pricing changes, feature limits, or outages on their side directly hit your live app.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Harder to scale into.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Complex backend logic, persistent connections, heavy traffic, or strict compliance needs eventually outgrow the builder's model.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832445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Running in the Cloud Gives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1709539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"The cloud" here means hosting the app yourself on a platform like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Vercel/Netlify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(great for frontends and serverless) or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AWS/Azure/GCP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(maximum flexibility and scale). You own the deployment.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2044" y="2503388"/>
            <a:ext cx="5402028" cy="3522067"/>
          </a:xfrm>
          <a:prstGeom prst="roundRect">
            <a:avLst>
              <a:gd name="adj" fmla="val 12509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5594" y="2686943"/>
            <a:ext cx="50349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5594" y="3125490"/>
            <a:ext cx="5034928" cy="2835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Full control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over infrastructure, backend services, databases, scaling, and security.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Scales as far as you need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from a hobby project to millions of users.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builder lock-in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your app is standard code in your own repository.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 control at scale.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Many small apps sit comfortably in free tiers — it's common to run several small production apps for under ~$20/month on AWS.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6128" y="2686943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6128" y="3125490"/>
            <a:ext cx="5137716" cy="1890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You manage more.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Deployment pipelines, environment config, monitoring, and security become your job.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learning curve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especially on AWS, where flexibility comes with complexity.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Costs can surprise you at scale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if you don't watch usage carefully.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855266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Lovable vs. the Cloud: Side by Side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4200" y="1732359"/>
            <a:ext cx="10723294" cy="4270375"/>
          </a:xfrm>
          <a:prstGeom prst="roundRect">
            <a:avLst>
              <a:gd name="adj" fmla="val 644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4200" y="2268538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4200" y="2801541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4200" y="3334544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4200" y="3867547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4200" y="4400550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4200" y="4933553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4200" y="5466556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24200" y="1855192"/>
            <a:ext cx="345560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Dimension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37318" y="1855192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Run on Lovable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86007" y="1855192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Run in the Cloud (Vercel / AWS)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4200" y="2388195"/>
            <a:ext cx="345560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Setup effort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37318" y="2388195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Almost none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86007" y="2388195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Moderate (Vercel) to high (AWS)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4200" y="2921198"/>
            <a:ext cx="345560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37318" y="2921198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Limited to the builder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86007" y="2921198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4200" y="3454202"/>
            <a:ext cx="345560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Best stage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37318" y="3454202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Prototype, early MVP, demos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86007" y="3454202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Growth, production, scale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4200" y="3987205"/>
            <a:ext cx="345560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Backend flexibility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37318" y="3987205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Constrained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86007" y="3987205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Anything you can code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4200" y="4520208"/>
            <a:ext cx="345560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Lock-in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37318" y="4520208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 (their platform)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86007" y="4520208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 (your repo)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4200" y="5053211"/>
            <a:ext cx="345560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Who manages infra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37318" y="5053211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Lovable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86007" y="5053211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/ your team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4200" y="5586214"/>
            <a:ext cx="345560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Cost shape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37318" y="5586214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Subscription + usage credits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86007" y="5586214"/>
            <a:ext cx="399117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Usage-based; free tiers common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80244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Winning Strategy: Build Fast, Then Take Control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4200" y="1557338"/>
            <a:ext cx="25399" cy="1881287"/>
          </a:xfrm>
          <a:prstGeom prst="roundRect">
            <a:avLst>
              <a:gd name="adj" fmla="val 60001"/>
            </a:avLst>
          </a:prstGeom>
          <a:solidFill>
            <a:srgbClr val="16FFBB"/>
          </a:solidFill>
          <a:ln/>
        </p:spPr>
      </p:sp>
      <p:sp>
        <p:nvSpPr>
          <p:cNvPr id="4" name="Text 2"/>
          <p:cNvSpPr/>
          <p:nvPr/>
        </p:nvSpPr>
        <p:spPr>
          <a:xfrm>
            <a:off x="1009526" y="1763812"/>
            <a:ext cx="10447969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Scene — the graceful migration.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 app built on Lovable starts getting real traction — a few thousand users, a feature request for a background job Lovable can't run. Instead of a panic rebuild, the team uses Lovable's GitHub export: the whole project is already standard code in a repo. They connect that repo to Vercel for the frontend and stand up the backend on AWS. Deployment is now automatic on every git push. They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keep using Lovable to prototype new features quickly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but production lives on infrastructure they fully control.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4200" y="3645198"/>
            <a:ext cx="3452032" cy="2532459"/>
          </a:xfrm>
          <a:prstGeom prst="roundRect">
            <a:avLst>
              <a:gd name="adj" fmla="val 10873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6800" y="3847802"/>
            <a:ext cx="30468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Lovable for Speed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6800" y="4212927"/>
            <a:ext cx="3046832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Prototype and validate in the builder. Find out if the app should exist before investing in infrastructure.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9782" y="3645198"/>
            <a:ext cx="3452032" cy="2532459"/>
          </a:xfrm>
          <a:prstGeom prst="roundRect">
            <a:avLst>
              <a:gd name="adj" fmla="val 10873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382" y="3847802"/>
            <a:ext cx="30468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Cloud for Control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382" y="4212927"/>
            <a:ext cx="3046832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the app matters, export to Git and host on a cloud platform. Migrate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builder's limits become painful, not after.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5364" y="3645198"/>
            <a:ext cx="3452032" cy="2532459"/>
          </a:xfrm>
          <a:prstGeom prst="roundRect">
            <a:avLst>
              <a:gd name="adj" fmla="val 10873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7963" y="3847802"/>
            <a:ext cx="30468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Trigger to Move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07963" y="4212927"/>
            <a:ext cx="3046832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 users depending on uptime, a backend need the builder can't meet, or cost/compliance requirements. Because a builder exports to standard code, the move is a migration, not a rebuild.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2469555"/>
            <a:ext cx="676258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4330" y="2524621"/>
            <a:ext cx="1065583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2821980"/>
            <a:ext cx="10723294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Keeping Your Expenses in Check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4200" y="3800971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coding costs sneak up on people because they come from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three separate meters running at once.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Know all three, and you can estimate your monthly bill before it arrives.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74179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Three Meters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1451273"/>
            <a:ext cx="3452032" cy="48325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0037" y="1588889"/>
            <a:ext cx="220260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43150" y="2185491"/>
            <a:ext cx="303413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Tool Subscription / Credits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43150" y="2550616"/>
            <a:ext cx="3034133" cy="352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 builders and AI tools increasingly bill by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usage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not a flat fee. Lovable uses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credits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roughly one credit per message, with light changes costing a fraction and complex multi-file features costing several. Approximate 2026 plans: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Free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(a few credits/day),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 ~$25/month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(~100 credits),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Business ~$50/month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 team features. Heavy prompting burns credits faster than the monthly grant, and overages add up.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9782" y="1451273"/>
            <a:ext cx="3452032" cy="48325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5618" y="1588889"/>
            <a:ext cx="220260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8732" y="2185491"/>
            <a:ext cx="303413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Model Tokens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8732" y="2550616"/>
            <a:ext cx="3034133" cy="2643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Tools like Cursor, Windsurf, and Claude Code consume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tokens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units of text the model reads and writes. Big context (feeding whole files or repos) and long back-and-forth conversations burn tokens fast. This is often the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largest and most variable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cost for serious development, and it's the one Part 5 helps you cut.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364" y="1451273"/>
            <a:ext cx="3452032" cy="48325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21200" y="1588889"/>
            <a:ext cx="220260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214313" y="2185491"/>
            <a:ext cx="303413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Hosting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14313" y="2550616"/>
            <a:ext cx="3034133" cy="20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 you run on Lovable, hosting is usually bundled into your credits/subscription and is minimal for small apps. If you run in the cloud, it's a separate bill — often free-tier for small apps, but growing with traffic, database size, and compute.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31924"/>
            <a:ext cx="10723294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 Worked Estimate: The Surprise Invoice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734200" y="1447602"/>
            <a:ext cx="19050" cy="1188839"/>
          </a:xfrm>
          <a:prstGeom prst="roundRect">
            <a:avLst>
              <a:gd name="adj" fmla="val 59999"/>
            </a:avLst>
          </a:prstGeom>
          <a:solidFill>
            <a:srgbClr val="16FFBB"/>
          </a:solidFill>
          <a:ln/>
        </p:spPr>
      </p:sp>
      <p:sp>
        <p:nvSpPr>
          <p:cNvPr id="4" name="Text 2"/>
          <p:cNvSpPr/>
          <p:nvPr/>
        </p:nvSpPr>
        <p:spPr>
          <a:xfrm>
            <a:off x="995734" y="1633934"/>
            <a:ext cx="10461760" cy="81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Scene.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 solo builder subscribes to Lovable Pro at ~$25/month and assumes that's the whole cost. But they prompt heavily — lots of "actually, redo it this way" — blow through their credit grant, buy overage credits, and add a custom domain. The real bill lands nearer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$60–80/month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Nothing was hidden; they just watched only one of the three meters.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4200" y="2822773"/>
            <a:ext cx="10723294" cy="2944813"/>
          </a:xfrm>
          <a:prstGeom prst="roundRect">
            <a:avLst>
              <a:gd name="adj" fmla="val 888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4200" y="3315692"/>
            <a:ext cx="10723294" cy="10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4200" y="3805436"/>
            <a:ext cx="10723294" cy="10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4200" y="4295180"/>
            <a:ext cx="10723294" cy="10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4200" y="4784923"/>
            <a:ext cx="10723294" cy="10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4200" y="5274667"/>
            <a:ext cx="10723294" cy="109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5072" y="2934791"/>
            <a:ext cx="454509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99230" y="2934791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Type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2349" y="2934791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5072" y="3424535"/>
            <a:ext cx="454509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Tool subscription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99230" y="3424535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Fixed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349" y="3424535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$25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5072" y="3914279"/>
            <a:ext cx="454509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Expected overage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99230" y="3914279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Usage (heavy prompting)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12349" y="3914279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5072" y="4404023"/>
            <a:ext cx="454509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 tokens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99230" y="4404023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Varies a lot (IDE/agent)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349" y="4404023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$20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5072" y="4893766"/>
            <a:ext cx="454509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 hosting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99230" y="4893766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Often free tier at first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12349" y="4893766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$0–20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15072" y="5383510"/>
            <a:ext cx="454509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Realistic monthly total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99230" y="5383510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349" y="5383510"/>
            <a:ext cx="3474058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~$60–80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4200" y="5953919"/>
            <a:ext cx="1133287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lesson isn't "it's expensive" — it's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budget for all the meters, not just the sticker price.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24185"/>
            <a:ext cx="10723294" cy="458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Practical Ways to Keep the Bill Down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1380430"/>
            <a:ext cx="413037" cy="413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1979315"/>
            <a:ext cx="5268681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Watch the Usage Dashboard Weekly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4200" y="2297906"/>
            <a:ext cx="526868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Not at month-end. Every good tool shows credit/token consumption; check it before it surprises you.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8714" y="1380430"/>
            <a:ext cx="413037" cy="413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8714" y="1979315"/>
            <a:ext cx="5268781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Prompt Deliberately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188714" y="2297906"/>
            <a:ext cx="526878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Fewer, better-aimed prompts do the same work with far fewer credits/tokens. Aimless "try again" loops are pure waste.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3097312"/>
            <a:ext cx="413037" cy="413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4200" y="3696196"/>
            <a:ext cx="5268681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Stay in Free Tiers While Validating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34200" y="4014788"/>
            <a:ext cx="526868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Don't pay for scale you don't have yet; a prototype rarely needs a paid hosting plan.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8714" y="3097312"/>
            <a:ext cx="413037" cy="413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8714" y="3696196"/>
            <a:ext cx="5268781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Match the Model to the Task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188714" y="4014788"/>
            <a:ext cx="526878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Reserve the most powerful (expensive) model for hard problems; let a cheaper model handle routine edits. Many tools let you switch.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4200" y="4814193"/>
            <a:ext cx="413037" cy="413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4200" y="5413077"/>
            <a:ext cx="5268681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Cache and Reuse Context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734200" y="5731669"/>
            <a:ext cx="526868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Where the tool supports it — prompt caching alone can cut token costs dramatically (see Part 5).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8714" y="4814193"/>
            <a:ext cx="413037" cy="41304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88714" y="5413077"/>
            <a:ext cx="5268781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Set a Billing Alert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6188714" y="5731669"/>
            <a:ext cx="526878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AWS/Vercel let you cap or alert. A $5 alert catches a runaway before it's a $500 one.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2469555"/>
            <a:ext cx="670801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4330" y="2524621"/>
            <a:ext cx="106012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2821980"/>
            <a:ext cx="10723294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Prompting the AI Well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4200" y="3800971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Better output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and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lower cost. Benchmarks in 2026 found that trimming unnecessary context cut token use by up to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~70%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with no loss in quality — and combined techniques routinely reach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60–90% savings.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937742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5.1 Give Tight, Targeted Context — Not the Whole Repo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4200" y="2929533"/>
            <a:ext cx="2140095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4" name="Text 2"/>
          <p:cNvSpPr/>
          <p:nvPr/>
        </p:nvSpPr>
        <p:spPr>
          <a:xfrm>
            <a:off x="844330" y="2984599"/>
            <a:ext cx="252942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PROMPT A — WHAT NOT TO DO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4200" y="3415010"/>
            <a:ext cx="5137716" cy="1339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"Here's my entire codebase [pastes 30 files]. The login is broken, fix it."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AI wades through everything, burns thousands of tokens, and guesses. Result: slow, expensive, imprecise.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93972" y="2723059"/>
            <a:ext cx="5402028" cy="2197100"/>
          </a:xfrm>
          <a:prstGeom prst="roundRect">
            <a:avLst>
              <a:gd name="adj" fmla="val 20053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77522" y="2929533"/>
            <a:ext cx="2484375" cy="279003"/>
          </a:xfrm>
          <a:prstGeom prst="roundRect">
            <a:avLst>
              <a:gd name="adj" fmla="val 78956"/>
            </a:avLst>
          </a:prstGeom>
          <a:solidFill>
            <a:srgbClr val="CCFFF0"/>
          </a:solidFill>
          <a:ln/>
        </p:spPr>
      </p:sp>
      <p:sp>
        <p:nvSpPr>
          <p:cNvPr id="8" name="Text 6"/>
          <p:cNvSpPr/>
          <p:nvPr/>
        </p:nvSpPr>
        <p:spPr>
          <a:xfrm>
            <a:off x="6487653" y="2984599"/>
            <a:ext cx="28737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PROMPT B — THE RIGHT APPROACH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77522" y="3415010"/>
            <a:ext cx="564451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"In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467743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5.2 Front-Load the Context That Prevents Exploration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2344837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fact the AI has to go hunting for costs tokens and invites mistakes. Give it upfront. This "context engineering" is the highest-leverage habit — it eliminates the expensive exploration loops where an AI reads dozens of files trying to orient itself.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3138686"/>
            <a:ext cx="3452032" cy="2251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4747" y="3347641"/>
            <a:ext cx="293253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Relevant Files &amp; Errors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44747" y="3712766"/>
            <a:ext cx="2932535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relevant file(s) and the exact error message or failing test. Don't make the AI search for what you already know.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9782" y="3138686"/>
            <a:ext cx="3452032" cy="2251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80329" y="3347641"/>
            <a:ext cx="293253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680329" y="3712766"/>
            <a:ext cx="2932535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"No new dependencies," "match the existing style in 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," "keep it under 50 lines." Explicit constraints prevent the AI from making choices you'll have to undo.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364" y="3138686"/>
            <a:ext cx="3452032" cy="2251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15911" y="3347641"/>
            <a:ext cx="293253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Pattern to Follow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315911" y="3712766"/>
            <a:ext cx="2932535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Point at existing code that does something similar. "Do it like 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getUser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does." Agents do far better matching an example than inventing from scratch.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852091"/>
            <a:ext cx="6151409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5.3 Tighten the Prompt Itself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4200" y="1637407"/>
            <a:ext cx="413037" cy="413048"/>
          </a:xfrm>
          <a:prstGeom prst="ellipse">
            <a:avLst/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30788" y="1700510"/>
            <a:ext cx="555482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Lead With the Key Instruction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30788" y="2065635"/>
            <a:ext cx="5554821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"Refactor 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parseDate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 handle ISO strings. Return a Date or null." beats three sentences of throat-clearing. Put the action first, context second.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4200" y="3313807"/>
            <a:ext cx="413037" cy="413048"/>
          </a:xfrm>
          <a:prstGeom prst="ellipse">
            <a:avLst/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30788" y="3376910"/>
            <a:ext cx="555482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Ask for the Format You Want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30788" y="3742035"/>
            <a:ext cx="5554821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"Reply with only the diff," "just the changed function," "no explanation." Generating prose you don't need is tokens you paid for and won't read.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4200" y="4696520"/>
            <a:ext cx="413037" cy="413048"/>
          </a:xfrm>
          <a:prstGeom prst="ellipse">
            <a:avLst/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0788" y="4759623"/>
            <a:ext cx="555482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 Specific About Scope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30788" y="5124748"/>
            <a:ext cx="5554821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"Change only this function" prevents the AI from helpfully rewriting things you didn't ask about. Scope constraints are not optional — they're essential.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946473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5.4 Manage the Conversation: A Hidden Cost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4200" y="2823567"/>
            <a:ext cx="25399" cy="1293912"/>
          </a:xfrm>
          <a:prstGeom prst="roundRect">
            <a:avLst>
              <a:gd name="adj" fmla="val 60001"/>
            </a:avLst>
          </a:prstGeom>
          <a:solidFill>
            <a:srgbClr val="16FFBB"/>
          </a:solidFill>
          <a:ln/>
        </p:spPr>
      </p:sp>
      <p:sp>
        <p:nvSpPr>
          <p:cNvPr id="4" name="Text 2"/>
          <p:cNvSpPr/>
          <p:nvPr/>
        </p:nvSpPr>
        <p:spPr>
          <a:xfrm>
            <a:off x="1009526" y="3030041"/>
            <a:ext cx="10447969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Scene — the bloated thread.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 single chat has been going for 40 messages across three unrelated features. Every new prompt now re-sends that entire history — thousands of tokens of stale context — and the AI starts confusing the current task with an earlier one. Starting a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fresh conversation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the new task makes it both cheaper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and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sharper.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4200" y="4324052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Long threads accumulate dead weight; a 20-turn conversation can carry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5,000–10,000 tokens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when 500–1,000 of recent context would do. Start a new session per distinct task, and don't be sentimental about clearing context.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91332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5.5 Two Force-Multipliers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2044" y="2076648"/>
            <a:ext cx="5402028" cy="2255738"/>
          </a:xfrm>
          <a:prstGeom prst="roundRect">
            <a:avLst>
              <a:gd name="adj" fmla="val 19532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5594" y="2260203"/>
            <a:ext cx="50349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Prompt Caching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5594" y="2698750"/>
            <a:ext cx="5034928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Many tools/APIs let you cache a stable chunk of context (your coding standards, a key file) so it isn't re-billed every message. This is often the single highest-ROI optimisation — real teams report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59% to 90%+ cost reductions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from caching alone. If your tool supports it, set it up before anything else.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6128" y="2260203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Routing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6128" y="2698750"/>
            <a:ext cx="5137716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Send routine edits to a cheaper/faster model and save the frontier model for genuinely hard reasoning. Everyday tasks on a lighter model can cut per-token cost by a large margin. Many tools let you select the model per conversation or even per message.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4200" y="4538861"/>
            <a:ext cx="10723294" cy="1027807"/>
          </a:xfrm>
          <a:prstGeom prst="roundRect">
            <a:avLst>
              <a:gd name="adj" fmla="val 26791"/>
            </a:avLst>
          </a:prstGeom>
          <a:solidFill>
            <a:srgbClr val="00805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750" y="4804470"/>
            <a:ext cx="229388" cy="1835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30689" y="4768255"/>
            <a:ext cx="9943256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essential principle of Part 5: Precise, minimal context and tight prompts produce better code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and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smaller bills at the same time. The most expensive prompt is a vague one that sends the AI exploring.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2322711"/>
            <a:ext cx="671000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4330" y="2377777"/>
            <a:ext cx="1060324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 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2675136"/>
            <a:ext cx="10723294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Specialized AI Coding Agents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4200" y="3654127"/>
            <a:ext cx="10723294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a step beyond autocomplete: it can plan, use tools (read files, run commands, search), and execute a multi-step task on its own. A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specialized agent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one you've deliberately scoped to do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kind of job well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and scoping is exactly what makes agents reliable instead of chaotic.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523180"/>
            <a:ext cx="6151409" cy="917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6.1 What Makes an Agent "Specialized"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306086" y="1663998"/>
            <a:ext cx="67609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 ingredients, and all three matter: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71281" y="2330053"/>
            <a:ext cx="165195" cy="1154212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6086" y="2221706"/>
            <a:ext cx="495585" cy="495598"/>
          </a:xfrm>
          <a:prstGeom prst="ellipse">
            <a:avLst/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0007" y="2345630"/>
            <a:ext cx="247743" cy="2477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0297" y="2247503"/>
            <a:ext cx="5507197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 Focused System Prompt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50297" y="2566095"/>
            <a:ext cx="5507197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clear description of the agent's single role and how it should behave. Example: "You are a test-writing agent. You only write and run tests. You never modify application logic."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9024" y="3880743"/>
            <a:ext cx="165195" cy="1154212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553829" y="3772396"/>
            <a:ext cx="495585" cy="495598"/>
          </a:xfrm>
          <a:prstGeom prst="ellipse">
            <a:avLst/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7750" y="3896320"/>
            <a:ext cx="247743" cy="2477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8040" y="3798193"/>
            <a:ext cx="5259454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 Curated Set of Tools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198040" y="4116784"/>
            <a:ext cx="5259454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Only the tools that role needs. A code-reviewer agent gets read-only access; it can't edit or delete anything. Minimum tools = minimum blast radius.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966866" y="5431433"/>
            <a:ext cx="165195" cy="903188"/>
          </a:xfrm>
          <a:prstGeom prst="roundRect">
            <a:avLst>
              <a:gd name="adj" fmla="val 150020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801671" y="5323086"/>
            <a:ext cx="495585" cy="495598"/>
          </a:xfrm>
          <a:prstGeom prst="ellipse">
            <a:avLst/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5592" y="5447010"/>
            <a:ext cx="247743" cy="2477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5882" y="5348883"/>
            <a:ext cx="5011612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 Isolated Context Window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45882" y="5667474"/>
            <a:ext cx="5011612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agent works in its own context on its own subtask, so it isn't distracted by, or polluting, the main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842367"/>
            <a:ext cx="10723294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6.2 A Small Team of Roles Beats One Do-Everything Agent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734200" y="1658045"/>
            <a:ext cx="19050" cy="1460798"/>
          </a:xfrm>
          <a:prstGeom prst="roundRect">
            <a:avLst>
              <a:gd name="adj" fmla="val 59999"/>
            </a:avLst>
          </a:prstGeom>
          <a:solidFill>
            <a:srgbClr val="16FFBB"/>
          </a:solidFill>
          <a:ln/>
        </p:spPr>
      </p:sp>
      <p:sp>
        <p:nvSpPr>
          <p:cNvPr id="4" name="Text 2"/>
          <p:cNvSpPr/>
          <p:nvPr/>
        </p:nvSpPr>
        <p:spPr>
          <a:xfrm>
            <a:off x="995734" y="1844377"/>
            <a:ext cx="10461760" cy="1088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Scene — the assembly line.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Instead of one agent told to "build the feature," a developer sets up a small team. An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Explorer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(read-only) maps how the current code works. A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Planner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(read-only, extra reasoning) proposes the approach. An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Implementer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writes the code. A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Reviewer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(read-only) checks the diff against the plan and the tests. A supervisor routes the work between them. Each agent is simple, scoped, and hard to misuse — and the Reviewer catches the Implementer's mistakes before they land.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4200" y="3305274"/>
            <a:ext cx="5278802" cy="1272381"/>
          </a:xfrm>
          <a:prstGeom prst="roundRect">
            <a:avLst>
              <a:gd name="adj" fmla="val 20559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7573" y="3498652"/>
            <a:ext cx="489205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Code Explorer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7573" y="3840163"/>
            <a:ext cx="4892057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Read-only. Navigates and explains existing code without touching anything.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8594" y="3305274"/>
            <a:ext cx="5278901" cy="1272381"/>
          </a:xfrm>
          <a:prstGeom prst="roundRect">
            <a:avLst>
              <a:gd name="adj" fmla="val 20559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1966" y="3498652"/>
            <a:ext cx="489215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Planner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1966" y="3840163"/>
            <a:ext cx="4892156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Read-only plus deeper reasoning. Designs the approach without executing.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4200" y="4743252"/>
            <a:ext cx="5278802" cy="1272381"/>
          </a:xfrm>
          <a:prstGeom prst="roundRect">
            <a:avLst>
              <a:gd name="adj" fmla="val 20559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7573" y="4936629"/>
            <a:ext cx="489205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Implementer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7573" y="5278140"/>
            <a:ext cx="4892057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Writes the actual changes. Scoped to the approved plan only.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8594" y="4743252"/>
            <a:ext cx="5278901" cy="1272381"/>
          </a:xfrm>
          <a:prstGeom prst="roundRect">
            <a:avLst>
              <a:gd name="adj" fmla="val 20559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1966" y="4936629"/>
            <a:ext cx="489215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Reviewer / Tester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1966" y="5278140"/>
            <a:ext cx="4892156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Read-only or test-only. Verifies quality independently of the Implementer.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653778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Sizing Guidance for Agent Teams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2622649"/>
            <a:ext cx="5246953" cy="60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3–5</a:t>
            </a:r>
            <a:endParaRPr lang="en-US" sz="4750" dirty="0"/>
          </a:p>
        </p:txBody>
      </p:sp>
      <p:sp>
        <p:nvSpPr>
          <p:cNvPr id="4" name="Text 2"/>
          <p:cNvSpPr/>
          <p:nvPr/>
        </p:nvSpPr>
        <p:spPr>
          <a:xfrm>
            <a:off x="734200" y="3457873"/>
            <a:ext cx="524695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Sweet Spot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4200" y="3822998"/>
            <a:ext cx="524695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Specialized agents for most work. Beyond ~10 rarely helps and multiplies cost.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0542" y="2622649"/>
            <a:ext cx="5246953" cy="60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2–3</a:t>
            </a:r>
            <a:endParaRPr lang="en-US" sz="4750" dirty="0"/>
          </a:p>
        </p:txBody>
      </p:sp>
      <p:sp>
        <p:nvSpPr>
          <p:cNvPr id="7" name="Text 5"/>
          <p:cNvSpPr/>
          <p:nvPr/>
        </p:nvSpPr>
        <p:spPr>
          <a:xfrm>
            <a:off x="6210542" y="3457873"/>
            <a:ext cx="524695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Max Nesting Levels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0542" y="3822998"/>
            <a:ext cx="524695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Levels of delegation at most. Deep hierarchies burn tokens for little gain.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4200" y="4616847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Start with 3–5 agents for your most painful tasks. A few well-maintained agents beat a big collection of stale ones. Keep any nesting shallow — deep hierarchies burn tokens for little gain.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49176"/>
            <a:ext cx="10723294" cy="476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6.3 What to Watch Out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4200" y="1347093"/>
            <a:ext cx="1133287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Agents are powerful precisely because they act on their own — which is also the danger.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1793379"/>
            <a:ext cx="3467410" cy="2576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1092" y="1984077"/>
            <a:ext cx="3009825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Blast Radius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1092" y="2318742"/>
            <a:ext cx="3009825" cy="1859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agent with delete or deploy powers can do real damage from one bad step.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Give each agent the minimum tools it needs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restricted access limits how far a mistake can spread. Never hand a broad agent your production credentials.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2142" y="1793379"/>
            <a:ext cx="3467410" cy="25760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29034" y="1984077"/>
            <a:ext cx="3009825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Runaway Loops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629034" y="2318742"/>
            <a:ext cx="3009825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agent can get stuck retrying, burning tokens (and money) with no progress. Set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iteration limits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watch cost. A runaway agent is both expensive and unproductive.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0084" y="1793379"/>
            <a:ext cx="3467410" cy="25760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56976" y="1984077"/>
            <a:ext cx="3009825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Silent Scope Creep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256976" y="2318742"/>
            <a:ext cx="3009825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Told to fix one bug, an agent "helpfully" refactors ten other things. Constrain scope explicitly and review the full diff — not just the files you expected to change.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200" y="4529931"/>
            <a:ext cx="3467410" cy="17788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1092" y="4720630"/>
            <a:ext cx="3009825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Hallucinated APIs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001092" y="5055295"/>
            <a:ext cx="3009825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Agents confidently call functions or libraries that don't exist. Verification (running the code/tests) is what catches this —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never trust unrun code.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2142" y="4529931"/>
            <a:ext cx="3467410" cy="17788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29034" y="4720630"/>
            <a:ext cx="3009825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Serialise the Risky Steps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4629034" y="5055295"/>
            <a:ext cx="3009825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Let safe, read-only work run in parallel, but do high-risk actions (migrations, deploys, deletions) one at a time, with a human gate between each.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79450"/>
            <a:ext cx="10723294" cy="458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6.4 How to Optimise Agent Output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6111" y="1443930"/>
            <a:ext cx="247743" cy="2477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1060" y="1435695"/>
            <a:ext cx="10186435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Scope the task tightly.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"Add validation to the signup form in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signup.js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 gets a clean result; "improve the signup flow" invites sprawl.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111" y="2245122"/>
            <a:ext cx="247743" cy="2477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1060" y="2236887"/>
            <a:ext cx="10186435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Give it a pattern to copy.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Point at existing code that already does something similar; agents do far better matching an example than inventing from scratch.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111" y="3046313"/>
            <a:ext cx="247743" cy="2477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1060" y="3038078"/>
            <a:ext cx="10186435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Demand a verification step.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Require the agent to run the tests or the app and report the actual result — not just claim success. Build "and confirm it passes the tests" into the task.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6111" y="3847505"/>
            <a:ext cx="247743" cy="24774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71060" y="3839270"/>
            <a:ext cx="1018643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Exclude coordination tools from workers.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Keep task-list/orchestration tools with the supervisor only, so each worker stays focused on its job.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6111" y="4648696"/>
            <a:ext cx="247743" cy="24774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71060" y="4640461"/>
            <a:ext cx="10186435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Iterate on the agent's prompt like code.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If an agent keeps making the same mistake, fix its system prompt (add the missing rule or example) rather than correcting it by hand every time.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734200" y="5311577"/>
            <a:ext cx="10723294" cy="866973"/>
          </a:xfrm>
          <a:prstGeom prst="roundRect">
            <a:avLst>
              <a:gd name="adj" fmla="val 28585"/>
            </a:avLst>
          </a:prstGeom>
          <a:solidFill>
            <a:srgbClr val="00805A"/>
          </a:solidFill>
          <a:ln/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395" y="5544939"/>
            <a:ext cx="206469" cy="16519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71060" y="5501481"/>
            <a:ext cx="10021240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essential principle of Part 6: A reliable agent is a </a:t>
            </a:r>
            <a:pPr algn="l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narrow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agent — one clear role, the minimum tools, an isolated context, and a mandatory verification step. Compose a few of these into a small supervised team; never build one all-powerful agent you can't predict.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2616398"/>
            <a:ext cx="664749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4330" y="2671465"/>
            <a:ext cx="1054074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 7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2968823"/>
            <a:ext cx="10723294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 Workflow You Can Adopt Tomorrow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4200" y="3947815"/>
            <a:ext cx="1133287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Putting it all together — a concrete loop that keeps you fast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and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control.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51942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10-Step Daily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2129036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4200" y="2415580"/>
            <a:ext cx="3452032" cy="254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734200" y="2558157"/>
            <a:ext cx="34520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Start Clean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4200" y="2923282"/>
            <a:ext cx="345203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Commit or stash existing work so your next diff is only the AI's change.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69782" y="2129036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9782" y="2415580"/>
            <a:ext cx="3452032" cy="254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4369782" y="2558157"/>
            <a:ext cx="34520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Scope the 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69782" y="2923282"/>
            <a:ext cx="345203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small, sentence-sized change. If it's bigger, split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05364" y="2129036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5364" y="2415580"/>
            <a:ext cx="3452032" cy="254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8005364" y="2558157"/>
            <a:ext cx="3452032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 Plan Mode for Non-Trivial Changes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05364" y="3178274"/>
            <a:ext cx="345203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 the plan, push on edge cases, approve only when it's right.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4200" y="4086820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4200" y="4373364"/>
            <a:ext cx="5269773" cy="2540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734200" y="4515941"/>
            <a:ext cx="52697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Give Tight Context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4200" y="4881066"/>
            <a:ext cx="526977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exact files, the error, the constraints, a pattern to follow. Nothing more.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87523" y="4086820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87523" y="4373364"/>
            <a:ext cx="5269872" cy="254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1" name="Text 19"/>
          <p:cNvSpPr/>
          <p:nvPr/>
        </p:nvSpPr>
        <p:spPr>
          <a:xfrm>
            <a:off x="6187523" y="4515941"/>
            <a:ext cx="526987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Read the Full Diff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87523" y="4881066"/>
            <a:ext cx="5269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Let the AI make the change, then read every line. If you didn't read it, you didn't approve it.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32595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10-Step Daily Loop (Continued)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2109688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4200" y="2396232"/>
            <a:ext cx="3452032" cy="254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734200" y="2538809"/>
            <a:ext cx="34520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Verify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4200" y="2903934"/>
            <a:ext cx="3452032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it, run the tests, click the thing. Trust the running programme, not the reassuring summary.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69782" y="2109688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9782" y="2396232"/>
            <a:ext cx="3452032" cy="254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4369782" y="2538809"/>
            <a:ext cx="34520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Commit With a Clear Message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69782" y="2903934"/>
            <a:ext cx="345203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Now you have a checkpoint. "Add login form validation" — not "stuff."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05364" y="2109688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5364" y="2396232"/>
            <a:ext cx="3452032" cy="254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8005364" y="2538809"/>
            <a:ext cx="34520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Repeat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05364" y="2903934"/>
            <a:ext cx="345203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 step, review, commit — over and over. This rhythm is the whole discipline.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4200" y="4106168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4200" y="4392712"/>
            <a:ext cx="5269773" cy="2540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734200" y="4535289"/>
            <a:ext cx="52697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Watch the Meters Weekly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4200" y="4900414"/>
            <a:ext cx="526977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Keep prompts lean. Check credit/token consumption before it surprises you.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87523" y="4106168"/>
            <a:ext cx="367100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87523" y="4392712"/>
            <a:ext cx="5269872" cy="254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1" name="Text 19"/>
          <p:cNvSpPr/>
          <p:nvPr/>
        </p:nvSpPr>
        <p:spPr>
          <a:xfrm>
            <a:off x="6187523" y="4535289"/>
            <a:ext cx="526987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When the App Matters, Move to the Cloud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87523" y="4900414"/>
            <a:ext cx="5269872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Move it from the builder to cloud hosting you control. Don't wait until the builder's limits become painful.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296888"/>
            <a:ext cx="6151409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One Idea Underneath Everything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4200" y="2592189"/>
            <a:ext cx="25399" cy="1293912"/>
          </a:xfrm>
          <a:prstGeom prst="roundRect">
            <a:avLst>
              <a:gd name="adj" fmla="val 60001"/>
            </a:avLst>
          </a:prstGeom>
          <a:solidFill>
            <a:srgbClr val="16FFBB"/>
          </a:solidFill>
          <a:ln/>
        </p:spPr>
      </p:sp>
      <p:sp>
        <p:nvSpPr>
          <p:cNvPr id="5" name="Text 2"/>
          <p:cNvSpPr/>
          <p:nvPr/>
        </p:nvSpPr>
        <p:spPr>
          <a:xfrm>
            <a:off x="1009526" y="2798663"/>
            <a:ext cx="587608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Coding with AI works when you stay the director: small changes you can read, risky moves planned before they're built, every diff reviewed, and every tool and agent scoped to the minimum it needs.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4200" y="4092674"/>
            <a:ext cx="6151409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AI makes you dramatically faster. Your discipline is what keeps that speed from turning into a codebase you don't understand and a bill you didn't expect. Direct well, review always, and the AI becomes the best junior developer you've ever worked with — one who never gets tired, as long as you never stop paying attention.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871067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Part 1 Recap: Staying in Control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4200" y="2748161"/>
            <a:ext cx="3452032" cy="2238772"/>
          </a:xfrm>
          <a:prstGeom prst="roundRect">
            <a:avLst>
              <a:gd name="adj" fmla="val 1230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6800" y="2950766"/>
            <a:ext cx="30468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Progressive Changes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6800" y="3315891"/>
            <a:ext cx="3046832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logical change per prompt. One commit per working change. Never accept a diff you didn't read. If it's too big to read, it's too big to accept.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69782" y="2748161"/>
            <a:ext cx="3452032" cy="2238772"/>
          </a:xfrm>
          <a:prstGeom prst="roundRect">
            <a:avLst>
              <a:gd name="adj" fmla="val 12300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382" y="2950766"/>
            <a:ext cx="30468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Plan Mode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382" y="3315891"/>
            <a:ext cx="3046832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it for multi-file changes, unfamiliar code, uncertain approaches, and hard-to-reverse actions. Make it conversational — push on the plan before approving.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05364" y="2748161"/>
            <a:ext cx="3452032" cy="2238772"/>
          </a:xfrm>
          <a:prstGeom prst="roundRect">
            <a:avLst>
              <a:gd name="adj" fmla="val 12300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7963" y="2950766"/>
            <a:ext cx="30468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Version Control &amp; Verification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07963" y="3315891"/>
            <a:ext cx="3046832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Commit constantly with real messages. Verify every change yourself — run it, run the tests, click the button. Trust the running programme, not the summary.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872430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Part 2 Recap: The AI Coding Toolbox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1749524"/>
            <a:ext cx="458875" cy="4588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2437805"/>
            <a:ext cx="524695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 Builders → Speed to MVP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4200" y="2802930"/>
            <a:ext cx="524695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Lovable, v0, Bolt. Prompt-to-app in minutes. Best for validation and non-developers. Lower control, but unbeatable for getting something in front of users fast.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0542" y="1749524"/>
            <a:ext cx="458875" cy="4588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0542" y="2437805"/>
            <a:ext cx="524695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IDEs → Daily Pro Dev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10542" y="2802930"/>
            <a:ext cx="524695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Cursor, Windsurf. Full agentic editor with multi-file understanding. The right tool for serious, controlled, day-to-day development work.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4051102"/>
            <a:ext cx="458875" cy="4588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4200" y="4739382"/>
            <a:ext cx="524695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CLI Agents → Repo-Scale Surgery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34200" y="5104507"/>
            <a:ext cx="524695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Claude Code, Codex CLI. Repo-wide terminal agents for complex refactors and big changes. Claude Code rated top for repository-scale work in 2026.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0542" y="4051102"/>
            <a:ext cx="458875" cy="4588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0542" y="4739382"/>
            <a:ext cx="524695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Inline Assistants → Incremental Speed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210542" y="5104507"/>
            <a:ext cx="524695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 Copilot. Autocomplete in your existing editor. Lightest touch, highest manual control, lowest cost. Best for staying in your current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582737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Part 3 Recap: Lovable vs. the Cloud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2044" y="2368054"/>
            <a:ext cx="5402028" cy="2907209"/>
          </a:xfrm>
          <a:prstGeom prst="roundRect">
            <a:avLst>
              <a:gd name="adj" fmla="val 15155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5594" y="2551609"/>
            <a:ext cx="50349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 Lovable When…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5594" y="2990155"/>
            <a:ext cx="5034928" cy="1661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You're validating whether the app should exist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need a prototype or demo in front of users fast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have zero DevOps knowledge and need to move quickly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You're prototyping new features even after migrating production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6128" y="2551609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Move to the Cloud When…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6128" y="2990155"/>
            <a:ext cx="5137716" cy="1367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 users are depending on uptime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need a backend capability the builder can't provide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Cost or compliance requirements demand it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app needs to survive and scale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6128" y="4522688"/>
            <a:ext cx="5137716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Because a builder exports to standard code, the move is a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migration, not a rebuild.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461889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Part 4 Recap: Keeping Costs in Check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2338983"/>
            <a:ext cx="3452032" cy="30571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22554" y="2458045"/>
            <a:ext cx="275325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43150" y="3098602"/>
            <a:ext cx="303413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Know All Three Meters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43150" y="3463727"/>
            <a:ext cx="3034133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Tool subscription/credits, model tokens, and hosting. Estimate all three before you start, not after the invoice arrives.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9782" y="2338983"/>
            <a:ext cx="3452032" cy="30571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8135" y="2458045"/>
            <a:ext cx="275325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4578732" y="3098602"/>
            <a:ext cx="303413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Watch Usage Weekly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8732" y="3463727"/>
            <a:ext cx="303413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Not at month-end. Every good tool shows consumption dashboards. Check them before they surprise you.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364" y="2338983"/>
            <a:ext cx="3452032" cy="30571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93717" y="2458045"/>
            <a:ext cx="275325" cy="344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8214313" y="3098602"/>
            <a:ext cx="3034133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Let Prompting Do the Cost-Cutting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14313" y="3718719"/>
            <a:ext cx="3034133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Disciplined prompting (Part 5) is the highest-leverage cost reduction. Fewer, better-aimed prompts do the same work with far fewer credits and tokens.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972939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Part 5 Recap: Prompting Well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4200" y="1850033"/>
            <a:ext cx="3452032" cy="2200077"/>
          </a:xfrm>
          <a:prstGeom prst="roundRect">
            <a:avLst>
              <a:gd name="adj" fmla="val 12516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6800" y="2052638"/>
            <a:ext cx="30468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Tight, Targeted 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6800" y="2417762"/>
            <a:ext cx="3046832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Feed the model the exact code section that needs help, plus the specific error and constraints. Not your whole project.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69782" y="1850033"/>
            <a:ext cx="3452032" cy="2200077"/>
          </a:xfrm>
          <a:prstGeom prst="roundRect">
            <a:avLst>
              <a:gd name="adj" fmla="val 12516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382" y="2052638"/>
            <a:ext cx="3046832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Front-Load to Prevent Exploration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382" y="2672755"/>
            <a:ext cx="3046832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Relevant files, error messages, constraints, and a pattern to follow — all upfront. Eliminate expensive exploration loops.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05364" y="1850033"/>
            <a:ext cx="3452032" cy="2200077"/>
          </a:xfrm>
          <a:prstGeom prst="roundRect">
            <a:avLst>
              <a:gd name="adj" fmla="val 12516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7963" y="2052638"/>
            <a:ext cx="30468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Tighten the Prompt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07963" y="2417762"/>
            <a:ext cx="3046832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Lead with the key instruction. Ask for the format you want. Be specific about scope. No throat-clearing.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4200" y="4233664"/>
            <a:ext cx="5269773" cy="1651397"/>
          </a:xfrm>
          <a:prstGeom prst="roundRect">
            <a:avLst>
              <a:gd name="adj" fmla="val 16675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6800" y="4436269"/>
            <a:ext cx="486457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Manage the Conversation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6800" y="4801394"/>
            <a:ext cx="4864574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Start a new session per distinct task. Long threads carry thousands of tokens of stale context that cost money and confuse the AI.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7523" y="4233664"/>
            <a:ext cx="5269872" cy="1651397"/>
          </a:xfrm>
          <a:prstGeom prst="roundRect">
            <a:avLst>
              <a:gd name="adj" fmla="val 16675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0123" y="4436269"/>
            <a:ext cx="48646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 Force-Multipliers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123" y="4801394"/>
            <a:ext cx="486467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Prompt caching (59–90%+ cost reduction) and model routing (cheaper model for routine tasks) are the two highest-ROI optimisations.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47279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Part 6 Recap: Specialized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4200" y="2124373"/>
            <a:ext cx="5269872" cy="1651397"/>
          </a:xfrm>
          <a:prstGeom prst="roundRect">
            <a:avLst>
              <a:gd name="adj" fmla="val 16675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6800" y="2326977"/>
            <a:ext cx="48646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Three Ingredients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6800" y="2692102"/>
            <a:ext cx="486467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focused system prompt, a curated set of tools (minimum needed), and an isolated context window. All three are required for a reliable agent.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7623" y="2124373"/>
            <a:ext cx="5269872" cy="1651397"/>
          </a:xfrm>
          <a:prstGeom prst="roundRect">
            <a:avLst>
              <a:gd name="adj" fmla="val 16675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0222" y="2326977"/>
            <a:ext cx="48646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Small Teams Beat One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90222" y="2692102"/>
            <a:ext cx="486467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Explorer → Planner → Implementer → Reviewer. 3–5 agents is the sweet spot. Keep nesting to 2–3 levels maximum.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4200" y="3959324"/>
            <a:ext cx="5269872" cy="1651397"/>
          </a:xfrm>
          <a:prstGeom prst="roundRect">
            <a:avLst>
              <a:gd name="adj" fmla="val 16675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800" y="4161929"/>
            <a:ext cx="48646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Guard Against the Dangers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6800" y="4527054"/>
            <a:ext cx="486467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Blast radius, runaway loops, scope creep, hallucinated APIs. Serialise risky steps. Never hand broad agents production credentials.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7623" y="3959324"/>
            <a:ext cx="5269872" cy="1651397"/>
          </a:xfrm>
          <a:prstGeom prst="roundRect">
            <a:avLst>
              <a:gd name="adj" fmla="val 16675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0222" y="4161929"/>
            <a:ext cx="48646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Optimise Agent Output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90222" y="4527054"/>
            <a:ext cx="4864673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Scope tightly, give a pattern to copy, demand a verification step, and iterate on the system prompt like code when the agent keeps making the same mistake.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462385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Progressive Changes Principle in Depth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2339479"/>
            <a:ext cx="10723294" cy="3056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discipline of progressive changes is the single most important habit in this entire guide. It is not about distrust of the AI — it is about maintaining your ability to understand, debug, and extend the code you own.</a:t>
            </a:r>
            <a:endParaRPr lang="en-US" sz="1400" dirty="0"/>
          </a:p>
          <a:p>
            <a:pPr algn="l" indent="0" marL="0">
              <a:lnSpc>
                <a:spcPct val="133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30-line diff gets genuinely reviewed. A 2,000-line diff gets skimmed and rubber-stamped. The difference between those two outcomes is the difference between a codebase you understand and one you're afraid to touch. Every time you accept a change you didn't read, you are taking on hidden debt — technical debt you'll pay back in debugging time, and security debt that may never surface until it's too late.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rule is simple: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one logical change per prompt, one commit per working change.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If the AI produces a diff too large to read in one sitting, that is not a success — it is a prompt to ask the AI to break it up. The size of the diff is a signal about the quality of the instruction, not the quality of the AI.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171972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Plan Mode Principle in Depth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2049066"/>
            <a:ext cx="1072329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 mode is not a bureaucratic overhead — it is the cheapest possible way to catch a wrong approach. When a plan is wrong, you fix it with words. When code is wrong, you fix it with debugging, testing, and often a revert. The cost ratio is enormous.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2044" y="2842915"/>
            <a:ext cx="5402028" cy="2843113"/>
          </a:xfrm>
          <a:prstGeom prst="roundRect">
            <a:avLst>
              <a:gd name="adj" fmla="val 15496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5594" y="3026470"/>
            <a:ext cx="50349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Good Plan Mode Looks Like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5594" y="3465016"/>
            <a:ext cx="5034928" cy="20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push on the plan. You ask what happens at the edge cases. You ask what existing code it touches. You ask if there's a simpler approach that avoids a new dependency. You name specific files and point to patterns already in the codebase. The plan becomes a contract between you and the AI — and every weakness you catch in the contract is a bug you don't have to debug later.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6128" y="3026470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Bad Plan Mode Looks Like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6128" y="3465016"/>
            <a:ext cx="5137716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 read the plan once, nod, and approve it. The AI writes 14 files. Three of them touch code you didn't know existed. One introduces a dependency you didn't want. You spend the next hour unwinding it. The plan mode step happened, but the review step didn't — and the review step is the whole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2026-07-10T10:51:08Z</dcterms:created>
  <dcterms:modified xsi:type="dcterms:W3CDTF">2026-07-10T10:51:08Z</dcterms:modified>
</cp:coreProperties>
</file>